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7"/>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Times New Roman Bold" charset="1" panose="02020803070505020304"/>
      <p:regular r:id="rId20"/>
    </p:embeddedFont>
    <p:embeddedFont>
      <p:font typeface="Times New Roman Italics" charset="1" panose="02020503050405090304"/>
      <p:regular r:id="rId21"/>
    </p:embeddedFont>
    <p:embeddedFont>
      <p:font typeface="Times New Roman" charset="1" panose="02020603050405020304"/>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notesMasters/notesMaster1.xml" Type="http://schemas.openxmlformats.org/officeDocument/2006/relationships/notesMaster"/><Relationship Id="rId18" Target="theme/theme2.xml" Type="http://schemas.openxmlformats.org/officeDocument/2006/relationships/theme"/><Relationship Id="rId19" Target="notesSlides/notesSlide1.xml" Type="http://schemas.openxmlformats.org/officeDocument/2006/relationships/note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notesSlides/notesSlide2.xml" Type="http://schemas.openxmlformats.org/officeDocument/2006/relationships/notesSlide"/><Relationship Id="rId24" Target="notesSlides/notesSlide3.xml" Type="http://schemas.openxmlformats.org/officeDocument/2006/relationships/notesSlide"/><Relationship Id="rId25" Target="notesSlides/notesSlide4.xml" Type="http://schemas.openxmlformats.org/officeDocument/2006/relationships/notesSlide"/><Relationship Id="rId26" Target="notesSlides/notesSlide5.xml" Type="http://schemas.openxmlformats.org/officeDocument/2006/relationships/notesSlide"/><Relationship Id="rId27" Target="notesSlides/notesSlide6.xml" Type="http://schemas.openxmlformats.org/officeDocument/2006/relationships/notesSlide"/><Relationship Id="rId28" Target="notesSlides/notesSlide7.xml" Type="http://schemas.openxmlformats.org/officeDocument/2006/relationships/notesSlide"/><Relationship Id="rId29" Target="notesSlides/notesSlide8.xml" Type="http://schemas.openxmlformats.org/officeDocument/2006/relationships/notesSlide"/><Relationship Id="rId3" Target="viewProps.xml" Type="http://schemas.openxmlformats.org/officeDocument/2006/relationships/viewProps"/><Relationship Id="rId30" Target="notesSlides/notesSlide9.xml" Type="http://schemas.openxmlformats.org/officeDocument/2006/relationships/notesSlide"/><Relationship Id="rId31" Target="notesSlides/notesSlide10.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Welcome. This talk shows how a lexer turns raw characters into validated tokens using finite state automata. Course: DSA0310 Natural Language Processing. Presented by G Chandravardhan Reddy, B Surya Kathyakeya and G Rohit Venkat; guided by Dr. Ajitha Rajgopal.</a:t>
            </a:r>
          </a:p>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Position the lexer in the pipeline. It reads characters, groups them, throws away whitespace and comments, and hands a token stream to the parser. Emphasise that correctness here protects every later phase.</a:t>
            </a:r>
          </a:p>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 pattern describes a set of strings; a lexeme is one string from that set; a token is the label we attach. The table shows the mapping for a small example.</a:t>
            </a:r>
          </a:p>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is the specification side. Regular expressions are how we describe tokens declaratively. Tools like Lex and Flex take exactly this kind of table and generate the automaton for you.</a:t>
            </a:r>
          </a:p>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Walk down the five components. The key idea is that the machine has no memory except its current state, so the states must encode everything the lexer needs to remember about the partial token.</a:t>
            </a:r>
          </a:p>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is the core example. Trace count2 and 2count. The first never leaves the accepting region after the first letter; the second dies immediately because q0 has no transition on a digit.</a:t>
            </a:r>
          </a:p>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 float needs at least one digit after the dot, so q2 is deliberately non-accepting. The input 3. therefore ends in a non-accepting state and is rejected as a complete token.</a:t>
            </a:r>
          </a:p>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Maximal munch is the rule that makes lexing deterministic in practice. The three cards cover the classic edge cases: reserved words, multi-character operators, and illegal characters.</a:t>
            </a:r>
          </a:p>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same loop drives every token. last_ok implements the 'remember the last accepting position' rule from the previous slide. If last_ok is None, no prefix of the input was a valid token, which is a lexical error.</a:t>
            </a:r>
          </a:p>
          <a:p>
            <a:r>
              <a:rPr lang="en-US"/>
              <a:t>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Close by restating the chain: regex, automaton, accepting state, token. Then point to the natural next topics.</a:t>
            </a:r>
          </a:p>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1225689" y="2310289"/>
            <a:ext cx="1414462" cy="1414462"/>
            <a:chOff x="0" y="0"/>
            <a:chExt cx="1885950" cy="1885950"/>
          </a:xfrm>
        </p:grpSpPr>
        <p:sp>
          <p:nvSpPr>
            <p:cNvPr name="Freeform 3" id="3"/>
            <p:cNvSpPr/>
            <p:nvPr/>
          </p:nvSpPr>
          <p:spPr>
            <a:xfrm flipH="false" flipV="false" rot="0">
              <a:off x="0" y="0"/>
              <a:ext cx="1885950" cy="1885950"/>
            </a:xfrm>
            <a:custGeom>
              <a:avLst/>
              <a:gdLst/>
              <a:ahLst/>
              <a:cxnLst/>
              <a:rect r="r" b="b" t="t" l="l"/>
              <a:pathLst>
                <a:path h="1885950" w="1885950">
                  <a:moveTo>
                    <a:pt x="0" y="942975"/>
                  </a:moveTo>
                  <a:cubicBezTo>
                    <a:pt x="0" y="422148"/>
                    <a:pt x="422148" y="0"/>
                    <a:pt x="942975" y="0"/>
                  </a:cubicBezTo>
                  <a:cubicBezTo>
                    <a:pt x="1463802" y="0"/>
                    <a:pt x="1885950" y="422148"/>
                    <a:pt x="1885950" y="942975"/>
                  </a:cubicBezTo>
                  <a:cubicBezTo>
                    <a:pt x="1885950" y="1463802"/>
                    <a:pt x="1463802" y="1885950"/>
                    <a:pt x="942975" y="1885950"/>
                  </a:cubicBezTo>
                  <a:cubicBezTo>
                    <a:pt x="422148" y="1885950"/>
                    <a:pt x="0" y="1463802"/>
                    <a:pt x="0" y="942975"/>
                  </a:cubicBezTo>
                  <a:close/>
                </a:path>
              </a:pathLst>
            </a:custGeom>
            <a:solidFill>
              <a:srgbClr val="FFFFFF"/>
            </a:solidFill>
            <a:ln w="42862" cap="sq">
              <a:solidFill>
                <a:srgbClr val="000000"/>
              </a:solidFill>
              <a:prstDash val="solid"/>
              <a:miter/>
            </a:ln>
          </p:spPr>
        </p:sp>
      </p:grpSp>
      <p:grpSp>
        <p:nvGrpSpPr>
          <p:cNvPr name="Group 4" id="4"/>
          <p:cNvGrpSpPr/>
          <p:nvPr/>
        </p:nvGrpSpPr>
        <p:grpSpPr>
          <a:xfrm rot="0">
            <a:off x="11247120" y="2331720"/>
            <a:ext cx="1371600" cy="1371600"/>
            <a:chOff x="0" y="0"/>
            <a:chExt cx="1828800" cy="1828800"/>
          </a:xfrm>
        </p:grpSpPr>
        <p:sp>
          <p:nvSpPr>
            <p:cNvPr name="Freeform 5" id="5"/>
            <p:cNvSpPr/>
            <p:nvPr/>
          </p:nvSpPr>
          <p:spPr>
            <a:xfrm flipH="false" flipV="false" rot="0">
              <a:off x="0" y="0"/>
              <a:ext cx="1828800" cy="1828800"/>
            </a:xfrm>
            <a:custGeom>
              <a:avLst/>
              <a:gdLst/>
              <a:ahLst/>
              <a:cxnLst/>
              <a:rect r="r" b="b" t="t" l="l"/>
              <a:pathLst>
                <a:path h="1828800" w="1828800">
                  <a:moveTo>
                    <a:pt x="0" y="0"/>
                  </a:moveTo>
                  <a:lnTo>
                    <a:pt x="1828800" y="0"/>
                  </a:lnTo>
                  <a:lnTo>
                    <a:pt x="1828800" y="1828800"/>
                  </a:lnTo>
                  <a:lnTo>
                    <a:pt x="0" y="1828800"/>
                  </a:lnTo>
                  <a:close/>
                </a:path>
              </a:pathLst>
            </a:custGeom>
            <a:blipFill>
              <a:blip r:embed="rId3">
                <a:alphaModFix amt="0"/>
              </a:blip>
              <a:stretch>
                <a:fillRect l="-78303" t="0" r="-78303" b="0"/>
              </a:stretch>
            </a:blipFill>
          </p:spPr>
        </p:sp>
        <p:sp>
          <p:nvSpPr>
            <p:cNvPr name="TextBox 6" id="6"/>
            <p:cNvSpPr txBox="true"/>
            <p:nvPr/>
          </p:nvSpPr>
          <p:spPr>
            <a:xfrm>
              <a:off x="0" y="-19050"/>
              <a:ext cx="1828800" cy="1847850"/>
            </a:xfrm>
            <a:prstGeom prst="rect">
              <a:avLst/>
            </a:prstGeom>
          </p:spPr>
          <p:txBody>
            <a:bodyPr anchor="ctr" rtlCol="false" tIns="0" lIns="0" bIns="0" rIns="0"/>
            <a:lstStyle/>
            <a:p>
              <a:pPr algn="ctr">
                <a:lnSpc>
                  <a:spcPts val="3240"/>
                </a:lnSpc>
              </a:pPr>
              <a:r>
                <a:rPr lang="en-US" sz="2700" b="true">
                  <a:solidFill>
                    <a:srgbClr val="000000"/>
                  </a:solidFill>
                  <a:latin typeface="Times New Roman Bold"/>
                  <a:ea typeface="Times New Roman Bold"/>
                  <a:cs typeface="Times New Roman Bold"/>
                  <a:sym typeface="Times New Roman Bold"/>
                </a:rPr>
                <a:t>q0</a:t>
              </a:r>
            </a:p>
          </p:txBody>
        </p:sp>
      </p:grpSp>
      <p:grpSp>
        <p:nvGrpSpPr>
          <p:cNvPr name="Group 7" id="7"/>
          <p:cNvGrpSpPr/>
          <p:nvPr/>
        </p:nvGrpSpPr>
        <p:grpSpPr>
          <a:xfrm rot="0">
            <a:off x="13488829" y="2310289"/>
            <a:ext cx="1414462" cy="1414462"/>
            <a:chOff x="0" y="0"/>
            <a:chExt cx="1885950" cy="1885950"/>
          </a:xfrm>
        </p:grpSpPr>
        <p:sp>
          <p:nvSpPr>
            <p:cNvPr name="Freeform 8" id="8"/>
            <p:cNvSpPr/>
            <p:nvPr/>
          </p:nvSpPr>
          <p:spPr>
            <a:xfrm flipH="false" flipV="false" rot="0">
              <a:off x="0" y="0"/>
              <a:ext cx="1885950" cy="1885950"/>
            </a:xfrm>
            <a:custGeom>
              <a:avLst/>
              <a:gdLst/>
              <a:ahLst/>
              <a:cxnLst/>
              <a:rect r="r" b="b" t="t" l="l"/>
              <a:pathLst>
                <a:path h="1885950" w="1885950">
                  <a:moveTo>
                    <a:pt x="0" y="942975"/>
                  </a:moveTo>
                  <a:cubicBezTo>
                    <a:pt x="0" y="422148"/>
                    <a:pt x="422148" y="0"/>
                    <a:pt x="942975" y="0"/>
                  </a:cubicBezTo>
                  <a:cubicBezTo>
                    <a:pt x="1463802" y="0"/>
                    <a:pt x="1885950" y="422148"/>
                    <a:pt x="1885950" y="942975"/>
                  </a:cubicBezTo>
                  <a:cubicBezTo>
                    <a:pt x="1885950" y="1463802"/>
                    <a:pt x="1463802" y="1885950"/>
                    <a:pt x="942975" y="1885950"/>
                  </a:cubicBezTo>
                  <a:cubicBezTo>
                    <a:pt x="422148" y="1885950"/>
                    <a:pt x="0" y="1463802"/>
                    <a:pt x="0" y="942975"/>
                  </a:cubicBezTo>
                  <a:close/>
                </a:path>
              </a:pathLst>
            </a:custGeom>
            <a:solidFill>
              <a:srgbClr val="FFFFFF"/>
            </a:solidFill>
            <a:ln w="42862" cap="sq">
              <a:solidFill>
                <a:srgbClr val="000000"/>
              </a:solidFill>
              <a:prstDash val="solid"/>
              <a:miter/>
            </a:ln>
          </p:spPr>
        </p:sp>
      </p:grpSp>
      <p:grpSp>
        <p:nvGrpSpPr>
          <p:cNvPr name="Group 9" id="9"/>
          <p:cNvGrpSpPr/>
          <p:nvPr/>
        </p:nvGrpSpPr>
        <p:grpSpPr>
          <a:xfrm rot="0">
            <a:off x="13510260" y="2331720"/>
            <a:ext cx="1371600" cy="1371600"/>
            <a:chOff x="0" y="0"/>
            <a:chExt cx="1828800" cy="1828800"/>
          </a:xfrm>
        </p:grpSpPr>
        <p:sp>
          <p:nvSpPr>
            <p:cNvPr name="Freeform 10" id="10"/>
            <p:cNvSpPr/>
            <p:nvPr/>
          </p:nvSpPr>
          <p:spPr>
            <a:xfrm flipH="false" flipV="false" rot="0">
              <a:off x="0" y="0"/>
              <a:ext cx="1828800" cy="1828800"/>
            </a:xfrm>
            <a:custGeom>
              <a:avLst/>
              <a:gdLst/>
              <a:ahLst/>
              <a:cxnLst/>
              <a:rect r="r" b="b" t="t" l="l"/>
              <a:pathLst>
                <a:path h="1828800" w="1828800">
                  <a:moveTo>
                    <a:pt x="0" y="0"/>
                  </a:moveTo>
                  <a:lnTo>
                    <a:pt x="1828800" y="0"/>
                  </a:lnTo>
                  <a:lnTo>
                    <a:pt x="1828800" y="1828800"/>
                  </a:lnTo>
                  <a:lnTo>
                    <a:pt x="0" y="1828800"/>
                  </a:lnTo>
                  <a:close/>
                </a:path>
              </a:pathLst>
            </a:custGeom>
            <a:blipFill>
              <a:blip r:embed="rId3">
                <a:alphaModFix amt="0"/>
              </a:blip>
              <a:stretch>
                <a:fillRect l="-78303" t="0" r="-78303" b="0"/>
              </a:stretch>
            </a:blipFill>
          </p:spPr>
        </p:sp>
        <p:sp>
          <p:nvSpPr>
            <p:cNvPr name="TextBox 11" id="11"/>
            <p:cNvSpPr txBox="true"/>
            <p:nvPr/>
          </p:nvSpPr>
          <p:spPr>
            <a:xfrm>
              <a:off x="0" y="-19050"/>
              <a:ext cx="1828800" cy="1847850"/>
            </a:xfrm>
            <a:prstGeom prst="rect">
              <a:avLst/>
            </a:prstGeom>
          </p:spPr>
          <p:txBody>
            <a:bodyPr anchor="ctr" rtlCol="false" tIns="0" lIns="0" bIns="0" rIns="0"/>
            <a:lstStyle/>
            <a:p>
              <a:pPr algn="ctr">
                <a:lnSpc>
                  <a:spcPts val="3240"/>
                </a:lnSpc>
              </a:pPr>
              <a:r>
                <a:rPr lang="en-US" sz="2700" b="true">
                  <a:solidFill>
                    <a:srgbClr val="000000"/>
                  </a:solidFill>
                  <a:latin typeface="Times New Roman Bold"/>
                  <a:ea typeface="Times New Roman Bold"/>
                  <a:cs typeface="Times New Roman Bold"/>
                  <a:sym typeface="Times New Roman Bold"/>
                </a:rPr>
                <a:t>q1</a:t>
              </a:r>
            </a:p>
          </p:txBody>
        </p:sp>
      </p:grpSp>
      <p:grpSp>
        <p:nvGrpSpPr>
          <p:cNvPr name="Group 12" id="12"/>
          <p:cNvGrpSpPr/>
          <p:nvPr/>
        </p:nvGrpSpPr>
        <p:grpSpPr>
          <a:xfrm rot="0">
            <a:off x="15612427" y="2239328"/>
            <a:ext cx="1556385" cy="1556385"/>
            <a:chOff x="0" y="0"/>
            <a:chExt cx="2075180" cy="2075180"/>
          </a:xfrm>
        </p:grpSpPr>
        <p:sp>
          <p:nvSpPr>
            <p:cNvPr name="Freeform 13" id="13"/>
            <p:cNvSpPr/>
            <p:nvPr/>
          </p:nvSpPr>
          <p:spPr>
            <a:xfrm flipH="false" flipV="false" rot="0">
              <a:off x="0" y="0"/>
              <a:ext cx="2075180" cy="2075180"/>
            </a:xfrm>
            <a:custGeom>
              <a:avLst/>
              <a:gdLst/>
              <a:ahLst/>
              <a:cxnLst/>
              <a:rect r="r" b="b" t="t" l="l"/>
              <a:pathLst>
                <a:path h="2075180" w="2075180">
                  <a:moveTo>
                    <a:pt x="0" y="1037590"/>
                  </a:moveTo>
                  <a:cubicBezTo>
                    <a:pt x="0" y="464566"/>
                    <a:pt x="464566" y="0"/>
                    <a:pt x="1037590" y="0"/>
                  </a:cubicBezTo>
                  <a:cubicBezTo>
                    <a:pt x="1610614" y="0"/>
                    <a:pt x="2075180" y="464566"/>
                    <a:pt x="2075180" y="1037590"/>
                  </a:cubicBezTo>
                  <a:cubicBezTo>
                    <a:pt x="2075180" y="1610614"/>
                    <a:pt x="1610614" y="2075180"/>
                    <a:pt x="1037590" y="2075180"/>
                  </a:cubicBezTo>
                  <a:cubicBezTo>
                    <a:pt x="464566" y="2075180"/>
                    <a:pt x="0" y="1610614"/>
                    <a:pt x="0" y="1037590"/>
                  </a:cubicBezTo>
                  <a:close/>
                </a:path>
              </a:pathLst>
            </a:custGeom>
            <a:blipFill>
              <a:blip r:embed="rId3">
                <a:alphaModFix amt="0"/>
              </a:blip>
              <a:stretch>
                <a:fillRect l="-78303" t="0" r="-78303" b="0"/>
              </a:stretch>
            </a:blipFill>
            <a:ln w="47625" cap="sq">
              <a:solidFill>
                <a:srgbClr val="000000"/>
              </a:solidFill>
              <a:prstDash val="solid"/>
              <a:miter/>
            </a:ln>
          </p:spPr>
        </p:sp>
      </p:grpSp>
      <p:grpSp>
        <p:nvGrpSpPr>
          <p:cNvPr name="Group 14" id="14"/>
          <p:cNvGrpSpPr/>
          <p:nvPr/>
        </p:nvGrpSpPr>
        <p:grpSpPr>
          <a:xfrm rot="0">
            <a:off x="15751969" y="2378869"/>
            <a:ext cx="1277302" cy="1277302"/>
            <a:chOff x="0" y="0"/>
            <a:chExt cx="1703070" cy="1703070"/>
          </a:xfrm>
        </p:grpSpPr>
        <p:sp>
          <p:nvSpPr>
            <p:cNvPr name="Freeform 15" id="15"/>
            <p:cNvSpPr/>
            <p:nvPr/>
          </p:nvSpPr>
          <p:spPr>
            <a:xfrm flipH="false" flipV="false" rot="0">
              <a:off x="0" y="0"/>
              <a:ext cx="1703070" cy="1703070"/>
            </a:xfrm>
            <a:custGeom>
              <a:avLst/>
              <a:gdLst/>
              <a:ahLst/>
              <a:cxnLst/>
              <a:rect r="r" b="b" t="t" l="l"/>
              <a:pathLst>
                <a:path h="1703070" w="1703070">
                  <a:moveTo>
                    <a:pt x="0" y="851535"/>
                  </a:moveTo>
                  <a:cubicBezTo>
                    <a:pt x="0" y="381254"/>
                    <a:pt x="381254" y="0"/>
                    <a:pt x="851535" y="0"/>
                  </a:cubicBezTo>
                  <a:cubicBezTo>
                    <a:pt x="1321816" y="0"/>
                    <a:pt x="1703070" y="381254"/>
                    <a:pt x="1703070" y="851535"/>
                  </a:cubicBezTo>
                  <a:cubicBezTo>
                    <a:pt x="1703070" y="1321816"/>
                    <a:pt x="1321816" y="1703070"/>
                    <a:pt x="851535" y="1703070"/>
                  </a:cubicBezTo>
                  <a:cubicBezTo>
                    <a:pt x="381254" y="1703070"/>
                    <a:pt x="0" y="1321816"/>
                    <a:pt x="0" y="851535"/>
                  </a:cubicBezTo>
                  <a:close/>
                </a:path>
              </a:pathLst>
            </a:custGeom>
            <a:solidFill>
              <a:srgbClr val="FFFFFF"/>
            </a:solidFill>
            <a:ln w="42862" cap="sq">
              <a:solidFill>
                <a:srgbClr val="000000"/>
              </a:solidFill>
              <a:prstDash val="solid"/>
              <a:miter/>
            </a:ln>
          </p:spPr>
        </p:sp>
      </p:grpSp>
      <p:grpSp>
        <p:nvGrpSpPr>
          <p:cNvPr name="Group 16" id="16"/>
          <p:cNvGrpSpPr/>
          <p:nvPr/>
        </p:nvGrpSpPr>
        <p:grpSpPr>
          <a:xfrm rot="0">
            <a:off x="15773400" y="2400300"/>
            <a:ext cx="1234440" cy="1234440"/>
            <a:chOff x="0" y="0"/>
            <a:chExt cx="1645920" cy="1645920"/>
          </a:xfrm>
        </p:grpSpPr>
        <p:sp>
          <p:nvSpPr>
            <p:cNvPr name="Freeform 17" id="17"/>
            <p:cNvSpPr/>
            <p:nvPr/>
          </p:nvSpPr>
          <p:spPr>
            <a:xfrm flipH="false" flipV="false" rot="0">
              <a:off x="0" y="0"/>
              <a:ext cx="1645920" cy="1645920"/>
            </a:xfrm>
            <a:custGeom>
              <a:avLst/>
              <a:gdLst/>
              <a:ahLst/>
              <a:cxnLst/>
              <a:rect r="r" b="b" t="t" l="l"/>
              <a:pathLst>
                <a:path h="1645920" w="1645920">
                  <a:moveTo>
                    <a:pt x="0" y="0"/>
                  </a:moveTo>
                  <a:lnTo>
                    <a:pt x="1645920" y="0"/>
                  </a:lnTo>
                  <a:lnTo>
                    <a:pt x="1645920" y="1645920"/>
                  </a:lnTo>
                  <a:lnTo>
                    <a:pt x="0" y="1645920"/>
                  </a:lnTo>
                  <a:close/>
                </a:path>
              </a:pathLst>
            </a:custGeom>
            <a:blipFill>
              <a:blip r:embed="rId3">
                <a:alphaModFix amt="0"/>
              </a:blip>
              <a:stretch>
                <a:fillRect l="-78303" t="0" r="-78303" b="0"/>
              </a:stretch>
            </a:blipFill>
          </p:spPr>
        </p:sp>
        <p:sp>
          <p:nvSpPr>
            <p:cNvPr name="TextBox 18" id="18"/>
            <p:cNvSpPr txBox="true"/>
            <p:nvPr/>
          </p:nvSpPr>
          <p:spPr>
            <a:xfrm>
              <a:off x="0" y="-19050"/>
              <a:ext cx="1645920" cy="1664970"/>
            </a:xfrm>
            <a:prstGeom prst="rect">
              <a:avLst/>
            </a:prstGeom>
          </p:spPr>
          <p:txBody>
            <a:bodyPr anchor="ctr" rtlCol="false" tIns="0" lIns="0" bIns="0" rIns="0"/>
            <a:lstStyle/>
            <a:p>
              <a:pPr algn="ctr">
                <a:lnSpc>
                  <a:spcPts val="3240"/>
                </a:lnSpc>
              </a:pPr>
              <a:r>
                <a:rPr lang="en-US" sz="2700" b="true">
                  <a:solidFill>
                    <a:srgbClr val="000000"/>
                  </a:solidFill>
                  <a:latin typeface="Times New Roman Bold"/>
                  <a:ea typeface="Times New Roman Bold"/>
                  <a:cs typeface="Times New Roman Bold"/>
                  <a:sym typeface="Times New Roman Bold"/>
                </a:rPr>
                <a:t>q2</a:t>
              </a:r>
            </a:p>
          </p:txBody>
        </p:sp>
      </p:grpSp>
      <p:sp>
        <p:nvSpPr>
          <p:cNvPr name="AutoShape 19" id="19"/>
          <p:cNvSpPr/>
          <p:nvPr/>
        </p:nvSpPr>
        <p:spPr>
          <a:xfrm rot="157560">
            <a:off x="12596793" y="3007995"/>
            <a:ext cx="935384" cy="0"/>
          </a:xfrm>
          <a:prstGeom prst="line">
            <a:avLst/>
          </a:prstGeom>
          <a:ln cap="rnd" w="19050">
            <a:solidFill>
              <a:srgbClr val="000000"/>
            </a:solidFill>
            <a:prstDash val="solid"/>
            <a:headEnd type="none" len="sm" w="sm"/>
            <a:tailEnd type="triangle" len="med" w="lg"/>
          </a:ln>
        </p:spPr>
      </p:sp>
      <p:sp>
        <p:nvSpPr>
          <p:cNvPr name="AutoShape 20" id="20"/>
          <p:cNvSpPr/>
          <p:nvPr/>
        </p:nvSpPr>
        <p:spPr>
          <a:xfrm rot="184620">
            <a:off x="14859857" y="3007995"/>
            <a:ext cx="798395" cy="0"/>
          </a:xfrm>
          <a:prstGeom prst="line">
            <a:avLst/>
          </a:prstGeom>
          <a:ln cap="rnd" w="19050">
            <a:solidFill>
              <a:srgbClr val="000000"/>
            </a:solidFill>
            <a:prstDash val="solid"/>
            <a:headEnd type="none" len="sm" w="sm"/>
            <a:tailEnd type="triangle" len="med" w="lg"/>
          </a:ln>
        </p:spPr>
      </p:sp>
      <p:sp>
        <p:nvSpPr>
          <p:cNvPr name="AutoShape 21" id="21"/>
          <p:cNvSpPr/>
          <p:nvPr/>
        </p:nvSpPr>
        <p:spPr>
          <a:xfrm rot="380400">
            <a:off x="10881598" y="3007995"/>
            <a:ext cx="388134" cy="0"/>
          </a:xfrm>
          <a:prstGeom prst="line">
            <a:avLst/>
          </a:prstGeom>
          <a:ln cap="rnd" w="19050">
            <a:solidFill>
              <a:srgbClr val="000000"/>
            </a:solidFill>
            <a:prstDash val="solid"/>
            <a:headEnd type="none" len="sm" w="sm"/>
            <a:tailEnd type="triangle" len="med" w="lg"/>
          </a:ln>
        </p:spPr>
      </p:sp>
      <p:grpSp>
        <p:nvGrpSpPr>
          <p:cNvPr name="Group 22" id="22"/>
          <p:cNvGrpSpPr/>
          <p:nvPr/>
        </p:nvGrpSpPr>
        <p:grpSpPr>
          <a:xfrm rot="0">
            <a:off x="11235214" y="5680234"/>
            <a:ext cx="1395412" cy="1326832"/>
            <a:chOff x="0" y="0"/>
            <a:chExt cx="1860550" cy="1769110"/>
          </a:xfrm>
        </p:grpSpPr>
        <p:sp>
          <p:nvSpPr>
            <p:cNvPr name="Freeform 23" id="23"/>
            <p:cNvSpPr/>
            <p:nvPr/>
          </p:nvSpPr>
          <p:spPr>
            <a:xfrm flipH="false" flipV="false" rot="0">
              <a:off x="0" y="0"/>
              <a:ext cx="1860550" cy="1769110"/>
            </a:xfrm>
            <a:custGeom>
              <a:avLst/>
              <a:gdLst/>
              <a:ahLst/>
              <a:cxnLst/>
              <a:rect r="r" b="b" t="t" l="l"/>
              <a:pathLst>
                <a:path h="1769110" w="1860550">
                  <a:moveTo>
                    <a:pt x="0" y="186182"/>
                  </a:moveTo>
                  <a:cubicBezTo>
                    <a:pt x="0" y="83312"/>
                    <a:pt x="83312" y="0"/>
                    <a:pt x="186182" y="0"/>
                  </a:cubicBezTo>
                  <a:lnTo>
                    <a:pt x="1674368" y="0"/>
                  </a:lnTo>
                  <a:cubicBezTo>
                    <a:pt x="1777238" y="0"/>
                    <a:pt x="1860550" y="83312"/>
                    <a:pt x="1860550" y="186182"/>
                  </a:cubicBezTo>
                  <a:lnTo>
                    <a:pt x="1860550" y="1582928"/>
                  </a:lnTo>
                  <a:cubicBezTo>
                    <a:pt x="1860550" y="1685798"/>
                    <a:pt x="1777238" y="1769110"/>
                    <a:pt x="1674368" y="1769110"/>
                  </a:cubicBezTo>
                  <a:lnTo>
                    <a:pt x="186182" y="1769110"/>
                  </a:lnTo>
                  <a:cubicBezTo>
                    <a:pt x="83312" y="1769110"/>
                    <a:pt x="0" y="1685798"/>
                    <a:pt x="0" y="1582928"/>
                  </a:cubicBezTo>
                  <a:close/>
                </a:path>
              </a:pathLst>
            </a:custGeom>
            <a:solidFill>
              <a:srgbClr val="FFFFFF"/>
            </a:solidFill>
            <a:ln w="23812" cap="sq">
              <a:solidFill>
                <a:srgbClr val="000000"/>
              </a:solidFill>
              <a:prstDash val="solid"/>
              <a:miter/>
            </a:ln>
          </p:spPr>
        </p:sp>
      </p:grpSp>
      <p:grpSp>
        <p:nvGrpSpPr>
          <p:cNvPr name="Group 24" id="24"/>
          <p:cNvGrpSpPr/>
          <p:nvPr/>
        </p:nvGrpSpPr>
        <p:grpSpPr>
          <a:xfrm rot="0">
            <a:off x="12785122" y="5680234"/>
            <a:ext cx="1395412" cy="1326832"/>
            <a:chOff x="0" y="0"/>
            <a:chExt cx="1860550" cy="1769110"/>
          </a:xfrm>
        </p:grpSpPr>
        <p:sp>
          <p:nvSpPr>
            <p:cNvPr name="Freeform 25" id="25"/>
            <p:cNvSpPr/>
            <p:nvPr/>
          </p:nvSpPr>
          <p:spPr>
            <a:xfrm flipH="false" flipV="false" rot="0">
              <a:off x="0" y="0"/>
              <a:ext cx="1860550" cy="1769110"/>
            </a:xfrm>
            <a:custGeom>
              <a:avLst/>
              <a:gdLst/>
              <a:ahLst/>
              <a:cxnLst/>
              <a:rect r="r" b="b" t="t" l="l"/>
              <a:pathLst>
                <a:path h="1769110" w="1860550">
                  <a:moveTo>
                    <a:pt x="0" y="186182"/>
                  </a:moveTo>
                  <a:cubicBezTo>
                    <a:pt x="0" y="83312"/>
                    <a:pt x="83312" y="0"/>
                    <a:pt x="186182" y="0"/>
                  </a:cubicBezTo>
                  <a:lnTo>
                    <a:pt x="1674368" y="0"/>
                  </a:lnTo>
                  <a:cubicBezTo>
                    <a:pt x="1777238" y="0"/>
                    <a:pt x="1860550" y="83312"/>
                    <a:pt x="1860550" y="186182"/>
                  </a:cubicBezTo>
                  <a:lnTo>
                    <a:pt x="1860550" y="1582928"/>
                  </a:lnTo>
                  <a:cubicBezTo>
                    <a:pt x="1860550" y="1685798"/>
                    <a:pt x="1777238" y="1769110"/>
                    <a:pt x="1674368" y="1769110"/>
                  </a:cubicBezTo>
                  <a:lnTo>
                    <a:pt x="186182" y="1769110"/>
                  </a:lnTo>
                  <a:cubicBezTo>
                    <a:pt x="83312" y="1769110"/>
                    <a:pt x="0" y="1685798"/>
                    <a:pt x="0" y="1582928"/>
                  </a:cubicBezTo>
                  <a:close/>
                </a:path>
              </a:pathLst>
            </a:custGeom>
            <a:solidFill>
              <a:srgbClr val="FFFFFF"/>
            </a:solidFill>
            <a:ln w="23812" cap="sq">
              <a:solidFill>
                <a:srgbClr val="000000"/>
              </a:solidFill>
              <a:prstDash val="solid"/>
              <a:miter/>
            </a:ln>
          </p:spPr>
        </p:sp>
      </p:grpSp>
      <p:grpSp>
        <p:nvGrpSpPr>
          <p:cNvPr name="Group 26" id="26"/>
          <p:cNvGrpSpPr/>
          <p:nvPr/>
        </p:nvGrpSpPr>
        <p:grpSpPr>
          <a:xfrm rot="0">
            <a:off x="14335030" y="5680234"/>
            <a:ext cx="1395412" cy="1326832"/>
            <a:chOff x="0" y="0"/>
            <a:chExt cx="1860550" cy="1769110"/>
          </a:xfrm>
        </p:grpSpPr>
        <p:sp>
          <p:nvSpPr>
            <p:cNvPr name="Freeform 27" id="27"/>
            <p:cNvSpPr/>
            <p:nvPr/>
          </p:nvSpPr>
          <p:spPr>
            <a:xfrm flipH="false" flipV="false" rot="0">
              <a:off x="0" y="0"/>
              <a:ext cx="1860550" cy="1769110"/>
            </a:xfrm>
            <a:custGeom>
              <a:avLst/>
              <a:gdLst/>
              <a:ahLst/>
              <a:cxnLst/>
              <a:rect r="r" b="b" t="t" l="l"/>
              <a:pathLst>
                <a:path h="1769110" w="1860550">
                  <a:moveTo>
                    <a:pt x="0" y="186182"/>
                  </a:moveTo>
                  <a:cubicBezTo>
                    <a:pt x="0" y="83312"/>
                    <a:pt x="83312" y="0"/>
                    <a:pt x="186182" y="0"/>
                  </a:cubicBezTo>
                  <a:lnTo>
                    <a:pt x="1674368" y="0"/>
                  </a:lnTo>
                  <a:cubicBezTo>
                    <a:pt x="1777238" y="0"/>
                    <a:pt x="1860550" y="83312"/>
                    <a:pt x="1860550" y="186182"/>
                  </a:cubicBezTo>
                  <a:lnTo>
                    <a:pt x="1860550" y="1582928"/>
                  </a:lnTo>
                  <a:cubicBezTo>
                    <a:pt x="1860550" y="1685798"/>
                    <a:pt x="1777238" y="1769110"/>
                    <a:pt x="1674368" y="1769110"/>
                  </a:cubicBezTo>
                  <a:lnTo>
                    <a:pt x="186182" y="1769110"/>
                  </a:lnTo>
                  <a:cubicBezTo>
                    <a:pt x="83312" y="1769110"/>
                    <a:pt x="0" y="1685798"/>
                    <a:pt x="0" y="1582928"/>
                  </a:cubicBezTo>
                  <a:close/>
                </a:path>
              </a:pathLst>
            </a:custGeom>
            <a:solidFill>
              <a:srgbClr val="FFFFFF"/>
            </a:solidFill>
            <a:ln w="23812" cap="sq">
              <a:solidFill>
                <a:srgbClr val="000000"/>
              </a:solidFill>
              <a:prstDash val="solid"/>
              <a:miter/>
            </a:ln>
          </p:spPr>
        </p:sp>
      </p:grpSp>
      <p:grpSp>
        <p:nvGrpSpPr>
          <p:cNvPr name="Group 28" id="28"/>
          <p:cNvGrpSpPr/>
          <p:nvPr/>
        </p:nvGrpSpPr>
        <p:grpSpPr>
          <a:xfrm rot="0">
            <a:off x="15884938" y="5680234"/>
            <a:ext cx="1395412" cy="1326832"/>
            <a:chOff x="0" y="0"/>
            <a:chExt cx="1860550" cy="1769110"/>
          </a:xfrm>
        </p:grpSpPr>
        <p:sp>
          <p:nvSpPr>
            <p:cNvPr name="Freeform 29" id="29"/>
            <p:cNvSpPr/>
            <p:nvPr/>
          </p:nvSpPr>
          <p:spPr>
            <a:xfrm flipH="false" flipV="false" rot="0">
              <a:off x="0" y="0"/>
              <a:ext cx="1860550" cy="1769110"/>
            </a:xfrm>
            <a:custGeom>
              <a:avLst/>
              <a:gdLst/>
              <a:ahLst/>
              <a:cxnLst/>
              <a:rect r="r" b="b" t="t" l="l"/>
              <a:pathLst>
                <a:path h="1769110" w="1860550">
                  <a:moveTo>
                    <a:pt x="0" y="186182"/>
                  </a:moveTo>
                  <a:cubicBezTo>
                    <a:pt x="0" y="83312"/>
                    <a:pt x="83312" y="0"/>
                    <a:pt x="186182" y="0"/>
                  </a:cubicBezTo>
                  <a:lnTo>
                    <a:pt x="1674368" y="0"/>
                  </a:lnTo>
                  <a:cubicBezTo>
                    <a:pt x="1777238" y="0"/>
                    <a:pt x="1860550" y="83312"/>
                    <a:pt x="1860550" y="186182"/>
                  </a:cubicBezTo>
                  <a:lnTo>
                    <a:pt x="1860550" y="1582928"/>
                  </a:lnTo>
                  <a:cubicBezTo>
                    <a:pt x="1860550" y="1685798"/>
                    <a:pt x="1777238" y="1769110"/>
                    <a:pt x="1674368" y="1769110"/>
                  </a:cubicBezTo>
                  <a:lnTo>
                    <a:pt x="186182" y="1769110"/>
                  </a:lnTo>
                  <a:cubicBezTo>
                    <a:pt x="83312" y="1769110"/>
                    <a:pt x="0" y="1685798"/>
                    <a:pt x="0" y="1582928"/>
                  </a:cubicBezTo>
                  <a:close/>
                </a:path>
              </a:pathLst>
            </a:custGeom>
            <a:solidFill>
              <a:srgbClr val="FFFFFF"/>
            </a:solidFill>
            <a:ln w="23812" cap="sq">
              <a:solidFill>
                <a:srgbClr val="000000"/>
              </a:solidFill>
              <a:prstDash val="solid"/>
              <a:miter/>
            </a:ln>
          </p:spPr>
        </p:sp>
      </p:grpSp>
      <p:sp>
        <p:nvSpPr>
          <p:cNvPr name="Freeform 30" id="30"/>
          <p:cNvSpPr/>
          <p:nvPr/>
        </p:nvSpPr>
        <p:spPr>
          <a:xfrm flipH="false" flipV="false" rot="0">
            <a:off x="270168" y="46918"/>
            <a:ext cx="2083759" cy="2083759"/>
          </a:xfrm>
          <a:custGeom>
            <a:avLst/>
            <a:gdLst/>
            <a:ahLst/>
            <a:cxnLst/>
            <a:rect r="r" b="b" t="t" l="l"/>
            <a:pathLst>
              <a:path h="2083759" w="2083759">
                <a:moveTo>
                  <a:pt x="0" y="0"/>
                </a:moveTo>
                <a:lnTo>
                  <a:pt x="2083759" y="0"/>
                </a:lnTo>
                <a:lnTo>
                  <a:pt x="2083759" y="2083758"/>
                </a:lnTo>
                <a:lnTo>
                  <a:pt x="0" y="2083758"/>
                </a:lnTo>
                <a:lnTo>
                  <a:pt x="0" y="0"/>
                </a:lnTo>
                <a:close/>
              </a:path>
            </a:pathLst>
          </a:custGeom>
          <a:blipFill>
            <a:blip r:embed="rId4"/>
            <a:stretch>
              <a:fillRect l="0" t="0" r="0" b="0"/>
            </a:stretch>
          </a:blipFill>
        </p:spPr>
      </p:sp>
      <p:sp>
        <p:nvSpPr>
          <p:cNvPr name="TextBox 31" id="31"/>
          <p:cNvSpPr txBox="true"/>
          <p:nvPr/>
        </p:nvSpPr>
        <p:spPr>
          <a:xfrm rot="0">
            <a:off x="10972800" y="666750"/>
            <a:ext cx="6350508" cy="567690"/>
          </a:xfrm>
          <a:prstGeom prst="rect">
            <a:avLst/>
          </a:prstGeom>
        </p:spPr>
        <p:txBody>
          <a:bodyPr anchor="t" rtlCol="false" tIns="0" lIns="0" bIns="0" rIns="0">
            <a:spAutoFit/>
          </a:bodyPr>
          <a:lstStyle/>
          <a:p>
            <a:pPr algn="r">
              <a:lnSpc>
                <a:spcPts val="3240"/>
              </a:lnSpc>
            </a:pPr>
            <a:r>
              <a:rPr lang="en-US" sz="2700" b="true">
                <a:solidFill>
                  <a:srgbClr val="000000"/>
                </a:solidFill>
                <a:latin typeface="Times New Roman Bold"/>
                <a:ea typeface="Times New Roman Bold"/>
                <a:cs typeface="Times New Roman Bold"/>
                <a:sym typeface="Times New Roman Bold"/>
              </a:rPr>
              <a:t>Technical Presentation</a:t>
            </a:r>
          </a:p>
        </p:txBody>
      </p:sp>
      <p:sp>
        <p:nvSpPr>
          <p:cNvPr name="TextBox 32" id="32"/>
          <p:cNvSpPr txBox="true"/>
          <p:nvPr/>
        </p:nvSpPr>
        <p:spPr>
          <a:xfrm rot="0">
            <a:off x="960120" y="2705100"/>
            <a:ext cx="9875520" cy="3604260"/>
          </a:xfrm>
          <a:prstGeom prst="rect">
            <a:avLst/>
          </a:prstGeom>
        </p:spPr>
        <p:txBody>
          <a:bodyPr anchor="t" rtlCol="false" tIns="0" lIns="0" bIns="0" rIns="0">
            <a:spAutoFit/>
          </a:bodyPr>
          <a:lstStyle/>
          <a:p>
            <a:pPr algn="l">
              <a:lnSpc>
                <a:spcPts val="7920"/>
              </a:lnSpc>
            </a:pPr>
            <a:r>
              <a:rPr lang="en-US" sz="6600" b="true">
                <a:solidFill>
                  <a:srgbClr val="000000"/>
                </a:solidFill>
                <a:latin typeface="Times New Roman Bold"/>
                <a:ea typeface="Times New Roman Bold"/>
                <a:cs typeface="Times New Roman Bold"/>
                <a:sym typeface="Times New Roman Bold"/>
              </a:rPr>
              <a:t>Building a Finite State Automaton for Token Recognition</a:t>
            </a:r>
          </a:p>
        </p:txBody>
      </p:sp>
      <p:sp>
        <p:nvSpPr>
          <p:cNvPr name="TextBox 33" id="33"/>
          <p:cNvSpPr txBox="true"/>
          <p:nvPr/>
        </p:nvSpPr>
        <p:spPr>
          <a:xfrm rot="0">
            <a:off x="960120" y="5878830"/>
            <a:ext cx="9875520" cy="636270"/>
          </a:xfrm>
          <a:prstGeom prst="rect">
            <a:avLst/>
          </a:prstGeom>
        </p:spPr>
        <p:txBody>
          <a:bodyPr anchor="t" rtlCol="false" tIns="0" lIns="0" bIns="0" rIns="0">
            <a:spAutoFit/>
          </a:bodyPr>
          <a:lstStyle/>
          <a:p>
            <a:pPr algn="l">
              <a:lnSpc>
                <a:spcPts val="3960"/>
              </a:lnSpc>
            </a:pPr>
            <a:r>
              <a:rPr lang="en-US" sz="3300" b="true">
                <a:solidFill>
                  <a:srgbClr val="000000"/>
                </a:solidFill>
                <a:latin typeface="Times New Roman Bold"/>
                <a:ea typeface="Times New Roman Bold"/>
                <a:cs typeface="Times New Roman Bold"/>
                <a:sym typeface="Times New Roman Bold"/>
              </a:rPr>
              <a:t>DSA0310 - Natural Language Processing</a:t>
            </a:r>
          </a:p>
        </p:txBody>
      </p:sp>
      <p:sp>
        <p:nvSpPr>
          <p:cNvPr name="TextBox 34" id="34"/>
          <p:cNvSpPr txBox="true"/>
          <p:nvPr/>
        </p:nvSpPr>
        <p:spPr>
          <a:xfrm rot="0">
            <a:off x="960120" y="6633210"/>
            <a:ext cx="9875520" cy="567690"/>
          </a:xfrm>
          <a:prstGeom prst="rect">
            <a:avLst/>
          </a:prstGeom>
        </p:spPr>
        <p:txBody>
          <a:bodyPr anchor="t" rtlCol="false" tIns="0" lIns="0" bIns="0" rIns="0">
            <a:spAutoFit/>
          </a:bodyPr>
          <a:lstStyle/>
          <a:p>
            <a:pPr algn="l">
              <a:lnSpc>
                <a:spcPts val="3240"/>
              </a:lnSpc>
            </a:pPr>
            <a:r>
              <a:rPr lang="en-US" sz="2700" i="true">
                <a:solidFill>
                  <a:srgbClr val="000000"/>
                </a:solidFill>
                <a:latin typeface="Times New Roman Italics"/>
                <a:ea typeface="Times New Roman Italics"/>
                <a:cs typeface="Times New Roman Italics"/>
                <a:sym typeface="Times New Roman Italics"/>
              </a:rPr>
              <a:t>From regular expressions to validated tokens</a:t>
            </a:r>
          </a:p>
        </p:txBody>
      </p:sp>
      <p:sp>
        <p:nvSpPr>
          <p:cNvPr name="TextBox 35" id="35"/>
          <p:cNvSpPr txBox="true"/>
          <p:nvPr/>
        </p:nvSpPr>
        <p:spPr>
          <a:xfrm rot="0">
            <a:off x="11247120" y="4301490"/>
            <a:ext cx="4114800" cy="430530"/>
          </a:xfrm>
          <a:prstGeom prst="rect">
            <a:avLst/>
          </a:prstGeom>
        </p:spPr>
        <p:txBody>
          <a:bodyPr anchor="t" rtlCol="false" tIns="0" lIns="0" bIns="0" rIns="0">
            <a:spAutoFit/>
          </a:bodyPr>
          <a:lstStyle/>
          <a:p>
            <a:pPr algn="l">
              <a:lnSpc>
                <a:spcPts val="2160"/>
              </a:lnSpc>
            </a:pPr>
            <a:r>
              <a:rPr lang="en-US" b="true" sz="1800" spc="450">
                <a:solidFill>
                  <a:srgbClr val="000000"/>
                </a:solidFill>
                <a:latin typeface="Times New Roman Bold"/>
                <a:ea typeface="Times New Roman Bold"/>
                <a:cs typeface="Times New Roman Bold"/>
                <a:sym typeface="Times New Roman Bold"/>
              </a:rPr>
              <a:t>SOURCE</a:t>
            </a:r>
          </a:p>
        </p:txBody>
      </p:sp>
      <p:sp>
        <p:nvSpPr>
          <p:cNvPr name="TextBox 36" id="36"/>
          <p:cNvSpPr txBox="true"/>
          <p:nvPr/>
        </p:nvSpPr>
        <p:spPr>
          <a:xfrm rot="0">
            <a:off x="11247120" y="4703445"/>
            <a:ext cx="6035040" cy="714375"/>
          </a:xfrm>
          <a:prstGeom prst="rect">
            <a:avLst/>
          </a:prstGeom>
        </p:spPr>
        <p:txBody>
          <a:bodyPr anchor="t" rtlCol="false" tIns="0" lIns="0" bIns="0" rIns="0">
            <a:spAutoFit/>
          </a:bodyPr>
          <a:lstStyle/>
          <a:p>
            <a:pPr algn="l">
              <a:lnSpc>
                <a:spcPts val="4320"/>
              </a:lnSpc>
            </a:pPr>
            <a:r>
              <a:rPr lang="en-US" sz="3600" b="true">
                <a:solidFill>
                  <a:srgbClr val="000000"/>
                </a:solidFill>
                <a:latin typeface="Times New Roman Bold"/>
                <a:ea typeface="Times New Roman Bold"/>
                <a:cs typeface="Times New Roman Bold"/>
                <a:sym typeface="Times New Roman Bold"/>
              </a:rPr>
              <a:t>x1 = 42;</a:t>
            </a:r>
          </a:p>
        </p:txBody>
      </p:sp>
      <p:sp>
        <p:nvSpPr>
          <p:cNvPr name="TextBox 37" id="37"/>
          <p:cNvSpPr txBox="true"/>
          <p:nvPr/>
        </p:nvSpPr>
        <p:spPr>
          <a:xfrm rot="0">
            <a:off x="11247120" y="5810250"/>
            <a:ext cx="1371600" cy="567690"/>
          </a:xfrm>
          <a:prstGeom prst="rect">
            <a:avLst/>
          </a:prstGeom>
        </p:spPr>
        <p:txBody>
          <a:bodyPr anchor="t" rtlCol="false" tIns="0" lIns="0" bIns="0" rIns="0">
            <a:spAutoFit/>
          </a:bodyPr>
          <a:lstStyle/>
          <a:p>
            <a:pPr algn="ctr">
              <a:lnSpc>
                <a:spcPts val="3240"/>
              </a:lnSpc>
            </a:pPr>
            <a:r>
              <a:rPr lang="en-US" sz="2700" b="true">
                <a:solidFill>
                  <a:srgbClr val="000000"/>
                </a:solidFill>
                <a:latin typeface="Times New Roman Bold"/>
                <a:ea typeface="Times New Roman Bold"/>
                <a:cs typeface="Times New Roman Bold"/>
                <a:sym typeface="Times New Roman Bold"/>
              </a:rPr>
              <a:t>x1</a:t>
            </a:r>
          </a:p>
        </p:txBody>
      </p:sp>
      <p:sp>
        <p:nvSpPr>
          <p:cNvPr name="TextBox 38" id="38"/>
          <p:cNvSpPr txBox="true"/>
          <p:nvPr/>
        </p:nvSpPr>
        <p:spPr>
          <a:xfrm rot="0">
            <a:off x="11247120" y="6454902"/>
            <a:ext cx="1371600" cy="430530"/>
          </a:xfrm>
          <a:prstGeom prst="rect">
            <a:avLst/>
          </a:prstGeom>
        </p:spPr>
        <p:txBody>
          <a:bodyPr anchor="t" rtlCol="false" tIns="0" lIns="0" bIns="0" rIns="0">
            <a:spAutoFit/>
          </a:bodyPr>
          <a:lstStyle/>
          <a:p>
            <a:pPr algn="ctr">
              <a:lnSpc>
                <a:spcPts val="2160"/>
              </a:lnSpc>
            </a:pPr>
            <a:r>
              <a:rPr lang="en-US" sz="1800" b="true">
                <a:solidFill>
                  <a:srgbClr val="000000"/>
                </a:solidFill>
                <a:latin typeface="Times New Roman Bold"/>
                <a:ea typeface="Times New Roman Bold"/>
                <a:cs typeface="Times New Roman Bold"/>
                <a:sym typeface="Times New Roman Bold"/>
              </a:rPr>
              <a:t>ID</a:t>
            </a:r>
          </a:p>
        </p:txBody>
      </p:sp>
      <p:sp>
        <p:nvSpPr>
          <p:cNvPr name="TextBox 39" id="39"/>
          <p:cNvSpPr txBox="true"/>
          <p:nvPr/>
        </p:nvSpPr>
        <p:spPr>
          <a:xfrm rot="0">
            <a:off x="12797028" y="5810250"/>
            <a:ext cx="1371600" cy="567690"/>
          </a:xfrm>
          <a:prstGeom prst="rect">
            <a:avLst/>
          </a:prstGeom>
        </p:spPr>
        <p:txBody>
          <a:bodyPr anchor="t" rtlCol="false" tIns="0" lIns="0" bIns="0" rIns="0">
            <a:spAutoFit/>
          </a:bodyPr>
          <a:lstStyle/>
          <a:p>
            <a:pPr algn="ctr">
              <a:lnSpc>
                <a:spcPts val="3240"/>
              </a:lnSpc>
            </a:pPr>
            <a:r>
              <a:rPr lang="en-US" sz="2700" b="true">
                <a:solidFill>
                  <a:srgbClr val="000000"/>
                </a:solidFill>
                <a:latin typeface="Times New Roman Bold"/>
                <a:ea typeface="Times New Roman Bold"/>
                <a:cs typeface="Times New Roman Bold"/>
                <a:sym typeface="Times New Roman Bold"/>
              </a:rPr>
              <a:t>=</a:t>
            </a:r>
          </a:p>
        </p:txBody>
      </p:sp>
      <p:sp>
        <p:nvSpPr>
          <p:cNvPr name="TextBox 40" id="40"/>
          <p:cNvSpPr txBox="true"/>
          <p:nvPr/>
        </p:nvSpPr>
        <p:spPr>
          <a:xfrm rot="0">
            <a:off x="12797028" y="6454902"/>
            <a:ext cx="1371600" cy="430530"/>
          </a:xfrm>
          <a:prstGeom prst="rect">
            <a:avLst/>
          </a:prstGeom>
        </p:spPr>
        <p:txBody>
          <a:bodyPr anchor="t" rtlCol="false" tIns="0" lIns="0" bIns="0" rIns="0">
            <a:spAutoFit/>
          </a:bodyPr>
          <a:lstStyle/>
          <a:p>
            <a:pPr algn="ctr">
              <a:lnSpc>
                <a:spcPts val="2160"/>
              </a:lnSpc>
            </a:pPr>
            <a:r>
              <a:rPr lang="en-US" sz="1800" b="true">
                <a:solidFill>
                  <a:srgbClr val="000000"/>
                </a:solidFill>
                <a:latin typeface="Times New Roman Bold"/>
                <a:ea typeface="Times New Roman Bold"/>
                <a:cs typeface="Times New Roman Bold"/>
                <a:sym typeface="Times New Roman Bold"/>
              </a:rPr>
              <a:t>ASSIGN</a:t>
            </a:r>
          </a:p>
        </p:txBody>
      </p:sp>
      <p:sp>
        <p:nvSpPr>
          <p:cNvPr name="TextBox 41" id="41"/>
          <p:cNvSpPr txBox="true"/>
          <p:nvPr/>
        </p:nvSpPr>
        <p:spPr>
          <a:xfrm rot="0">
            <a:off x="14346936" y="5810250"/>
            <a:ext cx="1371600" cy="567690"/>
          </a:xfrm>
          <a:prstGeom prst="rect">
            <a:avLst/>
          </a:prstGeom>
        </p:spPr>
        <p:txBody>
          <a:bodyPr anchor="t" rtlCol="false" tIns="0" lIns="0" bIns="0" rIns="0">
            <a:spAutoFit/>
          </a:bodyPr>
          <a:lstStyle/>
          <a:p>
            <a:pPr algn="ctr">
              <a:lnSpc>
                <a:spcPts val="3240"/>
              </a:lnSpc>
            </a:pPr>
            <a:r>
              <a:rPr lang="en-US" sz="2700" b="true">
                <a:solidFill>
                  <a:srgbClr val="000000"/>
                </a:solidFill>
                <a:latin typeface="Times New Roman Bold"/>
                <a:ea typeface="Times New Roman Bold"/>
                <a:cs typeface="Times New Roman Bold"/>
                <a:sym typeface="Times New Roman Bold"/>
              </a:rPr>
              <a:t>42</a:t>
            </a:r>
          </a:p>
        </p:txBody>
      </p:sp>
      <p:sp>
        <p:nvSpPr>
          <p:cNvPr name="TextBox 42" id="42"/>
          <p:cNvSpPr txBox="true"/>
          <p:nvPr/>
        </p:nvSpPr>
        <p:spPr>
          <a:xfrm rot="0">
            <a:off x="14346936" y="6454902"/>
            <a:ext cx="1371600" cy="430530"/>
          </a:xfrm>
          <a:prstGeom prst="rect">
            <a:avLst/>
          </a:prstGeom>
        </p:spPr>
        <p:txBody>
          <a:bodyPr anchor="t" rtlCol="false" tIns="0" lIns="0" bIns="0" rIns="0">
            <a:spAutoFit/>
          </a:bodyPr>
          <a:lstStyle/>
          <a:p>
            <a:pPr algn="ctr">
              <a:lnSpc>
                <a:spcPts val="2160"/>
              </a:lnSpc>
            </a:pPr>
            <a:r>
              <a:rPr lang="en-US" sz="1800" b="true">
                <a:solidFill>
                  <a:srgbClr val="000000"/>
                </a:solidFill>
                <a:latin typeface="Times New Roman Bold"/>
                <a:ea typeface="Times New Roman Bold"/>
                <a:cs typeface="Times New Roman Bold"/>
                <a:sym typeface="Times New Roman Bold"/>
              </a:rPr>
              <a:t>NUM</a:t>
            </a:r>
          </a:p>
        </p:txBody>
      </p:sp>
      <p:sp>
        <p:nvSpPr>
          <p:cNvPr name="TextBox 43" id="43"/>
          <p:cNvSpPr txBox="true"/>
          <p:nvPr/>
        </p:nvSpPr>
        <p:spPr>
          <a:xfrm rot="0">
            <a:off x="15896844" y="5810250"/>
            <a:ext cx="1371600" cy="567690"/>
          </a:xfrm>
          <a:prstGeom prst="rect">
            <a:avLst/>
          </a:prstGeom>
        </p:spPr>
        <p:txBody>
          <a:bodyPr anchor="t" rtlCol="false" tIns="0" lIns="0" bIns="0" rIns="0">
            <a:spAutoFit/>
          </a:bodyPr>
          <a:lstStyle/>
          <a:p>
            <a:pPr algn="ctr">
              <a:lnSpc>
                <a:spcPts val="3240"/>
              </a:lnSpc>
            </a:pPr>
            <a:r>
              <a:rPr lang="en-US" sz="2700" b="true">
                <a:solidFill>
                  <a:srgbClr val="000000"/>
                </a:solidFill>
                <a:latin typeface="Times New Roman Bold"/>
                <a:ea typeface="Times New Roman Bold"/>
                <a:cs typeface="Times New Roman Bold"/>
                <a:sym typeface="Times New Roman Bold"/>
              </a:rPr>
              <a:t>;</a:t>
            </a:r>
          </a:p>
        </p:txBody>
      </p:sp>
      <p:sp>
        <p:nvSpPr>
          <p:cNvPr name="TextBox 44" id="44"/>
          <p:cNvSpPr txBox="true"/>
          <p:nvPr/>
        </p:nvSpPr>
        <p:spPr>
          <a:xfrm rot="0">
            <a:off x="15896844" y="6454902"/>
            <a:ext cx="1371600" cy="430530"/>
          </a:xfrm>
          <a:prstGeom prst="rect">
            <a:avLst/>
          </a:prstGeom>
        </p:spPr>
        <p:txBody>
          <a:bodyPr anchor="t" rtlCol="false" tIns="0" lIns="0" bIns="0" rIns="0">
            <a:spAutoFit/>
          </a:bodyPr>
          <a:lstStyle/>
          <a:p>
            <a:pPr algn="ctr">
              <a:lnSpc>
                <a:spcPts val="2160"/>
              </a:lnSpc>
            </a:pPr>
            <a:r>
              <a:rPr lang="en-US" sz="1800" b="true">
                <a:solidFill>
                  <a:srgbClr val="000000"/>
                </a:solidFill>
                <a:latin typeface="Times New Roman Bold"/>
                <a:ea typeface="Times New Roman Bold"/>
                <a:cs typeface="Times New Roman Bold"/>
                <a:sym typeface="Times New Roman Bold"/>
              </a:rPr>
              <a:t>SEMI</a:t>
            </a:r>
          </a:p>
        </p:txBody>
      </p:sp>
      <p:sp>
        <p:nvSpPr>
          <p:cNvPr name="TextBox 45" id="45"/>
          <p:cNvSpPr txBox="true"/>
          <p:nvPr/>
        </p:nvSpPr>
        <p:spPr>
          <a:xfrm rot="0">
            <a:off x="960120" y="8141970"/>
            <a:ext cx="6172200" cy="499110"/>
          </a:xfrm>
          <a:prstGeom prst="rect">
            <a:avLst/>
          </a:prstGeom>
        </p:spPr>
        <p:txBody>
          <a:bodyPr anchor="t" rtlCol="false" tIns="0" lIns="0" bIns="0" rIns="0">
            <a:spAutoFit/>
          </a:bodyPr>
          <a:lstStyle/>
          <a:p>
            <a:pPr algn="l">
              <a:lnSpc>
                <a:spcPts val="2520"/>
              </a:lnSpc>
            </a:pPr>
            <a:r>
              <a:rPr lang="en-US" sz="2100" b="true">
                <a:solidFill>
                  <a:srgbClr val="000000"/>
                </a:solidFill>
                <a:latin typeface="Times New Roman Bold"/>
                <a:ea typeface="Times New Roman Bold"/>
                <a:cs typeface="Times New Roman Bold"/>
                <a:sym typeface="Times New Roman Bold"/>
              </a:rPr>
              <a:t>Guided By:</a:t>
            </a:r>
          </a:p>
        </p:txBody>
      </p:sp>
      <p:sp>
        <p:nvSpPr>
          <p:cNvPr name="TextBox 46" id="46"/>
          <p:cNvSpPr txBox="true"/>
          <p:nvPr/>
        </p:nvSpPr>
        <p:spPr>
          <a:xfrm rot="0">
            <a:off x="960120" y="8622030"/>
            <a:ext cx="6172200" cy="428625"/>
          </a:xfrm>
          <a:prstGeom prst="rect">
            <a:avLst/>
          </a:prstGeom>
        </p:spPr>
        <p:txBody>
          <a:bodyPr anchor="t" rtlCol="false" tIns="0" lIns="0" bIns="0" rIns="0">
            <a:spAutoFit/>
          </a:bodyPr>
          <a:lstStyle/>
          <a:p>
            <a:pPr algn="l">
              <a:lnSpc>
                <a:spcPts val="3240"/>
              </a:lnSpc>
            </a:pPr>
            <a:r>
              <a:rPr lang="en-US" sz="2700">
                <a:solidFill>
                  <a:srgbClr val="000000"/>
                </a:solidFill>
                <a:latin typeface="Times New Roman"/>
                <a:ea typeface="Times New Roman"/>
                <a:cs typeface="Times New Roman"/>
                <a:sym typeface="Times New Roman"/>
              </a:rPr>
              <a:t>Dr. Ajitha Rajgopal</a:t>
            </a:r>
          </a:p>
        </p:txBody>
      </p:sp>
      <p:sp>
        <p:nvSpPr>
          <p:cNvPr name="TextBox 47" id="47"/>
          <p:cNvSpPr txBox="true"/>
          <p:nvPr/>
        </p:nvSpPr>
        <p:spPr>
          <a:xfrm rot="0">
            <a:off x="10149840" y="8141970"/>
            <a:ext cx="7173468" cy="499110"/>
          </a:xfrm>
          <a:prstGeom prst="rect">
            <a:avLst/>
          </a:prstGeom>
        </p:spPr>
        <p:txBody>
          <a:bodyPr anchor="t" rtlCol="false" tIns="0" lIns="0" bIns="0" rIns="0">
            <a:spAutoFit/>
          </a:bodyPr>
          <a:lstStyle/>
          <a:p>
            <a:pPr algn="r">
              <a:lnSpc>
                <a:spcPts val="2520"/>
              </a:lnSpc>
            </a:pPr>
            <a:r>
              <a:rPr lang="en-US" sz="2100" b="true">
                <a:solidFill>
                  <a:srgbClr val="000000"/>
                </a:solidFill>
                <a:latin typeface="Times New Roman Bold"/>
                <a:ea typeface="Times New Roman Bold"/>
                <a:cs typeface="Times New Roman Bold"/>
                <a:sym typeface="Times New Roman Bold"/>
              </a:rPr>
              <a:t>Presented by:</a:t>
            </a:r>
          </a:p>
        </p:txBody>
      </p:sp>
      <p:sp>
        <p:nvSpPr>
          <p:cNvPr name="TextBox 48" id="48"/>
          <p:cNvSpPr txBox="true"/>
          <p:nvPr/>
        </p:nvSpPr>
        <p:spPr>
          <a:xfrm rot="0">
            <a:off x="10149840" y="8631555"/>
            <a:ext cx="7173468" cy="1312545"/>
          </a:xfrm>
          <a:prstGeom prst="rect">
            <a:avLst/>
          </a:prstGeom>
        </p:spPr>
        <p:txBody>
          <a:bodyPr anchor="t" rtlCol="false" tIns="0" lIns="0" bIns="0" rIns="0">
            <a:spAutoFit/>
          </a:bodyPr>
          <a:lstStyle/>
          <a:p>
            <a:pPr algn="r">
              <a:lnSpc>
                <a:spcPts val="2879"/>
              </a:lnSpc>
            </a:pPr>
            <a:r>
              <a:rPr lang="en-US" sz="2400">
                <a:solidFill>
                  <a:srgbClr val="000000"/>
                </a:solidFill>
                <a:latin typeface="Times New Roman"/>
                <a:ea typeface="Times New Roman"/>
                <a:cs typeface="Times New Roman"/>
                <a:sym typeface="Times New Roman"/>
              </a:rPr>
              <a:t>G Chandravardhan Reddy</a:t>
            </a:r>
          </a:p>
          <a:p>
            <a:pPr algn="r">
              <a:lnSpc>
                <a:spcPts val="2879"/>
              </a:lnSpc>
            </a:pPr>
            <a:r>
              <a:rPr lang="en-US" sz="2400">
                <a:solidFill>
                  <a:srgbClr val="000000"/>
                </a:solidFill>
                <a:latin typeface="Times New Roman"/>
                <a:ea typeface="Times New Roman"/>
                <a:cs typeface="Times New Roman"/>
                <a:sym typeface="Times New Roman"/>
              </a:rPr>
              <a:t>B Surya Kathyakeya</a:t>
            </a:r>
          </a:p>
          <a:p>
            <a:pPr algn="r">
              <a:lnSpc>
                <a:spcPts val="2879"/>
              </a:lnSpc>
            </a:pPr>
            <a:r>
              <a:rPr lang="en-US" sz="2400">
                <a:solidFill>
                  <a:srgbClr val="000000"/>
                </a:solidFill>
                <a:latin typeface="Times New Roman"/>
                <a:ea typeface="Times New Roman"/>
                <a:cs typeface="Times New Roman"/>
                <a:sym typeface="Times New Roman"/>
              </a:rPr>
              <a:t>G Rohit Venkat</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9601200"/>
            <a:ext cx="8229600" cy="411480"/>
            <a:chOff x="0" y="0"/>
            <a:chExt cx="10972800" cy="548640"/>
          </a:xfrm>
        </p:grpSpPr>
        <p:sp>
          <p:nvSpPr>
            <p:cNvPr name="Freeform 3" id="3"/>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700" r="0" b="-339700"/>
              </a:stretch>
            </a:blipFill>
          </p:spPr>
        </p:sp>
        <p:sp>
          <p:nvSpPr>
            <p:cNvPr name="TextBox 4" id="4"/>
            <p:cNvSpPr txBox="true"/>
            <p:nvPr/>
          </p:nvSpPr>
          <p:spPr>
            <a:xfrm>
              <a:off x="0" y="-19050"/>
              <a:ext cx="10972800" cy="567690"/>
            </a:xfrm>
            <a:prstGeom prst="rect">
              <a:avLst/>
            </a:prstGeom>
          </p:spPr>
          <p:txBody>
            <a:bodyPr anchor="ctr" rtlCol="false" tIns="0" lIns="0" bIns="0" rIns="0"/>
            <a:lstStyle/>
            <a:p>
              <a:pPr algn="l">
                <a:lnSpc>
                  <a:spcPts val="1800"/>
                </a:lnSpc>
              </a:pPr>
              <a:r>
                <a:rPr lang="en-US" sz="1500">
                  <a:solidFill>
                    <a:srgbClr val="000000"/>
                  </a:solidFill>
                  <a:latin typeface="Times New Roman"/>
                  <a:ea typeface="Times New Roman"/>
                  <a:cs typeface="Times New Roman"/>
                  <a:sym typeface="Times New Roman"/>
                </a:rPr>
                <a:t>Building an FSA for Token Recognition</a:t>
              </a:r>
            </a:p>
          </p:txBody>
        </p:sp>
      </p:grpSp>
      <p:grpSp>
        <p:nvGrpSpPr>
          <p:cNvPr name="Group 5" id="5"/>
          <p:cNvGrpSpPr/>
          <p:nvPr/>
        </p:nvGrpSpPr>
        <p:grpSpPr>
          <a:xfrm rot="0">
            <a:off x="960120" y="548640"/>
            <a:ext cx="15361920" cy="1097280"/>
            <a:chOff x="0" y="0"/>
            <a:chExt cx="20482560" cy="1463040"/>
          </a:xfrm>
        </p:grpSpPr>
        <p:sp>
          <p:nvSpPr>
            <p:cNvPr name="Freeform 6" id="6"/>
            <p:cNvSpPr/>
            <p:nvPr/>
          </p:nvSpPr>
          <p:spPr>
            <a:xfrm flipH="false" flipV="false" rot="0">
              <a:off x="0" y="0"/>
              <a:ext cx="20482561" cy="1463040"/>
            </a:xfrm>
            <a:custGeom>
              <a:avLst/>
              <a:gdLst/>
              <a:ahLst/>
              <a:cxnLst/>
              <a:rect r="r" b="b" t="t" l="l"/>
              <a:pathLst>
                <a:path h="1463040" w="20482561">
                  <a:moveTo>
                    <a:pt x="0" y="0"/>
                  </a:moveTo>
                  <a:lnTo>
                    <a:pt x="20482561" y="0"/>
                  </a:lnTo>
                  <a:lnTo>
                    <a:pt x="20482561" y="1463040"/>
                  </a:lnTo>
                  <a:lnTo>
                    <a:pt x="0" y="1463040"/>
                  </a:lnTo>
                  <a:close/>
                </a:path>
              </a:pathLst>
            </a:custGeom>
            <a:blipFill>
              <a:blip r:embed="rId3">
                <a:alphaModFix amt="0"/>
              </a:blip>
              <a:stretch>
                <a:fillRect l="0" t="-222790" r="0" b="-222790"/>
              </a:stretch>
            </a:blipFill>
          </p:spPr>
        </p:sp>
        <p:sp>
          <p:nvSpPr>
            <p:cNvPr name="TextBox 7" id="7"/>
            <p:cNvSpPr txBox="true"/>
            <p:nvPr/>
          </p:nvSpPr>
          <p:spPr>
            <a:xfrm>
              <a:off x="0" y="-28575"/>
              <a:ext cx="20482560" cy="1491615"/>
            </a:xfrm>
            <a:prstGeom prst="rect">
              <a:avLst/>
            </a:prstGeom>
          </p:spPr>
          <p:txBody>
            <a:bodyPr anchor="ctr" rtlCol="false" tIns="0" lIns="0" bIns="0" rIns="0"/>
            <a:lstStyle/>
            <a:p>
              <a:pPr algn="l">
                <a:lnSpc>
                  <a:spcPts val="6120"/>
                </a:lnSpc>
              </a:pPr>
              <a:r>
                <a:rPr lang="en-US" sz="5100" b="true">
                  <a:solidFill>
                    <a:srgbClr val="000000"/>
                  </a:solidFill>
                  <a:latin typeface="Times New Roman Bold"/>
                  <a:ea typeface="Times New Roman Bold"/>
                  <a:cs typeface="Times New Roman Bold"/>
                  <a:sym typeface="Times New Roman Bold"/>
                </a:rPr>
                <a:t>Where the lexer fits</a:t>
              </a:r>
            </a:p>
          </p:txBody>
        </p:sp>
      </p:grpSp>
      <p:sp>
        <p:nvSpPr>
          <p:cNvPr name="TextBox 8" id="8"/>
          <p:cNvSpPr txBox="true"/>
          <p:nvPr/>
        </p:nvSpPr>
        <p:spPr>
          <a:xfrm rot="0">
            <a:off x="960120" y="1773555"/>
            <a:ext cx="15361920" cy="558165"/>
          </a:xfrm>
          <a:prstGeom prst="rect">
            <a:avLst/>
          </a:prstGeom>
        </p:spPr>
        <p:txBody>
          <a:bodyPr anchor="t" rtlCol="false" tIns="0" lIns="0" bIns="0" rIns="0">
            <a:spAutoFit/>
          </a:bodyPr>
          <a:lstStyle/>
          <a:p>
            <a:pPr algn="l">
              <a:lnSpc>
                <a:spcPts val="2879"/>
              </a:lnSpc>
            </a:pPr>
            <a:r>
              <a:rPr lang="en-US" sz="2400">
                <a:solidFill>
                  <a:srgbClr val="000000"/>
                </a:solidFill>
                <a:latin typeface="Times New Roman"/>
                <a:ea typeface="Times New Roman"/>
                <a:cs typeface="Times New Roman"/>
                <a:sym typeface="Times New Roman"/>
              </a:rPr>
              <a:t>Lexical analysis is the first compiler phase: characters in, tokens out.</a:t>
            </a:r>
          </a:p>
        </p:txBody>
      </p:sp>
      <p:grpSp>
        <p:nvGrpSpPr>
          <p:cNvPr name="Group 9" id="9"/>
          <p:cNvGrpSpPr/>
          <p:nvPr/>
        </p:nvGrpSpPr>
        <p:grpSpPr>
          <a:xfrm rot="0">
            <a:off x="950595" y="2733675"/>
            <a:ext cx="2762250" cy="1527810"/>
            <a:chOff x="0" y="0"/>
            <a:chExt cx="3683000" cy="2037080"/>
          </a:xfrm>
        </p:grpSpPr>
        <p:sp>
          <p:nvSpPr>
            <p:cNvPr name="Freeform 10" id="10"/>
            <p:cNvSpPr/>
            <p:nvPr/>
          </p:nvSpPr>
          <p:spPr>
            <a:xfrm flipH="false" flipV="false" rot="0">
              <a:off x="0" y="0"/>
              <a:ext cx="3683000" cy="2037080"/>
            </a:xfrm>
            <a:custGeom>
              <a:avLst/>
              <a:gdLst/>
              <a:ahLst/>
              <a:cxnLst/>
              <a:rect r="r" b="b" t="t" l="l"/>
              <a:pathLst>
                <a:path h="2037080" w="3683000">
                  <a:moveTo>
                    <a:pt x="0" y="185166"/>
                  </a:moveTo>
                  <a:cubicBezTo>
                    <a:pt x="0" y="82931"/>
                    <a:pt x="82931" y="0"/>
                    <a:pt x="185166" y="0"/>
                  </a:cubicBezTo>
                  <a:lnTo>
                    <a:pt x="3497834" y="0"/>
                  </a:lnTo>
                  <a:cubicBezTo>
                    <a:pt x="3600069" y="0"/>
                    <a:pt x="3683000" y="82931"/>
                    <a:pt x="3683000" y="185166"/>
                  </a:cubicBezTo>
                  <a:lnTo>
                    <a:pt x="3683000" y="1851914"/>
                  </a:lnTo>
                  <a:cubicBezTo>
                    <a:pt x="3683000" y="1954149"/>
                    <a:pt x="3600069" y="2037080"/>
                    <a:pt x="3497834" y="2037080"/>
                  </a:cubicBezTo>
                  <a:lnTo>
                    <a:pt x="185166" y="2037080"/>
                  </a:lnTo>
                  <a:cubicBezTo>
                    <a:pt x="82931" y="2037080"/>
                    <a:pt x="0" y="1954149"/>
                    <a:pt x="0" y="1851914"/>
                  </a:cubicBezTo>
                  <a:close/>
                </a:path>
              </a:pathLst>
            </a:custGeom>
            <a:solidFill>
              <a:srgbClr val="FFFFFF"/>
            </a:solidFill>
            <a:ln w="19050" cap="sq">
              <a:solidFill>
                <a:srgbClr val="000000"/>
              </a:solidFill>
              <a:prstDash val="solid"/>
              <a:miter/>
            </a:ln>
          </p:spPr>
        </p:sp>
      </p:grpSp>
      <p:grpSp>
        <p:nvGrpSpPr>
          <p:cNvPr name="Group 11" id="11"/>
          <p:cNvGrpSpPr/>
          <p:nvPr/>
        </p:nvGrpSpPr>
        <p:grpSpPr>
          <a:xfrm rot="0">
            <a:off x="1097280" y="2743200"/>
            <a:ext cx="2468880" cy="1508760"/>
            <a:chOff x="0" y="0"/>
            <a:chExt cx="3291840" cy="2011680"/>
          </a:xfrm>
        </p:grpSpPr>
        <p:sp>
          <p:nvSpPr>
            <p:cNvPr name="Freeform 12" id="12"/>
            <p:cNvSpPr/>
            <p:nvPr/>
          </p:nvSpPr>
          <p:spPr>
            <a:xfrm flipH="false" flipV="false" rot="0">
              <a:off x="0" y="0"/>
              <a:ext cx="3291840" cy="2011680"/>
            </a:xfrm>
            <a:custGeom>
              <a:avLst/>
              <a:gdLst/>
              <a:ahLst/>
              <a:cxnLst/>
              <a:rect r="r" b="b" t="t" l="l"/>
              <a:pathLst>
                <a:path h="2011680" w="3291840">
                  <a:moveTo>
                    <a:pt x="0" y="0"/>
                  </a:moveTo>
                  <a:lnTo>
                    <a:pt x="3291840" y="0"/>
                  </a:lnTo>
                  <a:lnTo>
                    <a:pt x="3291840" y="2011680"/>
                  </a:lnTo>
                  <a:lnTo>
                    <a:pt x="0" y="2011680"/>
                  </a:lnTo>
                  <a:close/>
                </a:path>
              </a:pathLst>
            </a:custGeom>
            <a:blipFill>
              <a:blip r:embed="rId3">
                <a:alphaModFix amt="0"/>
              </a:blip>
              <a:stretch>
                <a:fillRect l="-28407" t="0" r="-28407" b="0"/>
              </a:stretch>
            </a:blipFill>
          </p:spPr>
        </p:sp>
        <p:sp>
          <p:nvSpPr>
            <p:cNvPr name="TextBox 13" id="13"/>
            <p:cNvSpPr txBox="true"/>
            <p:nvPr/>
          </p:nvSpPr>
          <p:spPr>
            <a:xfrm>
              <a:off x="0" y="-9525"/>
              <a:ext cx="3291840" cy="2021205"/>
            </a:xfrm>
            <a:prstGeom prst="rect">
              <a:avLst/>
            </a:prstGeom>
          </p:spPr>
          <p:txBody>
            <a:bodyPr anchor="ctr" rtlCol="false" tIns="0" lIns="0" bIns="0" rIns="0"/>
            <a:lstStyle/>
            <a:p>
              <a:pPr algn="ctr">
                <a:lnSpc>
                  <a:spcPts val="2879"/>
                </a:lnSpc>
              </a:pPr>
              <a:r>
                <a:rPr lang="en-US" sz="2400" b="true">
                  <a:solidFill>
                    <a:srgbClr val="000000"/>
                  </a:solidFill>
                  <a:latin typeface="Times New Roman Bold"/>
                  <a:ea typeface="Times New Roman Bold"/>
                  <a:cs typeface="Times New Roman Bold"/>
                  <a:sym typeface="Times New Roman Bold"/>
                </a:rPr>
                <a:t>Source code</a:t>
              </a:r>
            </a:p>
          </p:txBody>
        </p:sp>
      </p:grpSp>
      <p:sp>
        <p:nvSpPr>
          <p:cNvPr name="AutoShape 14" id="14"/>
          <p:cNvSpPr/>
          <p:nvPr/>
        </p:nvSpPr>
        <p:spPr>
          <a:xfrm rot="272280">
            <a:off x="3763337" y="3488055"/>
            <a:ext cx="541763" cy="0"/>
          </a:xfrm>
          <a:prstGeom prst="line">
            <a:avLst/>
          </a:prstGeom>
          <a:ln cap="rnd" w="19050">
            <a:solidFill>
              <a:srgbClr val="000000"/>
            </a:solidFill>
            <a:prstDash val="solid"/>
            <a:headEnd type="none" len="sm" w="sm"/>
            <a:tailEnd type="triangle" len="med" w="lg"/>
          </a:ln>
        </p:spPr>
      </p:sp>
      <p:grpSp>
        <p:nvGrpSpPr>
          <p:cNvPr name="Group 15" id="15"/>
          <p:cNvGrpSpPr/>
          <p:nvPr/>
        </p:nvGrpSpPr>
        <p:grpSpPr>
          <a:xfrm rot="0">
            <a:off x="4331780" y="2709862"/>
            <a:ext cx="2809875" cy="1575435"/>
            <a:chOff x="0" y="0"/>
            <a:chExt cx="3746500" cy="2100580"/>
          </a:xfrm>
        </p:grpSpPr>
        <p:sp>
          <p:nvSpPr>
            <p:cNvPr name="Freeform 16" id="16"/>
            <p:cNvSpPr/>
            <p:nvPr/>
          </p:nvSpPr>
          <p:spPr>
            <a:xfrm flipH="false" flipV="false" rot="0">
              <a:off x="0" y="0"/>
              <a:ext cx="3746500" cy="2100580"/>
            </a:xfrm>
            <a:custGeom>
              <a:avLst/>
              <a:gdLst/>
              <a:ahLst/>
              <a:cxnLst/>
              <a:rect r="r" b="b" t="t" l="l"/>
              <a:pathLst>
                <a:path h="2100580" w="3746500">
                  <a:moveTo>
                    <a:pt x="0" y="191008"/>
                  </a:moveTo>
                  <a:cubicBezTo>
                    <a:pt x="0" y="85471"/>
                    <a:pt x="85471" y="0"/>
                    <a:pt x="191008" y="0"/>
                  </a:cubicBezTo>
                  <a:lnTo>
                    <a:pt x="3555492" y="0"/>
                  </a:lnTo>
                  <a:cubicBezTo>
                    <a:pt x="3661029" y="0"/>
                    <a:pt x="3746500" y="85471"/>
                    <a:pt x="3746500" y="191008"/>
                  </a:cubicBezTo>
                  <a:lnTo>
                    <a:pt x="3746500" y="1909572"/>
                  </a:lnTo>
                  <a:cubicBezTo>
                    <a:pt x="3746500" y="2014982"/>
                    <a:pt x="3661029" y="2100580"/>
                    <a:pt x="3555492" y="2100580"/>
                  </a:cubicBezTo>
                  <a:lnTo>
                    <a:pt x="191008" y="2100580"/>
                  </a:lnTo>
                  <a:cubicBezTo>
                    <a:pt x="85471" y="2100580"/>
                    <a:pt x="0" y="2015109"/>
                    <a:pt x="0" y="1909572"/>
                  </a:cubicBezTo>
                  <a:close/>
                </a:path>
              </a:pathLst>
            </a:custGeom>
            <a:solidFill>
              <a:srgbClr val="FFFFFF"/>
            </a:solidFill>
            <a:ln w="66675" cap="sq">
              <a:solidFill>
                <a:srgbClr val="000000"/>
              </a:solidFill>
              <a:prstDash val="solid"/>
              <a:miter/>
            </a:ln>
          </p:spPr>
        </p:sp>
      </p:grpSp>
      <p:grpSp>
        <p:nvGrpSpPr>
          <p:cNvPr name="Group 17" id="17"/>
          <p:cNvGrpSpPr/>
          <p:nvPr/>
        </p:nvGrpSpPr>
        <p:grpSpPr>
          <a:xfrm rot="0">
            <a:off x="4502277" y="2743200"/>
            <a:ext cx="2468880" cy="1508760"/>
            <a:chOff x="0" y="0"/>
            <a:chExt cx="3291840" cy="2011680"/>
          </a:xfrm>
        </p:grpSpPr>
        <p:sp>
          <p:nvSpPr>
            <p:cNvPr name="Freeform 18" id="18"/>
            <p:cNvSpPr/>
            <p:nvPr/>
          </p:nvSpPr>
          <p:spPr>
            <a:xfrm flipH="false" flipV="false" rot="0">
              <a:off x="0" y="0"/>
              <a:ext cx="3291840" cy="2011680"/>
            </a:xfrm>
            <a:custGeom>
              <a:avLst/>
              <a:gdLst/>
              <a:ahLst/>
              <a:cxnLst/>
              <a:rect r="r" b="b" t="t" l="l"/>
              <a:pathLst>
                <a:path h="2011680" w="3291840">
                  <a:moveTo>
                    <a:pt x="0" y="0"/>
                  </a:moveTo>
                  <a:lnTo>
                    <a:pt x="3291840" y="0"/>
                  </a:lnTo>
                  <a:lnTo>
                    <a:pt x="3291840" y="2011680"/>
                  </a:lnTo>
                  <a:lnTo>
                    <a:pt x="0" y="2011680"/>
                  </a:lnTo>
                  <a:close/>
                </a:path>
              </a:pathLst>
            </a:custGeom>
            <a:blipFill>
              <a:blip r:embed="rId3">
                <a:alphaModFix amt="0"/>
              </a:blip>
              <a:stretch>
                <a:fillRect l="-28407" t="0" r="-28407" b="0"/>
              </a:stretch>
            </a:blipFill>
          </p:spPr>
        </p:sp>
        <p:sp>
          <p:nvSpPr>
            <p:cNvPr name="TextBox 19" id="19"/>
            <p:cNvSpPr txBox="true"/>
            <p:nvPr/>
          </p:nvSpPr>
          <p:spPr>
            <a:xfrm>
              <a:off x="0" y="-9525"/>
              <a:ext cx="3291840" cy="2021205"/>
            </a:xfrm>
            <a:prstGeom prst="rect">
              <a:avLst/>
            </a:prstGeom>
          </p:spPr>
          <p:txBody>
            <a:bodyPr anchor="ctr" rtlCol="false" tIns="0" lIns="0" bIns="0" rIns="0"/>
            <a:lstStyle/>
            <a:p>
              <a:pPr algn="ctr">
                <a:lnSpc>
                  <a:spcPts val="2879"/>
                </a:lnSpc>
              </a:pPr>
              <a:r>
                <a:rPr lang="en-US" sz="2400" b="true">
                  <a:solidFill>
                    <a:srgbClr val="000000"/>
                  </a:solidFill>
                  <a:latin typeface="Times New Roman Bold"/>
                  <a:ea typeface="Times New Roman Bold"/>
                  <a:cs typeface="Times New Roman Bold"/>
                  <a:sym typeface="Times New Roman Bold"/>
                </a:rPr>
                <a:t>Lexical analyzer</a:t>
              </a:r>
            </a:p>
          </p:txBody>
        </p:sp>
      </p:grpSp>
      <p:sp>
        <p:nvSpPr>
          <p:cNvPr name="AutoShape 20" id="20"/>
          <p:cNvSpPr/>
          <p:nvPr/>
        </p:nvSpPr>
        <p:spPr>
          <a:xfrm rot="272280">
            <a:off x="7168334" y="3488055"/>
            <a:ext cx="541763" cy="0"/>
          </a:xfrm>
          <a:prstGeom prst="line">
            <a:avLst/>
          </a:prstGeom>
          <a:ln cap="rnd" w="19050">
            <a:solidFill>
              <a:srgbClr val="000000"/>
            </a:solidFill>
            <a:prstDash val="solid"/>
            <a:headEnd type="none" len="sm" w="sm"/>
            <a:tailEnd type="triangle" len="med" w="lg"/>
          </a:ln>
        </p:spPr>
      </p:sp>
      <p:grpSp>
        <p:nvGrpSpPr>
          <p:cNvPr name="Group 21" id="21"/>
          <p:cNvGrpSpPr/>
          <p:nvPr/>
        </p:nvGrpSpPr>
        <p:grpSpPr>
          <a:xfrm rot="0">
            <a:off x="7760589" y="2733675"/>
            <a:ext cx="2762250" cy="1527810"/>
            <a:chOff x="0" y="0"/>
            <a:chExt cx="3683000" cy="2037080"/>
          </a:xfrm>
        </p:grpSpPr>
        <p:sp>
          <p:nvSpPr>
            <p:cNvPr name="Freeform 22" id="22"/>
            <p:cNvSpPr/>
            <p:nvPr/>
          </p:nvSpPr>
          <p:spPr>
            <a:xfrm flipH="false" flipV="false" rot="0">
              <a:off x="0" y="0"/>
              <a:ext cx="3683000" cy="2037080"/>
            </a:xfrm>
            <a:custGeom>
              <a:avLst/>
              <a:gdLst/>
              <a:ahLst/>
              <a:cxnLst/>
              <a:rect r="r" b="b" t="t" l="l"/>
              <a:pathLst>
                <a:path h="2037080" w="3683000">
                  <a:moveTo>
                    <a:pt x="0" y="185166"/>
                  </a:moveTo>
                  <a:cubicBezTo>
                    <a:pt x="0" y="82931"/>
                    <a:pt x="82931" y="0"/>
                    <a:pt x="185166" y="0"/>
                  </a:cubicBezTo>
                  <a:lnTo>
                    <a:pt x="3497834" y="0"/>
                  </a:lnTo>
                  <a:cubicBezTo>
                    <a:pt x="3600069" y="0"/>
                    <a:pt x="3683000" y="82931"/>
                    <a:pt x="3683000" y="185166"/>
                  </a:cubicBezTo>
                  <a:lnTo>
                    <a:pt x="3683000" y="1851914"/>
                  </a:lnTo>
                  <a:cubicBezTo>
                    <a:pt x="3683000" y="1954149"/>
                    <a:pt x="3600069" y="2037080"/>
                    <a:pt x="3497834" y="2037080"/>
                  </a:cubicBezTo>
                  <a:lnTo>
                    <a:pt x="185166" y="2037080"/>
                  </a:lnTo>
                  <a:cubicBezTo>
                    <a:pt x="82931" y="2037080"/>
                    <a:pt x="0" y="1954149"/>
                    <a:pt x="0" y="1851914"/>
                  </a:cubicBezTo>
                  <a:close/>
                </a:path>
              </a:pathLst>
            </a:custGeom>
            <a:solidFill>
              <a:srgbClr val="FFFFFF"/>
            </a:solidFill>
            <a:ln w="19050" cap="sq">
              <a:solidFill>
                <a:srgbClr val="000000"/>
              </a:solidFill>
              <a:prstDash val="solid"/>
              <a:miter/>
            </a:ln>
          </p:spPr>
        </p:sp>
      </p:grpSp>
      <p:grpSp>
        <p:nvGrpSpPr>
          <p:cNvPr name="Group 23" id="23"/>
          <p:cNvGrpSpPr/>
          <p:nvPr/>
        </p:nvGrpSpPr>
        <p:grpSpPr>
          <a:xfrm rot="0">
            <a:off x="7907274" y="2743200"/>
            <a:ext cx="2468880" cy="1508760"/>
            <a:chOff x="0" y="0"/>
            <a:chExt cx="3291840" cy="2011680"/>
          </a:xfrm>
        </p:grpSpPr>
        <p:sp>
          <p:nvSpPr>
            <p:cNvPr name="Freeform 24" id="24"/>
            <p:cNvSpPr/>
            <p:nvPr/>
          </p:nvSpPr>
          <p:spPr>
            <a:xfrm flipH="false" flipV="false" rot="0">
              <a:off x="0" y="0"/>
              <a:ext cx="3291840" cy="2011680"/>
            </a:xfrm>
            <a:custGeom>
              <a:avLst/>
              <a:gdLst/>
              <a:ahLst/>
              <a:cxnLst/>
              <a:rect r="r" b="b" t="t" l="l"/>
              <a:pathLst>
                <a:path h="2011680" w="3291840">
                  <a:moveTo>
                    <a:pt x="0" y="0"/>
                  </a:moveTo>
                  <a:lnTo>
                    <a:pt x="3291840" y="0"/>
                  </a:lnTo>
                  <a:lnTo>
                    <a:pt x="3291840" y="2011680"/>
                  </a:lnTo>
                  <a:lnTo>
                    <a:pt x="0" y="2011680"/>
                  </a:lnTo>
                  <a:close/>
                </a:path>
              </a:pathLst>
            </a:custGeom>
            <a:blipFill>
              <a:blip r:embed="rId3">
                <a:alphaModFix amt="0"/>
              </a:blip>
              <a:stretch>
                <a:fillRect l="-28407" t="0" r="-28407" b="0"/>
              </a:stretch>
            </a:blipFill>
          </p:spPr>
        </p:sp>
        <p:sp>
          <p:nvSpPr>
            <p:cNvPr name="TextBox 25" id="25"/>
            <p:cNvSpPr txBox="true"/>
            <p:nvPr/>
          </p:nvSpPr>
          <p:spPr>
            <a:xfrm>
              <a:off x="0" y="-9525"/>
              <a:ext cx="3291840" cy="2021205"/>
            </a:xfrm>
            <a:prstGeom prst="rect">
              <a:avLst/>
            </a:prstGeom>
          </p:spPr>
          <p:txBody>
            <a:bodyPr anchor="ctr" rtlCol="false" tIns="0" lIns="0" bIns="0" rIns="0"/>
            <a:lstStyle/>
            <a:p>
              <a:pPr algn="ctr">
                <a:lnSpc>
                  <a:spcPts val="2879"/>
                </a:lnSpc>
              </a:pPr>
              <a:r>
                <a:rPr lang="en-US" sz="2400" b="true">
                  <a:solidFill>
                    <a:srgbClr val="000000"/>
                  </a:solidFill>
                  <a:latin typeface="Times New Roman Bold"/>
                  <a:ea typeface="Times New Roman Bold"/>
                  <a:cs typeface="Times New Roman Bold"/>
                  <a:sym typeface="Times New Roman Bold"/>
                </a:rPr>
                <a:t>Parser</a:t>
              </a:r>
            </a:p>
          </p:txBody>
        </p:sp>
      </p:grpSp>
      <p:sp>
        <p:nvSpPr>
          <p:cNvPr name="AutoShape 26" id="26"/>
          <p:cNvSpPr/>
          <p:nvPr/>
        </p:nvSpPr>
        <p:spPr>
          <a:xfrm rot="272280">
            <a:off x="10573331" y="3488055"/>
            <a:ext cx="541763" cy="0"/>
          </a:xfrm>
          <a:prstGeom prst="line">
            <a:avLst/>
          </a:prstGeom>
          <a:ln cap="rnd" w="19050">
            <a:solidFill>
              <a:srgbClr val="000000"/>
            </a:solidFill>
            <a:prstDash val="solid"/>
            <a:headEnd type="none" len="sm" w="sm"/>
            <a:tailEnd type="triangle" len="med" w="lg"/>
          </a:ln>
        </p:spPr>
      </p:sp>
      <p:grpSp>
        <p:nvGrpSpPr>
          <p:cNvPr name="Group 27" id="27"/>
          <p:cNvGrpSpPr/>
          <p:nvPr/>
        </p:nvGrpSpPr>
        <p:grpSpPr>
          <a:xfrm rot="0">
            <a:off x="11165586" y="2733675"/>
            <a:ext cx="2762250" cy="1527810"/>
            <a:chOff x="0" y="0"/>
            <a:chExt cx="3683000" cy="2037080"/>
          </a:xfrm>
        </p:grpSpPr>
        <p:sp>
          <p:nvSpPr>
            <p:cNvPr name="Freeform 28" id="28"/>
            <p:cNvSpPr/>
            <p:nvPr/>
          </p:nvSpPr>
          <p:spPr>
            <a:xfrm flipH="false" flipV="false" rot="0">
              <a:off x="0" y="0"/>
              <a:ext cx="3683000" cy="2037080"/>
            </a:xfrm>
            <a:custGeom>
              <a:avLst/>
              <a:gdLst/>
              <a:ahLst/>
              <a:cxnLst/>
              <a:rect r="r" b="b" t="t" l="l"/>
              <a:pathLst>
                <a:path h="2037080" w="3683000">
                  <a:moveTo>
                    <a:pt x="0" y="185166"/>
                  </a:moveTo>
                  <a:cubicBezTo>
                    <a:pt x="0" y="82931"/>
                    <a:pt x="82931" y="0"/>
                    <a:pt x="185166" y="0"/>
                  </a:cubicBezTo>
                  <a:lnTo>
                    <a:pt x="3497834" y="0"/>
                  </a:lnTo>
                  <a:cubicBezTo>
                    <a:pt x="3600069" y="0"/>
                    <a:pt x="3683000" y="82931"/>
                    <a:pt x="3683000" y="185166"/>
                  </a:cubicBezTo>
                  <a:lnTo>
                    <a:pt x="3683000" y="1851914"/>
                  </a:lnTo>
                  <a:cubicBezTo>
                    <a:pt x="3683000" y="1954149"/>
                    <a:pt x="3600069" y="2037080"/>
                    <a:pt x="3497834" y="2037080"/>
                  </a:cubicBezTo>
                  <a:lnTo>
                    <a:pt x="185166" y="2037080"/>
                  </a:lnTo>
                  <a:cubicBezTo>
                    <a:pt x="82931" y="2037080"/>
                    <a:pt x="0" y="1954149"/>
                    <a:pt x="0" y="1851914"/>
                  </a:cubicBezTo>
                  <a:close/>
                </a:path>
              </a:pathLst>
            </a:custGeom>
            <a:solidFill>
              <a:srgbClr val="FFFFFF"/>
            </a:solidFill>
            <a:ln w="19050" cap="sq">
              <a:solidFill>
                <a:srgbClr val="000000"/>
              </a:solidFill>
              <a:prstDash val="solid"/>
              <a:miter/>
            </a:ln>
          </p:spPr>
        </p:sp>
      </p:grpSp>
      <p:grpSp>
        <p:nvGrpSpPr>
          <p:cNvPr name="Group 29" id="29"/>
          <p:cNvGrpSpPr/>
          <p:nvPr/>
        </p:nvGrpSpPr>
        <p:grpSpPr>
          <a:xfrm rot="0">
            <a:off x="11312271" y="2743200"/>
            <a:ext cx="2468880" cy="1508760"/>
            <a:chOff x="0" y="0"/>
            <a:chExt cx="3291840" cy="2011680"/>
          </a:xfrm>
        </p:grpSpPr>
        <p:sp>
          <p:nvSpPr>
            <p:cNvPr name="Freeform 30" id="30"/>
            <p:cNvSpPr/>
            <p:nvPr/>
          </p:nvSpPr>
          <p:spPr>
            <a:xfrm flipH="false" flipV="false" rot="0">
              <a:off x="0" y="0"/>
              <a:ext cx="3291840" cy="2011680"/>
            </a:xfrm>
            <a:custGeom>
              <a:avLst/>
              <a:gdLst/>
              <a:ahLst/>
              <a:cxnLst/>
              <a:rect r="r" b="b" t="t" l="l"/>
              <a:pathLst>
                <a:path h="2011680" w="3291840">
                  <a:moveTo>
                    <a:pt x="0" y="0"/>
                  </a:moveTo>
                  <a:lnTo>
                    <a:pt x="3291840" y="0"/>
                  </a:lnTo>
                  <a:lnTo>
                    <a:pt x="3291840" y="2011680"/>
                  </a:lnTo>
                  <a:lnTo>
                    <a:pt x="0" y="2011680"/>
                  </a:lnTo>
                  <a:close/>
                </a:path>
              </a:pathLst>
            </a:custGeom>
            <a:blipFill>
              <a:blip r:embed="rId3">
                <a:alphaModFix amt="0"/>
              </a:blip>
              <a:stretch>
                <a:fillRect l="-28407" t="0" r="-28407" b="0"/>
              </a:stretch>
            </a:blipFill>
          </p:spPr>
        </p:sp>
        <p:sp>
          <p:nvSpPr>
            <p:cNvPr name="TextBox 31" id="31"/>
            <p:cNvSpPr txBox="true"/>
            <p:nvPr/>
          </p:nvSpPr>
          <p:spPr>
            <a:xfrm>
              <a:off x="0" y="-9525"/>
              <a:ext cx="3291840" cy="2021205"/>
            </a:xfrm>
            <a:prstGeom prst="rect">
              <a:avLst/>
            </a:prstGeom>
          </p:spPr>
          <p:txBody>
            <a:bodyPr anchor="ctr" rtlCol="false" tIns="0" lIns="0" bIns="0" rIns="0"/>
            <a:lstStyle/>
            <a:p>
              <a:pPr algn="ctr">
                <a:lnSpc>
                  <a:spcPts val="2879"/>
                </a:lnSpc>
              </a:pPr>
              <a:r>
                <a:rPr lang="en-US" sz="2400" b="true">
                  <a:solidFill>
                    <a:srgbClr val="000000"/>
                  </a:solidFill>
                  <a:latin typeface="Times New Roman Bold"/>
                  <a:ea typeface="Times New Roman Bold"/>
                  <a:cs typeface="Times New Roman Bold"/>
                  <a:sym typeface="Times New Roman Bold"/>
                </a:rPr>
                <a:t>Semantic analysis</a:t>
              </a:r>
            </a:p>
          </p:txBody>
        </p:sp>
      </p:grpSp>
      <p:sp>
        <p:nvSpPr>
          <p:cNvPr name="AutoShape 32" id="32"/>
          <p:cNvSpPr/>
          <p:nvPr/>
        </p:nvSpPr>
        <p:spPr>
          <a:xfrm rot="272280">
            <a:off x="13978328" y="3488055"/>
            <a:ext cx="541763" cy="0"/>
          </a:xfrm>
          <a:prstGeom prst="line">
            <a:avLst/>
          </a:prstGeom>
          <a:ln cap="rnd" w="19050">
            <a:solidFill>
              <a:srgbClr val="000000"/>
            </a:solidFill>
            <a:prstDash val="solid"/>
            <a:headEnd type="none" len="sm" w="sm"/>
            <a:tailEnd type="triangle" len="med" w="lg"/>
          </a:ln>
        </p:spPr>
      </p:sp>
      <p:grpSp>
        <p:nvGrpSpPr>
          <p:cNvPr name="Group 33" id="33"/>
          <p:cNvGrpSpPr/>
          <p:nvPr/>
        </p:nvGrpSpPr>
        <p:grpSpPr>
          <a:xfrm rot="0">
            <a:off x="14570583" y="2733675"/>
            <a:ext cx="2762250" cy="1527810"/>
            <a:chOff x="0" y="0"/>
            <a:chExt cx="3683000" cy="2037080"/>
          </a:xfrm>
        </p:grpSpPr>
        <p:sp>
          <p:nvSpPr>
            <p:cNvPr name="Freeform 34" id="34"/>
            <p:cNvSpPr/>
            <p:nvPr/>
          </p:nvSpPr>
          <p:spPr>
            <a:xfrm flipH="false" flipV="false" rot="0">
              <a:off x="0" y="0"/>
              <a:ext cx="3683000" cy="2037080"/>
            </a:xfrm>
            <a:custGeom>
              <a:avLst/>
              <a:gdLst/>
              <a:ahLst/>
              <a:cxnLst/>
              <a:rect r="r" b="b" t="t" l="l"/>
              <a:pathLst>
                <a:path h="2037080" w="3683000">
                  <a:moveTo>
                    <a:pt x="0" y="185166"/>
                  </a:moveTo>
                  <a:cubicBezTo>
                    <a:pt x="0" y="82931"/>
                    <a:pt x="82931" y="0"/>
                    <a:pt x="185166" y="0"/>
                  </a:cubicBezTo>
                  <a:lnTo>
                    <a:pt x="3497834" y="0"/>
                  </a:lnTo>
                  <a:cubicBezTo>
                    <a:pt x="3600069" y="0"/>
                    <a:pt x="3683000" y="82931"/>
                    <a:pt x="3683000" y="185166"/>
                  </a:cubicBezTo>
                  <a:lnTo>
                    <a:pt x="3683000" y="1851914"/>
                  </a:lnTo>
                  <a:cubicBezTo>
                    <a:pt x="3683000" y="1954149"/>
                    <a:pt x="3600069" y="2037080"/>
                    <a:pt x="3497834" y="2037080"/>
                  </a:cubicBezTo>
                  <a:lnTo>
                    <a:pt x="185166" y="2037080"/>
                  </a:lnTo>
                  <a:cubicBezTo>
                    <a:pt x="82931" y="2037080"/>
                    <a:pt x="0" y="1954149"/>
                    <a:pt x="0" y="1851914"/>
                  </a:cubicBezTo>
                  <a:close/>
                </a:path>
              </a:pathLst>
            </a:custGeom>
            <a:solidFill>
              <a:srgbClr val="FFFFFF"/>
            </a:solidFill>
            <a:ln w="19050" cap="sq">
              <a:solidFill>
                <a:srgbClr val="000000"/>
              </a:solidFill>
              <a:prstDash val="solid"/>
              <a:miter/>
            </a:ln>
          </p:spPr>
        </p:sp>
      </p:grpSp>
      <p:grpSp>
        <p:nvGrpSpPr>
          <p:cNvPr name="Group 35" id="35"/>
          <p:cNvGrpSpPr/>
          <p:nvPr/>
        </p:nvGrpSpPr>
        <p:grpSpPr>
          <a:xfrm rot="0">
            <a:off x="14717268" y="2743200"/>
            <a:ext cx="2468880" cy="1508760"/>
            <a:chOff x="0" y="0"/>
            <a:chExt cx="3291840" cy="2011680"/>
          </a:xfrm>
        </p:grpSpPr>
        <p:sp>
          <p:nvSpPr>
            <p:cNvPr name="Freeform 36" id="36"/>
            <p:cNvSpPr/>
            <p:nvPr/>
          </p:nvSpPr>
          <p:spPr>
            <a:xfrm flipH="false" flipV="false" rot="0">
              <a:off x="0" y="0"/>
              <a:ext cx="3291840" cy="2011680"/>
            </a:xfrm>
            <a:custGeom>
              <a:avLst/>
              <a:gdLst/>
              <a:ahLst/>
              <a:cxnLst/>
              <a:rect r="r" b="b" t="t" l="l"/>
              <a:pathLst>
                <a:path h="2011680" w="3291840">
                  <a:moveTo>
                    <a:pt x="0" y="0"/>
                  </a:moveTo>
                  <a:lnTo>
                    <a:pt x="3291840" y="0"/>
                  </a:lnTo>
                  <a:lnTo>
                    <a:pt x="3291840" y="2011680"/>
                  </a:lnTo>
                  <a:lnTo>
                    <a:pt x="0" y="2011680"/>
                  </a:lnTo>
                  <a:close/>
                </a:path>
              </a:pathLst>
            </a:custGeom>
            <a:blipFill>
              <a:blip r:embed="rId3">
                <a:alphaModFix amt="0"/>
              </a:blip>
              <a:stretch>
                <a:fillRect l="-28407" t="0" r="-28407" b="0"/>
              </a:stretch>
            </a:blipFill>
          </p:spPr>
        </p:sp>
        <p:sp>
          <p:nvSpPr>
            <p:cNvPr name="TextBox 37" id="37"/>
            <p:cNvSpPr txBox="true"/>
            <p:nvPr/>
          </p:nvSpPr>
          <p:spPr>
            <a:xfrm>
              <a:off x="0" y="-9525"/>
              <a:ext cx="3291840" cy="2021205"/>
            </a:xfrm>
            <a:prstGeom prst="rect">
              <a:avLst/>
            </a:prstGeom>
          </p:spPr>
          <p:txBody>
            <a:bodyPr anchor="ctr" rtlCol="false" tIns="0" lIns="0" bIns="0" rIns="0"/>
            <a:lstStyle/>
            <a:p>
              <a:pPr algn="ctr">
                <a:lnSpc>
                  <a:spcPts val="2879"/>
                </a:lnSpc>
              </a:pPr>
              <a:r>
                <a:rPr lang="en-US" sz="2400" b="true">
                  <a:solidFill>
                    <a:srgbClr val="000000"/>
                  </a:solidFill>
                  <a:latin typeface="Times New Roman Bold"/>
                  <a:ea typeface="Times New Roman Bold"/>
                  <a:cs typeface="Times New Roman Bold"/>
                  <a:sym typeface="Times New Roman Bold"/>
                </a:rPr>
                <a:t>Code generation</a:t>
              </a:r>
            </a:p>
          </p:txBody>
        </p:sp>
      </p:grpSp>
      <p:grpSp>
        <p:nvGrpSpPr>
          <p:cNvPr name="Group 38" id="38"/>
          <p:cNvGrpSpPr/>
          <p:nvPr/>
        </p:nvGrpSpPr>
        <p:grpSpPr>
          <a:xfrm rot="0">
            <a:off x="950595" y="5065395"/>
            <a:ext cx="7837170" cy="3036570"/>
            <a:chOff x="0" y="0"/>
            <a:chExt cx="10449560" cy="4048760"/>
          </a:xfrm>
        </p:grpSpPr>
        <p:sp>
          <p:nvSpPr>
            <p:cNvPr name="Freeform 39" id="39"/>
            <p:cNvSpPr/>
            <p:nvPr/>
          </p:nvSpPr>
          <p:spPr>
            <a:xfrm flipH="false" flipV="false" rot="0">
              <a:off x="0" y="0"/>
              <a:ext cx="10449560" cy="4048760"/>
            </a:xfrm>
            <a:custGeom>
              <a:avLst/>
              <a:gdLst/>
              <a:ahLst/>
              <a:cxnLst/>
              <a:rect r="r" b="b" t="t" l="l"/>
              <a:pathLst>
                <a:path h="4048760" w="10449560">
                  <a:moveTo>
                    <a:pt x="0" y="220853"/>
                  </a:moveTo>
                  <a:cubicBezTo>
                    <a:pt x="0" y="98933"/>
                    <a:pt x="98933" y="0"/>
                    <a:pt x="220853" y="0"/>
                  </a:cubicBezTo>
                  <a:lnTo>
                    <a:pt x="10228707" y="0"/>
                  </a:lnTo>
                  <a:cubicBezTo>
                    <a:pt x="10350626" y="0"/>
                    <a:pt x="10449560" y="98933"/>
                    <a:pt x="10449560" y="220853"/>
                  </a:cubicBezTo>
                  <a:lnTo>
                    <a:pt x="10449560" y="3827907"/>
                  </a:lnTo>
                  <a:cubicBezTo>
                    <a:pt x="10449560" y="3949827"/>
                    <a:pt x="10350626" y="4048760"/>
                    <a:pt x="10228707" y="4048760"/>
                  </a:cubicBezTo>
                  <a:lnTo>
                    <a:pt x="220853" y="4048760"/>
                  </a:lnTo>
                  <a:cubicBezTo>
                    <a:pt x="98933" y="4048760"/>
                    <a:pt x="0" y="3949827"/>
                    <a:pt x="0" y="3827907"/>
                  </a:cubicBezTo>
                  <a:close/>
                </a:path>
              </a:pathLst>
            </a:custGeom>
            <a:solidFill>
              <a:srgbClr val="FFFFFF"/>
            </a:solidFill>
            <a:ln w="19050" cap="sq">
              <a:solidFill>
                <a:srgbClr val="000000"/>
              </a:solidFill>
              <a:prstDash val="solid"/>
              <a:miter/>
            </a:ln>
          </p:spPr>
        </p:sp>
      </p:grpSp>
      <p:grpSp>
        <p:nvGrpSpPr>
          <p:cNvPr name="Group 40" id="40"/>
          <p:cNvGrpSpPr/>
          <p:nvPr/>
        </p:nvGrpSpPr>
        <p:grpSpPr>
          <a:xfrm rot="0">
            <a:off x="9495663" y="5065395"/>
            <a:ext cx="7837170" cy="3036570"/>
            <a:chOff x="0" y="0"/>
            <a:chExt cx="10449560" cy="4048760"/>
          </a:xfrm>
        </p:grpSpPr>
        <p:sp>
          <p:nvSpPr>
            <p:cNvPr name="Freeform 41" id="41"/>
            <p:cNvSpPr/>
            <p:nvPr/>
          </p:nvSpPr>
          <p:spPr>
            <a:xfrm flipH="false" flipV="false" rot="0">
              <a:off x="0" y="0"/>
              <a:ext cx="10449560" cy="4048760"/>
            </a:xfrm>
            <a:custGeom>
              <a:avLst/>
              <a:gdLst/>
              <a:ahLst/>
              <a:cxnLst/>
              <a:rect r="r" b="b" t="t" l="l"/>
              <a:pathLst>
                <a:path h="4048760" w="10449560">
                  <a:moveTo>
                    <a:pt x="0" y="220853"/>
                  </a:moveTo>
                  <a:cubicBezTo>
                    <a:pt x="0" y="98933"/>
                    <a:pt x="98933" y="0"/>
                    <a:pt x="220853" y="0"/>
                  </a:cubicBezTo>
                  <a:lnTo>
                    <a:pt x="10228707" y="0"/>
                  </a:lnTo>
                  <a:cubicBezTo>
                    <a:pt x="10350626" y="0"/>
                    <a:pt x="10449560" y="98933"/>
                    <a:pt x="10449560" y="220853"/>
                  </a:cubicBezTo>
                  <a:lnTo>
                    <a:pt x="10449560" y="3827907"/>
                  </a:lnTo>
                  <a:cubicBezTo>
                    <a:pt x="10449560" y="3949827"/>
                    <a:pt x="10350626" y="4048760"/>
                    <a:pt x="10228707" y="4048760"/>
                  </a:cubicBezTo>
                  <a:lnTo>
                    <a:pt x="220853" y="4048760"/>
                  </a:lnTo>
                  <a:cubicBezTo>
                    <a:pt x="98933" y="4048760"/>
                    <a:pt x="0" y="3949827"/>
                    <a:pt x="0" y="3827907"/>
                  </a:cubicBezTo>
                  <a:close/>
                </a:path>
              </a:pathLst>
            </a:custGeom>
            <a:solidFill>
              <a:srgbClr val="FFFFFF"/>
            </a:solidFill>
            <a:ln w="19050" cap="sq">
              <a:solidFill>
                <a:srgbClr val="000000"/>
              </a:solidFill>
              <a:prstDash val="solid"/>
              <a:miter/>
            </a:ln>
          </p:spPr>
        </p:sp>
      </p:grpSp>
      <p:sp>
        <p:nvSpPr>
          <p:cNvPr name="TextBox 42" id="42"/>
          <p:cNvSpPr txBox="true"/>
          <p:nvPr/>
        </p:nvSpPr>
        <p:spPr>
          <a:xfrm rot="0">
            <a:off x="1371600" y="5330190"/>
            <a:ext cx="6995160" cy="430530"/>
          </a:xfrm>
          <a:prstGeom prst="rect">
            <a:avLst/>
          </a:prstGeom>
        </p:spPr>
        <p:txBody>
          <a:bodyPr anchor="t" rtlCol="false" tIns="0" lIns="0" bIns="0" rIns="0">
            <a:spAutoFit/>
          </a:bodyPr>
          <a:lstStyle/>
          <a:p>
            <a:pPr algn="l">
              <a:lnSpc>
                <a:spcPts val="2160"/>
              </a:lnSpc>
            </a:pPr>
            <a:r>
              <a:rPr lang="en-US" b="true" sz="1800" spc="300">
                <a:solidFill>
                  <a:srgbClr val="000000"/>
                </a:solidFill>
                <a:latin typeface="Times New Roman Bold"/>
                <a:ea typeface="Times New Roman Bold"/>
                <a:cs typeface="Times New Roman Bold"/>
                <a:sym typeface="Times New Roman Bold"/>
              </a:rPr>
              <a:t>INPUT: A STREAM OF CHARACTERS</a:t>
            </a:r>
          </a:p>
        </p:txBody>
      </p:sp>
      <p:sp>
        <p:nvSpPr>
          <p:cNvPr name="TextBox 43" id="43"/>
          <p:cNvSpPr txBox="true"/>
          <p:nvPr/>
        </p:nvSpPr>
        <p:spPr>
          <a:xfrm rot="0">
            <a:off x="1371600" y="6006465"/>
            <a:ext cx="6995160" cy="714375"/>
          </a:xfrm>
          <a:prstGeom prst="rect">
            <a:avLst/>
          </a:prstGeom>
        </p:spPr>
        <p:txBody>
          <a:bodyPr anchor="t" rtlCol="false" tIns="0" lIns="0" bIns="0" rIns="0">
            <a:spAutoFit/>
          </a:bodyPr>
          <a:lstStyle/>
          <a:p>
            <a:pPr algn="l">
              <a:lnSpc>
                <a:spcPts val="3600"/>
              </a:lnSpc>
            </a:pPr>
            <a:r>
              <a:rPr lang="en-US" sz="3000" b="true">
                <a:solidFill>
                  <a:srgbClr val="000000"/>
                </a:solidFill>
                <a:latin typeface="Times New Roman Bold"/>
                <a:ea typeface="Times New Roman Bold"/>
                <a:cs typeface="Times New Roman Bold"/>
                <a:sym typeface="Times New Roman Bold"/>
              </a:rPr>
              <a:t>i n t   c o u n t   =   1 0 ;</a:t>
            </a:r>
          </a:p>
        </p:txBody>
      </p:sp>
      <p:sp>
        <p:nvSpPr>
          <p:cNvPr name="TextBox 44" id="44"/>
          <p:cNvSpPr txBox="true"/>
          <p:nvPr/>
        </p:nvSpPr>
        <p:spPr>
          <a:xfrm rot="0">
            <a:off x="1371600" y="6976110"/>
            <a:ext cx="6995160" cy="842010"/>
          </a:xfrm>
          <a:prstGeom prst="rect">
            <a:avLst/>
          </a:prstGeom>
        </p:spPr>
        <p:txBody>
          <a:bodyPr anchor="t" rtlCol="false" tIns="0" lIns="0" bIns="0" rIns="0">
            <a:spAutoFit/>
          </a:bodyPr>
          <a:lstStyle/>
          <a:p>
            <a:pPr algn="l">
              <a:lnSpc>
                <a:spcPts val="2520"/>
              </a:lnSpc>
            </a:pPr>
            <a:r>
              <a:rPr lang="en-US" sz="2100">
                <a:solidFill>
                  <a:srgbClr val="000000"/>
                </a:solidFill>
                <a:latin typeface="Times New Roman"/>
                <a:ea typeface="Times New Roman"/>
                <a:cs typeface="Times New Roman"/>
                <a:sym typeface="Times New Roman"/>
              </a:rPr>
              <a:t>No structure yet, just single characters and whitespace.</a:t>
            </a:r>
          </a:p>
        </p:txBody>
      </p:sp>
      <p:sp>
        <p:nvSpPr>
          <p:cNvPr name="TextBox 45" id="45"/>
          <p:cNvSpPr txBox="true"/>
          <p:nvPr/>
        </p:nvSpPr>
        <p:spPr>
          <a:xfrm rot="0">
            <a:off x="9916668" y="5330190"/>
            <a:ext cx="6995160" cy="430530"/>
          </a:xfrm>
          <a:prstGeom prst="rect">
            <a:avLst/>
          </a:prstGeom>
        </p:spPr>
        <p:txBody>
          <a:bodyPr anchor="t" rtlCol="false" tIns="0" lIns="0" bIns="0" rIns="0">
            <a:spAutoFit/>
          </a:bodyPr>
          <a:lstStyle/>
          <a:p>
            <a:pPr algn="l">
              <a:lnSpc>
                <a:spcPts val="2160"/>
              </a:lnSpc>
            </a:pPr>
            <a:r>
              <a:rPr lang="en-US" b="true" sz="1800" spc="300">
                <a:solidFill>
                  <a:srgbClr val="000000"/>
                </a:solidFill>
                <a:latin typeface="Times New Roman Bold"/>
                <a:ea typeface="Times New Roman Bold"/>
                <a:cs typeface="Times New Roman Bold"/>
                <a:sym typeface="Times New Roman Bold"/>
              </a:rPr>
              <a:t>OUTPUT: A STREAM OF TOKENS</a:t>
            </a:r>
          </a:p>
        </p:txBody>
      </p:sp>
      <p:grpSp>
        <p:nvGrpSpPr>
          <p:cNvPr name="Group 46" id="46"/>
          <p:cNvGrpSpPr/>
          <p:nvPr/>
        </p:nvGrpSpPr>
        <p:grpSpPr>
          <a:xfrm rot="0">
            <a:off x="9907143" y="5956935"/>
            <a:ext cx="1280922" cy="1047750"/>
            <a:chOff x="0" y="0"/>
            <a:chExt cx="1707896" cy="1397000"/>
          </a:xfrm>
        </p:grpSpPr>
        <p:sp>
          <p:nvSpPr>
            <p:cNvPr name="Freeform 47" id="47"/>
            <p:cNvSpPr/>
            <p:nvPr/>
          </p:nvSpPr>
          <p:spPr>
            <a:xfrm flipH="false" flipV="false" rot="0">
              <a:off x="0" y="0"/>
              <a:ext cx="1707896" cy="1397000"/>
            </a:xfrm>
            <a:custGeom>
              <a:avLst/>
              <a:gdLst/>
              <a:ahLst/>
              <a:cxnLst/>
              <a:rect r="r" b="b" t="t" l="l"/>
              <a:pathLst>
                <a:path h="1397000" w="1707896">
                  <a:moveTo>
                    <a:pt x="0" y="148971"/>
                  </a:moveTo>
                  <a:cubicBezTo>
                    <a:pt x="0" y="66675"/>
                    <a:pt x="66675" y="0"/>
                    <a:pt x="148971" y="0"/>
                  </a:cubicBezTo>
                  <a:lnTo>
                    <a:pt x="1558925" y="0"/>
                  </a:lnTo>
                  <a:cubicBezTo>
                    <a:pt x="1641221" y="0"/>
                    <a:pt x="1707896" y="66675"/>
                    <a:pt x="1707896" y="148971"/>
                  </a:cubicBezTo>
                  <a:lnTo>
                    <a:pt x="1707896" y="1248029"/>
                  </a:lnTo>
                  <a:cubicBezTo>
                    <a:pt x="1707896" y="1330325"/>
                    <a:pt x="1641221" y="1397000"/>
                    <a:pt x="1558925" y="1397000"/>
                  </a:cubicBezTo>
                  <a:lnTo>
                    <a:pt x="148971" y="1397000"/>
                  </a:lnTo>
                  <a:cubicBezTo>
                    <a:pt x="66675" y="1397000"/>
                    <a:pt x="0" y="1330325"/>
                    <a:pt x="0" y="1248029"/>
                  </a:cubicBezTo>
                  <a:close/>
                </a:path>
              </a:pathLst>
            </a:custGeom>
            <a:solidFill>
              <a:srgbClr val="FFFFFF"/>
            </a:solidFill>
            <a:ln w="19050" cap="sq">
              <a:solidFill>
                <a:srgbClr val="000000"/>
              </a:solidFill>
              <a:prstDash val="solid"/>
              <a:miter/>
            </a:ln>
          </p:spPr>
        </p:sp>
      </p:grpSp>
      <p:sp>
        <p:nvSpPr>
          <p:cNvPr name="TextBox 48" id="48"/>
          <p:cNvSpPr txBox="true"/>
          <p:nvPr/>
        </p:nvSpPr>
        <p:spPr>
          <a:xfrm rot="0">
            <a:off x="9916668" y="6015990"/>
            <a:ext cx="1261872" cy="499110"/>
          </a:xfrm>
          <a:prstGeom prst="rect">
            <a:avLst/>
          </a:prstGeom>
        </p:spPr>
        <p:txBody>
          <a:bodyPr anchor="t" rtlCol="false" tIns="0" lIns="0" bIns="0" rIns="0">
            <a:spAutoFit/>
          </a:bodyPr>
          <a:lstStyle/>
          <a:p>
            <a:pPr algn="ctr">
              <a:lnSpc>
                <a:spcPts val="2520"/>
              </a:lnSpc>
            </a:pPr>
            <a:r>
              <a:rPr lang="en-US" sz="2100" b="true">
                <a:solidFill>
                  <a:srgbClr val="000000"/>
                </a:solidFill>
                <a:latin typeface="Times New Roman Bold"/>
                <a:ea typeface="Times New Roman Bold"/>
                <a:cs typeface="Times New Roman Bold"/>
                <a:sym typeface="Times New Roman Bold"/>
              </a:rPr>
              <a:t>int</a:t>
            </a:r>
          </a:p>
        </p:txBody>
      </p:sp>
      <p:sp>
        <p:nvSpPr>
          <p:cNvPr name="TextBox 49" id="49"/>
          <p:cNvSpPr txBox="true"/>
          <p:nvPr/>
        </p:nvSpPr>
        <p:spPr>
          <a:xfrm rot="0">
            <a:off x="9916668" y="6537198"/>
            <a:ext cx="1261872" cy="361950"/>
          </a:xfrm>
          <a:prstGeom prst="rect">
            <a:avLst/>
          </a:prstGeom>
        </p:spPr>
        <p:txBody>
          <a:bodyPr anchor="t" rtlCol="false" tIns="0" lIns="0" bIns="0" rIns="0">
            <a:spAutoFit/>
          </a:bodyPr>
          <a:lstStyle/>
          <a:p>
            <a:pPr algn="ctr">
              <a:lnSpc>
                <a:spcPts val="1800"/>
              </a:lnSpc>
            </a:pPr>
            <a:r>
              <a:rPr lang="en-US" sz="1500" b="true">
                <a:solidFill>
                  <a:srgbClr val="000000"/>
                </a:solidFill>
                <a:latin typeface="Times New Roman Bold"/>
                <a:ea typeface="Times New Roman Bold"/>
                <a:cs typeface="Times New Roman Bold"/>
                <a:sym typeface="Times New Roman Bold"/>
              </a:rPr>
              <a:t>KEYWORD</a:t>
            </a:r>
          </a:p>
        </p:txBody>
      </p:sp>
      <p:grpSp>
        <p:nvGrpSpPr>
          <p:cNvPr name="Group 50" id="50"/>
          <p:cNvGrpSpPr/>
          <p:nvPr/>
        </p:nvGrpSpPr>
        <p:grpSpPr>
          <a:xfrm rot="0">
            <a:off x="11306175" y="5956935"/>
            <a:ext cx="1280922" cy="1047750"/>
            <a:chOff x="0" y="0"/>
            <a:chExt cx="1707896" cy="1397000"/>
          </a:xfrm>
        </p:grpSpPr>
        <p:sp>
          <p:nvSpPr>
            <p:cNvPr name="Freeform 51" id="51"/>
            <p:cNvSpPr/>
            <p:nvPr/>
          </p:nvSpPr>
          <p:spPr>
            <a:xfrm flipH="false" flipV="false" rot="0">
              <a:off x="0" y="0"/>
              <a:ext cx="1707896" cy="1397000"/>
            </a:xfrm>
            <a:custGeom>
              <a:avLst/>
              <a:gdLst/>
              <a:ahLst/>
              <a:cxnLst/>
              <a:rect r="r" b="b" t="t" l="l"/>
              <a:pathLst>
                <a:path h="1397000" w="1707896">
                  <a:moveTo>
                    <a:pt x="0" y="148971"/>
                  </a:moveTo>
                  <a:cubicBezTo>
                    <a:pt x="0" y="66675"/>
                    <a:pt x="66675" y="0"/>
                    <a:pt x="148971" y="0"/>
                  </a:cubicBezTo>
                  <a:lnTo>
                    <a:pt x="1558925" y="0"/>
                  </a:lnTo>
                  <a:cubicBezTo>
                    <a:pt x="1641221" y="0"/>
                    <a:pt x="1707896" y="66675"/>
                    <a:pt x="1707896" y="148971"/>
                  </a:cubicBezTo>
                  <a:lnTo>
                    <a:pt x="1707896" y="1248029"/>
                  </a:lnTo>
                  <a:cubicBezTo>
                    <a:pt x="1707896" y="1330325"/>
                    <a:pt x="1641221" y="1397000"/>
                    <a:pt x="1558925" y="1397000"/>
                  </a:cubicBezTo>
                  <a:lnTo>
                    <a:pt x="148971" y="1397000"/>
                  </a:lnTo>
                  <a:cubicBezTo>
                    <a:pt x="66675" y="1397000"/>
                    <a:pt x="0" y="1330325"/>
                    <a:pt x="0" y="1248029"/>
                  </a:cubicBezTo>
                  <a:close/>
                </a:path>
              </a:pathLst>
            </a:custGeom>
            <a:solidFill>
              <a:srgbClr val="FFFFFF"/>
            </a:solidFill>
            <a:ln w="19050" cap="sq">
              <a:solidFill>
                <a:srgbClr val="000000"/>
              </a:solidFill>
              <a:prstDash val="solid"/>
              <a:miter/>
            </a:ln>
          </p:spPr>
        </p:sp>
      </p:grpSp>
      <p:sp>
        <p:nvSpPr>
          <p:cNvPr name="TextBox 52" id="52"/>
          <p:cNvSpPr txBox="true"/>
          <p:nvPr/>
        </p:nvSpPr>
        <p:spPr>
          <a:xfrm rot="0">
            <a:off x="11315700" y="6015990"/>
            <a:ext cx="1261872" cy="499110"/>
          </a:xfrm>
          <a:prstGeom prst="rect">
            <a:avLst/>
          </a:prstGeom>
        </p:spPr>
        <p:txBody>
          <a:bodyPr anchor="t" rtlCol="false" tIns="0" lIns="0" bIns="0" rIns="0">
            <a:spAutoFit/>
          </a:bodyPr>
          <a:lstStyle/>
          <a:p>
            <a:pPr algn="ctr">
              <a:lnSpc>
                <a:spcPts val="2520"/>
              </a:lnSpc>
            </a:pPr>
            <a:r>
              <a:rPr lang="en-US" sz="2100" b="true">
                <a:solidFill>
                  <a:srgbClr val="000000"/>
                </a:solidFill>
                <a:latin typeface="Times New Roman Bold"/>
                <a:ea typeface="Times New Roman Bold"/>
                <a:cs typeface="Times New Roman Bold"/>
                <a:sym typeface="Times New Roman Bold"/>
              </a:rPr>
              <a:t>count</a:t>
            </a:r>
          </a:p>
        </p:txBody>
      </p:sp>
      <p:sp>
        <p:nvSpPr>
          <p:cNvPr name="TextBox 53" id="53"/>
          <p:cNvSpPr txBox="true"/>
          <p:nvPr/>
        </p:nvSpPr>
        <p:spPr>
          <a:xfrm rot="0">
            <a:off x="11315700" y="6537198"/>
            <a:ext cx="1261872" cy="361950"/>
          </a:xfrm>
          <a:prstGeom prst="rect">
            <a:avLst/>
          </a:prstGeom>
        </p:spPr>
        <p:txBody>
          <a:bodyPr anchor="t" rtlCol="false" tIns="0" lIns="0" bIns="0" rIns="0">
            <a:spAutoFit/>
          </a:bodyPr>
          <a:lstStyle/>
          <a:p>
            <a:pPr algn="ctr">
              <a:lnSpc>
                <a:spcPts val="1800"/>
              </a:lnSpc>
            </a:pPr>
            <a:r>
              <a:rPr lang="en-US" sz="1500" b="true">
                <a:solidFill>
                  <a:srgbClr val="000000"/>
                </a:solidFill>
                <a:latin typeface="Times New Roman Bold"/>
                <a:ea typeface="Times New Roman Bold"/>
                <a:cs typeface="Times New Roman Bold"/>
                <a:sym typeface="Times New Roman Bold"/>
              </a:rPr>
              <a:t>ID</a:t>
            </a:r>
          </a:p>
        </p:txBody>
      </p:sp>
      <p:grpSp>
        <p:nvGrpSpPr>
          <p:cNvPr name="Group 54" id="54"/>
          <p:cNvGrpSpPr/>
          <p:nvPr/>
        </p:nvGrpSpPr>
        <p:grpSpPr>
          <a:xfrm rot="0">
            <a:off x="12705207" y="5956935"/>
            <a:ext cx="1280922" cy="1047750"/>
            <a:chOff x="0" y="0"/>
            <a:chExt cx="1707896" cy="1397000"/>
          </a:xfrm>
        </p:grpSpPr>
        <p:sp>
          <p:nvSpPr>
            <p:cNvPr name="Freeform 55" id="55"/>
            <p:cNvSpPr/>
            <p:nvPr/>
          </p:nvSpPr>
          <p:spPr>
            <a:xfrm flipH="false" flipV="false" rot="0">
              <a:off x="0" y="0"/>
              <a:ext cx="1707896" cy="1397000"/>
            </a:xfrm>
            <a:custGeom>
              <a:avLst/>
              <a:gdLst/>
              <a:ahLst/>
              <a:cxnLst/>
              <a:rect r="r" b="b" t="t" l="l"/>
              <a:pathLst>
                <a:path h="1397000" w="1707896">
                  <a:moveTo>
                    <a:pt x="0" y="148971"/>
                  </a:moveTo>
                  <a:cubicBezTo>
                    <a:pt x="0" y="66675"/>
                    <a:pt x="66675" y="0"/>
                    <a:pt x="148971" y="0"/>
                  </a:cubicBezTo>
                  <a:lnTo>
                    <a:pt x="1558925" y="0"/>
                  </a:lnTo>
                  <a:cubicBezTo>
                    <a:pt x="1641221" y="0"/>
                    <a:pt x="1707896" y="66675"/>
                    <a:pt x="1707896" y="148971"/>
                  </a:cubicBezTo>
                  <a:lnTo>
                    <a:pt x="1707896" y="1248029"/>
                  </a:lnTo>
                  <a:cubicBezTo>
                    <a:pt x="1707896" y="1330325"/>
                    <a:pt x="1641221" y="1397000"/>
                    <a:pt x="1558925" y="1397000"/>
                  </a:cubicBezTo>
                  <a:lnTo>
                    <a:pt x="148971" y="1397000"/>
                  </a:lnTo>
                  <a:cubicBezTo>
                    <a:pt x="66675" y="1397000"/>
                    <a:pt x="0" y="1330325"/>
                    <a:pt x="0" y="1248029"/>
                  </a:cubicBezTo>
                  <a:close/>
                </a:path>
              </a:pathLst>
            </a:custGeom>
            <a:solidFill>
              <a:srgbClr val="FFFFFF"/>
            </a:solidFill>
            <a:ln w="19050" cap="sq">
              <a:solidFill>
                <a:srgbClr val="000000"/>
              </a:solidFill>
              <a:prstDash val="solid"/>
              <a:miter/>
            </a:ln>
          </p:spPr>
        </p:sp>
      </p:grpSp>
      <p:sp>
        <p:nvSpPr>
          <p:cNvPr name="TextBox 56" id="56"/>
          <p:cNvSpPr txBox="true"/>
          <p:nvPr/>
        </p:nvSpPr>
        <p:spPr>
          <a:xfrm rot="0">
            <a:off x="12714732" y="6015990"/>
            <a:ext cx="1261872" cy="499110"/>
          </a:xfrm>
          <a:prstGeom prst="rect">
            <a:avLst/>
          </a:prstGeom>
        </p:spPr>
        <p:txBody>
          <a:bodyPr anchor="t" rtlCol="false" tIns="0" lIns="0" bIns="0" rIns="0">
            <a:spAutoFit/>
          </a:bodyPr>
          <a:lstStyle/>
          <a:p>
            <a:pPr algn="ctr">
              <a:lnSpc>
                <a:spcPts val="2520"/>
              </a:lnSpc>
            </a:pPr>
            <a:r>
              <a:rPr lang="en-US" sz="2100" b="true">
                <a:solidFill>
                  <a:srgbClr val="000000"/>
                </a:solidFill>
                <a:latin typeface="Times New Roman Bold"/>
                <a:ea typeface="Times New Roman Bold"/>
                <a:cs typeface="Times New Roman Bold"/>
                <a:sym typeface="Times New Roman Bold"/>
              </a:rPr>
              <a:t>=</a:t>
            </a:r>
          </a:p>
        </p:txBody>
      </p:sp>
      <p:sp>
        <p:nvSpPr>
          <p:cNvPr name="TextBox 57" id="57"/>
          <p:cNvSpPr txBox="true"/>
          <p:nvPr/>
        </p:nvSpPr>
        <p:spPr>
          <a:xfrm rot="0">
            <a:off x="12714732" y="6537198"/>
            <a:ext cx="1261872" cy="361950"/>
          </a:xfrm>
          <a:prstGeom prst="rect">
            <a:avLst/>
          </a:prstGeom>
        </p:spPr>
        <p:txBody>
          <a:bodyPr anchor="t" rtlCol="false" tIns="0" lIns="0" bIns="0" rIns="0">
            <a:spAutoFit/>
          </a:bodyPr>
          <a:lstStyle/>
          <a:p>
            <a:pPr algn="ctr">
              <a:lnSpc>
                <a:spcPts val="1800"/>
              </a:lnSpc>
            </a:pPr>
            <a:r>
              <a:rPr lang="en-US" sz="1500" b="true">
                <a:solidFill>
                  <a:srgbClr val="000000"/>
                </a:solidFill>
                <a:latin typeface="Times New Roman Bold"/>
                <a:ea typeface="Times New Roman Bold"/>
                <a:cs typeface="Times New Roman Bold"/>
                <a:sym typeface="Times New Roman Bold"/>
              </a:rPr>
              <a:t>ASSIGN</a:t>
            </a:r>
          </a:p>
        </p:txBody>
      </p:sp>
      <p:grpSp>
        <p:nvGrpSpPr>
          <p:cNvPr name="Group 58" id="58"/>
          <p:cNvGrpSpPr/>
          <p:nvPr/>
        </p:nvGrpSpPr>
        <p:grpSpPr>
          <a:xfrm rot="0">
            <a:off x="14104239" y="5956935"/>
            <a:ext cx="1280922" cy="1047750"/>
            <a:chOff x="0" y="0"/>
            <a:chExt cx="1707896" cy="1397000"/>
          </a:xfrm>
        </p:grpSpPr>
        <p:sp>
          <p:nvSpPr>
            <p:cNvPr name="Freeform 59" id="59"/>
            <p:cNvSpPr/>
            <p:nvPr/>
          </p:nvSpPr>
          <p:spPr>
            <a:xfrm flipH="false" flipV="false" rot="0">
              <a:off x="0" y="0"/>
              <a:ext cx="1707896" cy="1397000"/>
            </a:xfrm>
            <a:custGeom>
              <a:avLst/>
              <a:gdLst/>
              <a:ahLst/>
              <a:cxnLst/>
              <a:rect r="r" b="b" t="t" l="l"/>
              <a:pathLst>
                <a:path h="1397000" w="1707896">
                  <a:moveTo>
                    <a:pt x="0" y="148971"/>
                  </a:moveTo>
                  <a:cubicBezTo>
                    <a:pt x="0" y="66675"/>
                    <a:pt x="66675" y="0"/>
                    <a:pt x="148971" y="0"/>
                  </a:cubicBezTo>
                  <a:lnTo>
                    <a:pt x="1558925" y="0"/>
                  </a:lnTo>
                  <a:cubicBezTo>
                    <a:pt x="1641221" y="0"/>
                    <a:pt x="1707896" y="66675"/>
                    <a:pt x="1707896" y="148971"/>
                  </a:cubicBezTo>
                  <a:lnTo>
                    <a:pt x="1707896" y="1248029"/>
                  </a:lnTo>
                  <a:cubicBezTo>
                    <a:pt x="1707896" y="1330325"/>
                    <a:pt x="1641221" y="1397000"/>
                    <a:pt x="1558925" y="1397000"/>
                  </a:cubicBezTo>
                  <a:lnTo>
                    <a:pt x="148971" y="1397000"/>
                  </a:lnTo>
                  <a:cubicBezTo>
                    <a:pt x="66675" y="1397000"/>
                    <a:pt x="0" y="1330325"/>
                    <a:pt x="0" y="1248029"/>
                  </a:cubicBezTo>
                  <a:close/>
                </a:path>
              </a:pathLst>
            </a:custGeom>
            <a:solidFill>
              <a:srgbClr val="FFFFFF"/>
            </a:solidFill>
            <a:ln w="19050" cap="sq">
              <a:solidFill>
                <a:srgbClr val="000000"/>
              </a:solidFill>
              <a:prstDash val="solid"/>
              <a:miter/>
            </a:ln>
          </p:spPr>
        </p:sp>
      </p:grpSp>
      <p:sp>
        <p:nvSpPr>
          <p:cNvPr name="TextBox 60" id="60"/>
          <p:cNvSpPr txBox="true"/>
          <p:nvPr/>
        </p:nvSpPr>
        <p:spPr>
          <a:xfrm rot="0">
            <a:off x="14113764" y="6015990"/>
            <a:ext cx="1261872" cy="499110"/>
          </a:xfrm>
          <a:prstGeom prst="rect">
            <a:avLst/>
          </a:prstGeom>
        </p:spPr>
        <p:txBody>
          <a:bodyPr anchor="t" rtlCol="false" tIns="0" lIns="0" bIns="0" rIns="0">
            <a:spAutoFit/>
          </a:bodyPr>
          <a:lstStyle/>
          <a:p>
            <a:pPr algn="ctr">
              <a:lnSpc>
                <a:spcPts val="2520"/>
              </a:lnSpc>
            </a:pPr>
            <a:r>
              <a:rPr lang="en-US" sz="2100" b="true">
                <a:solidFill>
                  <a:srgbClr val="000000"/>
                </a:solidFill>
                <a:latin typeface="Times New Roman Bold"/>
                <a:ea typeface="Times New Roman Bold"/>
                <a:cs typeface="Times New Roman Bold"/>
                <a:sym typeface="Times New Roman Bold"/>
              </a:rPr>
              <a:t>10</a:t>
            </a:r>
          </a:p>
        </p:txBody>
      </p:sp>
      <p:sp>
        <p:nvSpPr>
          <p:cNvPr name="TextBox 61" id="61"/>
          <p:cNvSpPr txBox="true"/>
          <p:nvPr/>
        </p:nvSpPr>
        <p:spPr>
          <a:xfrm rot="0">
            <a:off x="14113764" y="6537198"/>
            <a:ext cx="1261872" cy="361950"/>
          </a:xfrm>
          <a:prstGeom prst="rect">
            <a:avLst/>
          </a:prstGeom>
        </p:spPr>
        <p:txBody>
          <a:bodyPr anchor="t" rtlCol="false" tIns="0" lIns="0" bIns="0" rIns="0">
            <a:spAutoFit/>
          </a:bodyPr>
          <a:lstStyle/>
          <a:p>
            <a:pPr algn="ctr">
              <a:lnSpc>
                <a:spcPts val="1800"/>
              </a:lnSpc>
            </a:pPr>
            <a:r>
              <a:rPr lang="en-US" sz="1500" b="true">
                <a:solidFill>
                  <a:srgbClr val="000000"/>
                </a:solidFill>
                <a:latin typeface="Times New Roman Bold"/>
                <a:ea typeface="Times New Roman Bold"/>
                <a:cs typeface="Times New Roman Bold"/>
                <a:sym typeface="Times New Roman Bold"/>
              </a:rPr>
              <a:t>INT</a:t>
            </a:r>
          </a:p>
        </p:txBody>
      </p:sp>
      <p:grpSp>
        <p:nvGrpSpPr>
          <p:cNvPr name="Group 62" id="62"/>
          <p:cNvGrpSpPr/>
          <p:nvPr/>
        </p:nvGrpSpPr>
        <p:grpSpPr>
          <a:xfrm rot="0">
            <a:off x="15503271" y="5956935"/>
            <a:ext cx="1280922" cy="1047750"/>
            <a:chOff x="0" y="0"/>
            <a:chExt cx="1707896" cy="1397000"/>
          </a:xfrm>
        </p:grpSpPr>
        <p:sp>
          <p:nvSpPr>
            <p:cNvPr name="Freeform 63" id="63"/>
            <p:cNvSpPr/>
            <p:nvPr/>
          </p:nvSpPr>
          <p:spPr>
            <a:xfrm flipH="false" flipV="false" rot="0">
              <a:off x="0" y="0"/>
              <a:ext cx="1707896" cy="1397000"/>
            </a:xfrm>
            <a:custGeom>
              <a:avLst/>
              <a:gdLst/>
              <a:ahLst/>
              <a:cxnLst/>
              <a:rect r="r" b="b" t="t" l="l"/>
              <a:pathLst>
                <a:path h="1397000" w="1707896">
                  <a:moveTo>
                    <a:pt x="0" y="148971"/>
                  </a:moveTo>
                  <a:cubicBezTo>
                    <a:pt x="0" y="66675"/>
                    <a:pt x="66675" y="0"/>
                    <a:pt x="148971" y="0"/>
                  </a:cubicBezTo>
                  <a:lnTo>
                    <a:pt x="1558925" y="0"/>
                  </a:lnTo>
                  <a:cubicBezTo>
                    <a:pt x="1641221" y="0"/>
                    <a:pt x="1707896" y="66675"/>
                    <a:pt x="1707896" y="148971"/>
                  </a:cubicBezTo>
                  <a:lnTo>
                    <a:pt x="1707896" y="1248029"/>
                  </a:lnTo>
                  <a:cubicBezTo>
                    <a:pt x="1707896" y="1330325"/>
                    <a:pt x="1641221" y="1397000"/>
                    <a:pt x="1558925" y="1397000"/>
                  </a:cubicBezTo>
                  <a:lnTo>
                    <a:pt x="148971" y="1397000"/>
                  </a:lnTo>
                  <a:cubicBezTo>
                    <a:pt x="66675" y="1397000"/>
                    <a:pt x="0" y="1330325"/>
                    <a:pt x="0" y="1248029"/>
                  </a:cubicBezTo>
                  <a:close/>
                </a:path>
              </a:pathLst>
            </a:custGeom>
            <a:solidFill>
              <a:srgbClr val="FFFFFF"/>
            </a:solidFill>
            <a:ln w="19050" cap="sq">
              <a:solidFill>
                <a:srgbClr val="000000"/>
              </a:solidFill>
              <a:prstDash val="solid"/>
              <a:miter/>
            </a:ln>
          </p:spPr>
        </p:sp>
      </p:grpSp>
      <p:sp>
        <p:nvSpPr>
          <p:cNvPr name="TextBox 64" id="64"/>
          <p:cNvSpPr txBox="true"/>
          <p:nvPr/>
        </p:nvSpPr>
        <p:spPr>
          <a:xfrm rot="0">
            <a:off x="15512796" y="6015990"/>
            <a:ext cx="1261872" cy="499110"/>
          </a:xfrm>
          <a:prstGeom prst="rect">
            <a:avLst/>
          </a:prstGeom>
        </p:spPr>
        <p:txBody>
          <a:bodyPr anchor="t" rtlCol="false" tIns="0" lIns="0" bIns="0" rIns="0">
            <a:spAutoFit/>
          </a:bodyPr>
          <a:lstStyle/>
          <a:p>
            <a:pPr algn="ctr">
              <a:lnSpc>
                <a:spcPts val="2520"/>
              </a:lnSpc>
            </a:pPr>
            <a:r>
              <a:rPr lang="en-US" sz="2100" b="true">
                <a:solidFill>
                  <a:srgbClr val="000000"/>
                </a:solidFill>
                <a:latin typeface="Times New Roman Bold"/>
                <a:ea typeface="Times New Roman Bold"/>
                <a:cs typeface="Times New Roman Bold"/>
                <a:sym typeface="Times New Roman Bold"/>
              </a:rPr>
              <a:t>;</a:t>
            </a:r>
          </a:p>
        </p:txBody>
      </p:sp>
      <p:sp>
        <p:nvSpPr>
          <p:cNvPr name="TextBox 65" id="65"/>
          <p:cNvSpPr txBox="true"/>
          <p:nvPr/>
        </p:nvSpPr>
        <p:spPr>
          <a:xfrm rot="0">
            <a:off x="15512796" y="6537198"/>
            <a:ext cx="1261872" cy="361950"/>
          </a:xfrm>
          <a:prstGeom prst="rect">
            <a:avLst/>
          </a:prstGeom>
        </p:spPr>
        <p:txBody>
          <a:bodyPr anchor="t" rtlCol="false" tIns="0" lIns="0" bIns="0" rIns="0">
            <a:spAutoFit/>
          </a:bodyPr>
          <a:lstStyle/>
          <a:p>
            <a:pPr algn="ctr">
              <a:lnSpc>
                <a:spcPts val="1800"/>
              </a:lnSpc>
            </a:pPr>
            <a:r>
              <a:rPr lang="en-US" sz="1500" b="true">
                <a:solidFill>
                  <a:srgbClr val="000000"/>
                </a:solidFill>
                <a:latin typeface="Times New Roman Bold"/>
                <a:ea typeface="Times New Roman Bold"/>
                <a:cs typeface="Times New Roman Bold"/>
                <a:sym typeface="Times New Roman Bold"/>
              </a:rPr>
              <a:t>SEMI</a:t>
            </a:r>
          </a:p>
        </p:txBody>
      </p:sp>
      <p:sp>
        <p:nvSpPr>
          <p:cNvPr name="TextBox 66" id="66"/>
          <p:cNvSpPr txBox="true"/>
          <p:nvPr/>
        </p:nvSpPr>
        <p:spPr>
          <a:xfrm rot="0">
            <a:off x="9916668" y="7250430"/>
            <a:ext cx="6995160" cy="704850"/>
          </a:xfrm>
          <a:prstGeom prst="rect">
            <a:avLst/>
          </a:prstGeom>
        </p:spPr>
        <p:txBody>
          <a:bodyPr anchor="t" rtlCol="false" tIns="0" lIns="0" bIns="0" rIns="0">
            <a:spAutoFit/>
          </a:bodyPr>
          <a:lstStyle/>
          <a:p>
            <a:pPr algn="l">
              <a:lnSpc>
                <a:spcPts val="2520"/>
              </a:lnSpc>
            </a:pPr>
            <a:r>
              <a:rPr lang="en-US" sz="2100">
                <a:solidFill>
                  <a:srgbClr val="000000"/>
                </a:solidFill>
                <a:latin typeface="Times New Roman"/>
                <a:ea typeface="Times New Roman"/>
                <a:cs typeface="Times New Roman"/>
                <a:sym typeface="Times New Roman"/>
              </a:rPr>
              <a:t>Whitespace and comments are discarded along the way.</a:t>
            </a:r>
          </a:p>
        </p:txBody>
      </p:sp>
      <p:sp>
        <p:nvSpPr>
          <p:cNvPr name="TextBox 67" id="67"/>
          <p:cNvSpPr txBox="true"/>
          <p:nvPr/>
        </p:nvSpPr>
        <p:spPr>
          <a:xfrm rot="0">
            <a:off x="960120" y="8484870"/>
            <a:ext cx="16322040" cy="704850"/>
          </a:xfrm>
          <a:prstGeom prst="rect">
            <a:avLst/>
          </a:prstGeom>
        </p:spPr>
        <p:txBody>
          <a:bodyPr anchor="t" rtlCol="false" tIns="0" lIns="0" bIns="0" rIns="0">
            <a:spAutoFit/>
          </a:bodyPr>
          <a:lstStyle/>
          <a:p>
            <a:pPr algn="l">
              <a:lnSpc>
                <a:spcPts val="2520"/>
              </a:lnSpc>
            </a:pPr>
            <a:r>
              <a:rPr lang="en-US" sz="2100" i="true">
                <a:solidFill>
                  <a:srgbClr val="000000"/>
                </a:solidFill>
                <a:latin typeface="Times New Roman Italics"/>
                <a:ea typeface="Times New Roman Italics"/>
                <a:cs typeface="Times New Roman Italics"/>
                <a:sym typeface="Times New Roman Italics"/>
              </a:rPr>
              <a:t>Each stage only sees the output of the one before it, so a bad token here becomes a confusing error later.</a:t>
            </a:r>
          </a:p>
        </p:txBody>
      </p:sp>
      <p:sp>
        <p:nvSpPr>
          <p:cNvPr name="TextBox 68" id="68"/>
          <p:cNvSpPr txBox="true"/>
          <p:nvPr/>
        </p:nvSpPr>
        <p:spPr>
          <a:xfrm rot="0">
            <a:off x="16454628" y="9627870"/>
            <a:ext cx="777240" cy="339090"/>
          </a:xfrm>
          <a:prstGeom prst="rect">
            <a:avLst/>
          </a:prstGeom>
        </p:spPr>
        <p:txBody>
          <a:bodyPr anchor="t" rtlCol="false" tIns="0" lIns="0" bIns="0" rIns="0">
            <a:spAutoFit/>
          </a:bodyPr>
          <a:lstStyle/>
          <a:p>
            <a:pPr algn="r">
              <a:lnSpc>
                <a:spcPts val="1800"/>
              </a:lnSpc>
            </a:pPr>
            <a:r>
              <a:rPr lang="en-US" sz="1500">
                <a:solidFill>
                  <a:srgbClr val="000000"/>
                </a:solidFill>
                <a:latin typeface="Times New Roman"/>
                <a:ea typeface="Times New Roman"/>
                <a:cs typeface="Times New Roman"/>
                <a:sym typeface="Times New Roman"/>
              </a:rPr>
              <a:t>2</a:t>
            </a:r>
          </a:p>
        </p:txBody>
      </p:sp>
      <p:sp>
        <p:nvSpPr>
          <p:cNvPr name="Freeform 69" id="69"/>
          <p:cNvSpPr/>
          <p:nvPr/>
        </p:nvSpPr>
        <p:spPr>
          <a:xfrm flipH="false" flipV="false" rot="0">
            <a:off x="15375636" y="55401"/>
            <a:ext cx="2083759" cy="2083759"/>
          </a:xfrm>
          <a:custGeom>
            <a:avLst/>
            <a:gdLst/>
            <a:ahLst/>
            <a:cxnLst/>
            <a:rect r="r" b="b" t="t" l="l"/>
            <a:pathLst>
              <a:path h="2083759" w="2083759">
                <a:moveTo>
                  <a:pt x="0" y="0"/>
                </a:moveTo>
                <a:lnTo>
                  <a:pt x="2083759" y="0"/>
                </a:lnTo>
                <a:lnTo>
                  <a:pt x="2083759" y="2083758"/>
                </a:lnTo>
                <a:lnTo>
                  <a:pt x="0" y="2083758"/>
                </a:lnTo>
                <a:lnTo>
                  <a:pt x="0" y="0"/>
                </a:lnTo>
                <a:close/>
              </a:path>
            </a:pathLst>
          </a:custGeom>
          <a:blipFill>
            <a:blip r:embed="rId4"/>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9601200"/>
            <a:ext cx="8229600" cy="411480"/>
            <a:chOff x="0" y="0"/>
            <a:chExt cx="10972800" cy="548640"/>
          </a:xfrm>
        </p:grpSpPr>
        <p:sp>
          <p:nvSpPr>
            <p:cNvPr name="Freeform 3" id="3"/>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700" r="0" b="-339700"/>
              </a:stretch>
            </a:blipFill>
          </p:spPr>
        </p:sp>
        <p:sp>
          <p:nvSpPr>
            <p:cNvPr name="TextBox 4" id="4"/>
            <p:cNvSpPr txBox="true"/>
            <p:nvPr/>
          </p:nvSpPr>
          <p:spPr>
            <a:xfrm>
              <a:off x="0" y="-19050"/>
              <a:ext cx="10972800" cy="567690"/>
            </a:xfrm>
            <a:prstGeom prst="rect">
              <a:avLst/>
            </a:prstGeom>
          </p:spPr>
          <p:txBody>
            <a:bodyPr anchor="ctr" rtlCol="false" tIns="0" lIns="0" bIns="0" rIns="0"/>
            <a:lstStyle/>
            <a:p>
              <a:pPr algn="l">
                <a:lnSpc>
                  <a:spcPts val="1800"/>
                </a:lnSpc>
              </a:pPr>
              <a:r>
                <a:rPr lang="en-US" sz="1500">
                  <a:solidFill>
                    <a:srgbClr val="000000"/>
                  </a:solidFill>
                  <a:latin typeface="Times New Roman"/>
                  <a:ea typeface="Times New Roman"/>
                  <a:cs typeface="Times New Roman"/>
                  <a:sym typeface="Times New Roman"/>
                </a:rPr>
                <a:t>Building an FSA for Token Recognition</a:t>
              </a:r>
            </a:p>
          </p:txBody>
        </p:sp>
      </p:grpSp>
      <p:grpSp>
        <p:nvGrpSpPr>
          <p:cNvPr name="Group 5" id="5"/>
          <p:cNvGrpSpPr/>
          <p:nvPr/>
        </p:nvGrpSpPr>
        <p:grpSpPr>
          <a:xfrm rot="0">
            <a:off x="960120" y="548640"/>
            <a:ext cx="15361920" cy="1097280"/>
            <a:chOff x="0" y="0"/>
            <a:chExt cx="20482560" cy="1463040"/>
          </a:xfrm>
        </p:grpSpPr>
        <p:sp>
          <p:nvSpPr>
            <p:cNvPr name="Freeform 6" id="6"/>
            <p:cNvSpPr/>
            <p:nvPr/>
          </p:nvSpPr>
          <p:spPr>
            <a:xfrm flipH="false" flipV="false" rot="0">
              <a:off x="0" y="0"/>
              <a:ext cx="20482561" cy="1463040"/>
            </a:xfrm>
            <a:custGeom>
              <a:avLst/>
              <a:gdLst/>
              <a:ahLst/>
              <a:cxnLst/>
              <a:rect r="r" b="b" t="t" l="l"/>
              <a:pathLst>
                <a:path h="1463040" w="20482561">
                  <a:moveTo>
                    <a:pt x="0" y="0"/>
                  </a:moveTo>
                  <a:lnTo>
                    <a:pt x="20482561" y="0"/>
                  </a:lnTo>
                  <a:lnTo>
                    <a:pt x="20482561" y="1463040"/>
                  </a:lnTo>
                  <a:lnTo>
                    <a:pt x="0" y="1463040"/>
                  </a:lnTo>
                  <a:close/>
                </a:path>
              </a:pathLst>
            </a:custGeom>
            <a:blipFill>
              <a:blip r:embed="rId3">
                <a:alphaModFix amt="0"/>
              </a:blip>
              <a:stretch>
                <a:fillRect l="0" t="-222790" r="0" b="-222790"/>
              </a:stretch>
            </a:blipFill>
          </p:spPr>
        </p:sp>
        <p:sp>
          <p:nvSpPr>
            <p:cNvPr name="TextBox 7" id="7"/>
            <p:cNvSpPr txBox="true"/>
            <p:nvPr/>
          </p:nvSpPr>
          <p:spPr>
            <a:xfrm>
              <a:off x="0" y="-28575"/>
              <a:ext cx="20482560" cy="1491615"/>
            </a:xfrm>
            <a:prstGeom prst="rect">
              <a:avLst/>
            </a:prstGeom>
          </p:spPr>
          <p:txBody>
            <a:bodyPr anchor="ctr" rtlCol="false" tIns="0" lIns="0" bIns="0" rIns="0"/>
            <a:lstStyle/>
            <a:p>
              <a:pPr algn="l">
                <a:lnSpc>
                  <a:spcPts val="6120"/>
                </a:lnSpc>
              </a:pPr>
              <a:r>
                <a:rPr lang="en-US" sz="5100" b="true">
                  <a:solidFill>
                    <a:srgbClr val="000000"/>
                  </a:solidFill>
                  <a:latin typeface="Times New Roman Bold"/>
                  <a:ea typeface="Times New Roman Bold"/>
                  <a:cs typeface="Times New Roman Bold"/>
                  <a:sym typeface="Times New Roman Bold"/>
                </a:rPr>
                <a:t>Tokens, lexemes and patterns</a:t>
              </a:r>
            </a:p>
          </p:txBody>
        </p:sp>
      </p:grpSp>
      <p:sp>
        <p:nvSpPr>
          <p:cNvPr name="TextBox 8" id="8"/>
          <p:cNvSpPr txBox="true"/>
          <p:nvPr/>
        </p:nvSpPr>
        <p:spPr>
          <a:xfrm rot="0">
            <a:off x="960120" y="1773555"/>
            <a:ext cx="15361920" cy="558165"/>
          </a:xfrm>
          <a:prstGeom prst="rect">
            <a:avLst/>
          </a:prstGeom>
        </p:spPr>
        <p:txBody>
          <a:bodyPr anchor="t" rtlCol="false" tIns="0" lIns="0" bIns="0" rIns="0">
            <a:spAutoFit/>
          </a:bodyPr>
          <a:lstStyle/>
          <a:p>
            <a:pPr algn="l">
              <a:lnSpc>
                <a:spcPts val="2879"/>
              </a:lnSpc>
            </a:pPr>
            <a:r>
              <a:rPr lang="en-US" sz="2400">
                <a:solidFill>
                  <a:srgbClr val="000000"/>
                </a:solidFill>
                <a:latin typeface="Times New Roman"/>
                <a:ea typeface="Times New Roman"/>
                <a:cs typeface="Times New Roman"/>
                <a:sym typeface="Times New Roman"/>
              </a:rPr>
              <a:t>Three terms that are easy to mix up, and the whole lexer depends on keeping them apart.</a:t>
            </a:r>
          </a:p>
        </p:txBody>
      </p:sp>
      <p:grpSp>
        <p:nvGrpSpPr>
          <p:cNvPr name="Group 9" id="9"/>
          <p:cNvGrpSpPr/>
          <p:nvPr/>
        </p:nvGrpSpPr>
        <p:grpSpPr>
          <a:xfrm rot="0">
            <a:off x="950595" y="2665095"/>
            <a:ext cx="5199126" cy="3036570"/>
            <a:chOff x="0" y="0"/>
            <a:chExt cx="6932168" cy="4048760"/>
          </a:xfrm>
        </p:grpSpPr>
        <p:sp>
          <p:nvSpPr>
            <p:cNvPr name="Freeform 10" id="10"/>
            <p:cNvSpPr/>
            <p:nvPr/>
          </p:nvSpPr>
          <p:spPr>
            <a:xfrm flipH="false" flipV="false" rot="0">
              <a:off x="0" y="0"/>
              <a:ext cx="6932168" cy="4048760"/>
            </a:xfrm>
            <a:custGeom>
              <a:avLst/>
              <a:gdLst/>
              <a:ahLst/>
              <a:cxnLst/>
              <a:rect r="r" b="b" t="t" l="l"/>
              <a:pathLst>
                <a:path h="4048760" w="6932168">
                  <a:moveTo>
                    <a:pt x="0" y="220853"/>
                  </a:moveTo>
                  <a:cubicBezTo>
                    <a:pt x="0" y="98933"/>
                    <a:pt x="98933" y="0"/>
                    <a:pt x="220853" y="0"/>
                  </a:cubicBezTo>
                  <a:lnTo>
                    <a:pt x="6711315" y="0"/>
                  </a:lnTo>
                  <a:cubicBezTo>
                    <a:pt x="6833235" y="0"/>
                    <a:pt x="6932168" y="98933"/>
                    <a:pt x="6932168" y="220853"/>
                  </a:cubicBezTo>
                  <a:lnTo>
                    <a:pt x="6932168" y="3827907"/>
                  </a:lnTo>
                  <a:cubicBezTo>
                    <a:pt x="6932168" y="3949827"/>
                    <a:pt x="6833235" y="4048760"/>
                    <a:pt x="6711315" y="4048760"/>
                  </a:cubicBezTo>
                  <a:lnTo>
                    <a:pt x="220853" y="4048760"/>
                  </a:lnTo>
                  <a:cubicBezTo>
                    <a:pt x="98933" y="4048760"/>
                    <a:pt x="0" y="3949827"/>
                    <a:pt x="0" y="3827907"/>
                  </a:cubicBezTo>
                  <a:close/>
                </a:path>
              </a:pathLst>
            </a:custGeom>
            <a:solidFill>
              <a:srgbClr val="FFFFFF"/>
            </a:solidFill>
            <a:ln w="19050" cap="sq">
              <a:solidFill>
                <a:srgbClr val="000000"/>
              </a:solidFill>
              <a:prstDash val="solid"/>
              <a:miter/>
            </a:ln>
          </p:spPr>
        </p:sp>
      </p:grpSp>
      <p:sp>
        <p:nvSpPr>
          <p:cNvPr name="TextBox 11" id="11"/>
          <p:cNvSpPr txBox="true"/>
          <p:nvPr/>
        </p:nvSpPr>
        <p:spPr>
          <a:xfrm rot="0">
            <a:off x="1371600" y="2920365"/>
            <a:ext cx="4357116" cy="714375"/>
          </a:xfrm>
          <a:prstGeom prst="rect">
            <a:avLst/>
          </a:prstGeom>
        </p:spPr>
        <p:txBody>
          <a:bodyPr anchor="t" rtlCol="false" tIns="0" lIns="0" bIns="0" rIns="0">
            <a:spAutoFit/>
          </a:bodyPr>
          <a:lstStyle/>
          <a:p>
            <a:pPr algn="l">
              <a:lnSpc>
                <a:spcPts val="4680"/>
              </a:lnSpc>
            </a:pPr>
            <a:r>
              <a:rPr lang="en-US" sz="3900" b="true">
                <a:solidFill>
                  <a:srgbClr val="000000"/>
                </a:solidFill>
                <a:latin typeface="Times New Roman Bold"/>
                <a:ea typeface="Times New Roman Bold"/>
                <a:cs typeface="Times New Roman Bold"/>
                <a:sym typeface="Times New Roman Bold"/>
              </a:rPr>
              <a:t>Token</a:t>
            </a:r>
          </a:p>
        </p:txBody>
      </p:sp>
      <p:sp>
        <p:nvSpPr>
          <p:cNvPr name="TextBox 12" id="12"/>
          <p:cNvSpPr txBox="true"/>
          <p:nvPr/>
        </p:nvSpPr>
        <p:spPr>
          <a:xfrm rot="0">
            <a:off x="1371600" y="3684270"/>
            <a:ext cx="4357116" cy="979170"/>
          </a:xfrm>
          <a:prstGeom prst="rect">
            <a:avLst/>
          </a:prstGeom>
        </p:spPr>
        <p:txBody>
          <a:bodyPr anchor="t" rtlCol="false" tIns="0" lIns="0" bIns="0" rIns="0">
            <a:spAutoFit/>
          </a:bodyPr>
          <a:lstStyle/>
          <a:p>
            <a:pPr algn="l">
              <a:lnSpc>
                <a:spcPts val="2520"/>
              </a:lnSpc>
            </a:pPr>
            <a:r>
              <a:rPr lang="en-US" sz="2100">
                <a:solidFill>
                  <a:srgbClr val="000000"/>
                </a:solidFill>
                <a:latin typeface="Times New Roman"/>
                <a:ea typeface="Times New Roman"/>
                <a:cs typeface="Times New Roman"/>
                <a:sym typeface="Times New Roman"/>
              </a:rPr>
              <a:t>A category the parser understands.</a:t>
            </a:r>
          </a:p>
        </p:txBody>
      </p:sp>
      <p:grpSp>
        <p:nvGrpSpPr>
          <p:cNvPr name="Group 13" id="13"/>
          <p:cNvGrpSpPr/>
          <p:nvPr/>
        </p:nvGrpSpPr>
        <p:grpSpPr>
          <a:xfrm rot="0">
            <a:off x="1359694" y="4720114"/>
            <a:ext cx="4380928" cy="709612"/>
            <a:chOff x="0" y="0"/>
            <a:chExt cx="5841238" cy="946150"/>
          </a:xfrm>
        </p:grpSpPr>
        <p:sp>
          <p:nvSpPr>
            <p:cNvPr name="Freeform 14" id="14"/>
            <p:cNvSpPr/>
            <p:nvPr/>
          </p:nvSpPr>
          <p:spPr>
            <a:xfrm flipH="false" flipV="false" rot="0">
              <a:off x="0" y="0"/>
              <a:ext cx="5841238" cy="946150"/>
            </a:xfrm>
            <a:custGeom>
              <a:avLst/>
              <a:gdLst/>
              <a:ahLst/>
              <a:cxnLst/>
              <a:rect r="r" b="b" t="t" l="l"/>
              <a:pathLst>
                <a:path h="946150" w="5841238">
                  <a:moveTo>
                    <a:pt x="0" y="151384"/>
                  </a:moveTo>
                  <a:cubicBezTo>
                    <a:pt x="0" y="67818"/>
                    <a:pt x="67818" y="0"/>
                    <a:pt x="151384" y="0"/>
                  </a:cubicBezTo>
                  <a:lnTo>
                    <a:pt x="5689854" y="0"/>
                  </a:lnTo>
                  <a:cubicBezTo>
                    <a:pt x="5773420" y="0"/>
                    <a:pt x="5841238" y="67818"/>
                    <a:pt x="5841238" y="151384"/>
                  </a:cubicBezTo>
                  <a:lnTo>
                    <a:pt x="5841238" y="794766"/>
                  </a:lnTo>
                  <a:cubicBezTo>
                    <a:pt x="5841238" y="878332"/>
                    <a:pt x="5773420" y="946150"/>
                    <a:pt x="5689854" y="946150"/>
                  </a:cubicBezTo>
                  <a:lnTo>
                    <a:pt x="151384" y="946150"/>
                  </a:lnTo>
                  <a:cubicBezTo>
                    <a:pt x="67818" y="946150"/>
                    <a:pt x="0" y="878332"/>
                    <a:pt x="0" y="794766"/>
                  </a:cubicBezTo>
                  <a:close/>
                </a:path>
              </a:pathLst>
            </a:custGeom>
            <a:solidFill>
              <a:srgbClr val="FFFFFF"/>
            </a:solidFill>
            <a:ln w="23812" cap="sq">
              <a:solidFill>
                <a:srgbClr val="000000"/>
              </a:solidFill>
              <a:prstDash val="solid"/>
              <a:miter/>
            </a:ln>
          </p:spPr>
        </p:sp>
      </p:grpSp>
      <p:grpSp>
        <p:nvGrpSpPr>
          <p:cNvPr name="Group 15" id="15"/>
          <p:cNvGrpSpPr/>
          <p:nvPr/>
        </p:nvGrpSpPr>
        <p:grpSpPr>
          <a:xfrm rot="0">
            <a:off x="1371600" y="4732020"/>
            <a:ext cx="4357116" cy="685800"/>
            <a:chOff x="0" y="0"/>
            <a:chExt cx="5809488" cy="914400"/>
          </a:xfrm>
        </p:grpSpPr>
        <p:sp>
          <p:nvSpPr>
            <p:cNvPr name="Freeform 16" id="16"/>
            <p:cNvSpPr/>
            <p:nvPr/>
          </p:nvSpPr>
          <p:spPr>
            <a:xfrm flipH="false" flipV="false" rot="0">
              <a:off x="0" y="0"/>
              <a:ext cx="5809488" cy="914400"/>
            </a:xfrm>
            <a:custGeom>
              <a:avLst/>
              <a:gdLst/>
              <a:ahLst/>
              <a:cxnLst/>
              <a:rect r="r" b="b" t="t" l="l"/>
              <a:pathLst>
                <a:path h="914400" w="5809488">
                  <a:moveTo>
                    <a:pt x="0" y="0"/>
                  </a:moveTo>
                  <a:lnTo>
                    <a:pt x="5809488" y="0"/>
                  </a:lnTo>
                  <a:lnTo>
                    <a:pt x="5809488" y="914400"/>
                  </a:lnTo>
                  <a:lnTo>
                    <a:pt x="0" y="914400"/>
                  </a:lnTo>
                  <a:close/>
                </a:path>
              </a:pathLst>
            </a:custGeom>
            <a:blipFill>
              <a:blip r:embed="rId3">
                <a:alphaModFix amt="0"/>
              </a:blip>
              <a:stretch>
                <a:fillRect l="0" t="-73794" r="0" b="-73794"/>
              </a:stretch>
            </a:blipFill>
          </p:spPr>
        </p:sp>
        <p:sp>
          <p:nvSpPr>
            <p:cNvPr name="TextBox 17" id="17"/>
            <p:cNvSpPr txBox="true"/>
            <p:nvPr/>
          </p:nvSpPr>
          <p:spPr>
            <a:xfrm>
              <a:off x="0" y="-19050"/>
              <a:ext cx="5809488" cy="933450"/>
            </a:xfrm>
            <a:prstGeom prst="rect">
              <a:avLst/>
            </a:prstGeom>
          </p:spPr>
          <p:txBody>
            <a:bodyPr anchor="ctr" rtlCol="false" tIns="0" lIns="0" bIns="0" rIns="0"/>
            <a:lstStyle/>
            <a:p>
              <a:pPr algn="ctr">
                <a:lnSpc>
                  <a:spcPts val="2520"/>
                </a:lnSpc>
              </a:pPr>
              <a:r>
                <a:rPr lang="en-US" sz="2100" b="true">
                  <a:solidFill>
                    <a:srgbClr val="000000"/>
                  </a:solidFill>
                  <a:latin typeface="Times New Roman Bold"/>
                  <a:ea typeface="Times New Roman Bold"/>
                  <a:cs typeface="Times New Roman Bold"/>
                  <a:sym typeface="Times New Roman Bold"/>
                </a:rPr>
                <a:t>IDENTIFIER</a:t>
              </a:r>
            </a:p>
          </p:txBody>
        </p:sp>
      </p:grpSp>
      <p:grpSp>
        <p:nvGrpSpPr>
          <p:cNvPr name="Group 18" id="18"/>
          <p:cNvGrpSpPr/>
          <p:nvPr/>
        </p:nvGrpSpPr>
        <p:grpSpPr>
          <a:xfrm rot="0">
            <a:off x="6542151" y="2665095"/>
            <a:ext cx="5199126" cy="3036570"/>
            <a:chOff x="0" y="0"/>
            <a:chExt cx="6932168" cy="4048760"/>
          </a:xfrm>
        </p:grpSpPr>
        <p:sp>
          <p:nvSpPr>
            <p:cNvPr name="Freeform 19" id="19"/>
            <p:cNvSpPr/>
            <p:nvPr/>
          </p:nvSpPr>
          <p:spPr>
            <a:xfrm flipH="false" flipV="false" rot="0">
              <a:off x="0" y="0"/>
              <a:ext cx="6932168" cy="4048760"/>
            </a:xfrm>
            <a:custGeom>
              <a:avLst/>
              <a:gdLst/>
              <a:ahLst/>
              <a:cxnLst/>
              <a:rect r="r" b="b" t="t" l="l"/>
              <a:pathLst>
                <a:path h="4048760" w="6932168">
                  <a:moveTo>
                    <a:pt x="0" y="220853"/>
                  </a:moveTo>
                  <a:cubicBezTo>
                    <a:pt x="0" y="98933"/>
                    <a:pt x="98933" y="0"/>
                    <a:pt x="220853" y="0"/>
                  </a:cubicBezTo>
                  <a:lnTo>
                    <a:pt x="6711315" y="0"/>
                  </a:lnTo>
                  <a:cubicBezTo>
                    <a:pt x="6833235" y="0"/>
                    <a:pt x="6932168" y="98933"/>
                    <a:pt x="6932168" y="220853"/>
                  </a:cubicBezTo>
                  <a:lnTo>
                    <a:pt x="6932168" y="3827907"/>
                  </a:lnTo>
                  <a:cubicBezTo>
                    <a:pt x="6932168" y="3949827"/>
                    <a:pt x="6833235" y="4048760"/>
                    <a:pt x="6711315" y="4048760"/>
                  </a:cubicBezTo>
                  <a:lnTo>
                    <a:pt x="220853" y="4048760"/>
                  </a:lnTo>
                  <a:cubicBezTo>
                    <a:pt x="98933" y="4048760"/>
                    <a:pt x="0" y="3949827"/>
                    <a:pt x="0" y="3827907"/>
                  </a:cubicBezTo>
                  <a:close/>
                </a:path>
              </a:pathLst>
            </a:custGeom>
            <a:solidFill>
              <a:srgbClr val="FFFFFF"/>
            </a:solidFill>
            <a:ln w="19050" cap="sq">
              <a:solidFill>
                <a:srgbClr val="000000"/>
              </a:solidFill>
              <a:prstDash val="solid"/>
              <a:miter/>
            </a:ln>
          </p:spPr>
        </p:sp>
      </p:grpSp>
      <p:sp>
        <p:nvSpPr>
          <p:cNvPr name="TextBox 20" id="20"/>
          <p:cNvSpPr txBox="true"/>
          <p:nvPr/>
        </p:nvSpPr>
        <p:spPr>
          <a:xfrm rot="0">
            <a:off x="6963156" y="2920365"/>
            <a:ext cx="4357116" cy="714375"/>
          </a:xfrm>
          <a:prstGeom prst="rect">
            <a:avLst/>
          </a:prstGeom>
        </p:spPr>
        <p:txBody>
          <a:bodyPr anchor="t" rtlCol="false" tIns="0" lIns="0" bIns="0" rIns="0">
            <a:spAutoFit/>
          </a:bodyPr>
          <a:lstStyle/>
          <a:p>
            <a:pPr algn="l">
              <a:lnSpc>
                <a:spcPts val="4680"/>
              </a:lnSpc>
            </a:pPr>
            <a:r>
              <a:rPr lang="en-US" sz="3900" b="true">
                <a:solidFill>
                  <a:srgbClr val="000000"/>
                </a:solidFill>
                <a:latin typeface="Times New Roman Bold"/>
                <a:ea typeface="Times New Roman Bold"/>
                <a:cs typeface="Times New Roman Bold"/>
                <a:sym typeface="Times New Roman Bold"/>
              </a:rPr>
              <a:t>Lexeme</a:t>
            </a:r>
          </a:p>
        </p:txBody>
      </p:sp>
      <p:sp>
        <p:nvSpPr>
          <p:cNvPr name="TextBox 21" id="21"/>
          <p:cNvSpPr txBox="true"/>
          <p:nvPr/>
        </p:nvSpPr>
        <p:spPr>
          <a:xfrm rot="0">
            <a:off x="6963156" y="3684270"/>
            <a:ext cx="4357116" cy="979170"/>
          </a:xfrm>
          <a:prstGeom prst="rect">
            <a:avLst/>
          </a:prstGeom>
        </p:spPr>
        <p:txBody>
          <a:bodyPr anchor="t" rtlCol="false" tIns="0" lIns="0" bIns="0" rIns="0">
            <a:spAutoFit/>
          </a:bodyPr>
          <a:lstStyle/>
          <a:p>
            <a:pPr algn="l">
              <a:lnSpc>
                <a:spcPts val="2520"/>
              </a:lnSpc>
            </a:pPr>
            <a:r>
              <a:rPr lang="en-US" sz="2100">
                <a:solidFill>
                  <a:srgbClr val="000000"/>
                </a:solidFill>
                <a:latin typeface="Times New Roman"/>
                <a:ea typeface="Times New Roman"/>
                <a:cs typeface="Times New Roman"/>
                <a:sym typeface="Times New Roman"/>
              </a:rPr>
              <a:t>The exact characters matched in the source.</a:t>
            </a:r>
          </a:p>
        </p:txBody>
      </p:sp>
      <p:grpSp>
        <p:nvGrpSpPr>
          <p:cNvPr name="Group 22" id="22"/>
          <p:cNvGrpSpPr/>
          <p:nvPr/>
        </p:nvGrpSpPr>
        <p:grpSpPr>
          <a:xfrm rot="0">
            <a:off x="6951250" y="4720114"/>
            <a:ext cx="4380928" cy="709612"/>
            <a:chOff x="0" y="0"/>
            <a:chExt cx="5841238" cy="946150"/>
          </a:xfrm>
        </p:grpSpPr>
        <p:sp>
          <p:nvSpPr>
            <p:cNvPr name="Freeform 23" id="23"/>
            <p:cNvSpPr/>
            <p:nvPr/>
          </p:nvSpPr>
          <p:spPr>
            <a:xfrm flipH="false" flipV="false" rot="0">
              <a:off x="0" y="0"/>
              <a:ext cx="5841238" cy="946150"/>
            </a:xfrm>
            <a:custGeom>
              <a:avLst/>
              <a:gdLst/>
              <a:ahLst/>
              <a:cxnLst/>
              <a:rect r="r" b="b" t="t" l="l"/>
              <a:pathLst>
                <a:path h="946150" w="5841238">
                  <a:moveTo>
                    <a:pt x="0" y="151384"/>
                  </a:moveTo>
                  <a:cubicBezTo>
                    <a:pt x="0" y="67818"/>
                    <a:pt x="67818" y="0"/>
                    <a:pt x="151384" y="0"/>
                  </a:cubicBezTo>
                  <a:lnTo>
                    <a:pt x="5689854" y="0"/>
                  </a:lnTo>
                  <a:cubicBezTo>
                    <a:pt x="5773420" y="0"/>
                    <a:pt x="5841238" y="67818"/>
                    <a:pt x="5841238" y="151384"/>
                  </a:cubicBezTo>
                  <a:lnTo>
                    <a:pt x="5841238" y="794766"/>
                  </a:lnTo>
                  <a:cubicBezTo>
                    <a:pt x="5841238" y="878332"/>
                    <a:pt x="5773420" y="946150"/>
                    <a:pt x="5689854" y="946150"/>
                  </a:cubicBezTo>
                  <a:lnTo>
                    <a:pt x="151384" y="946150"/>
                  </a:lnTo>
                  <a:cubicBezTo>
                    <a:pt x="67818" y="946150"/>
                    <a:pt x="0" y="878332"/>
                    <a:pt x="0" y="794766"/>
                  </a:cubicBezTo>
                  <a:close/>
                </a:path>
              </a:pathLst>
            </a:custGeom>
            <a:solidFill>
              <a:srgbClr val="FFFFFF"/>
            </a:solidFill>
            <a:ln w="23812" cap="sq">
              <a:solidFill>
                <a:srgbClr val="000000"/>
              </a:solidFill>
              <a:prstDash val="solid"/>
              <a:miter/>
            </a:ln>
          </p:spPr>
        </p:sp>
      </p:grpSp>
      <p:grpSp>
        <p:nvGrpSpPr>
          <p:cNvPr name="Group 24" id="24"/>
          <p:cNvGrpSpPr/>
          <p:nvPr/>
        </p:nvGrpSpPr>
        <p:grpSpPr>
          <a:xfrm rot="0">
            <a:off x="6963156" y="4732020"/>
            <a:ext cx="4357116" cy="685800"/>
            <a:chOff x="0" y="0"/>
            <a:chExt cx="5809488" cy="914400"/>
          </a:xfrm>
        </p:grpSpPr>
        <p:sp>
          <p:nvSpPr>
            <p:cNvPr name="Freeform 25" id="25"/>
            <p:cNvSpPr/>
            <p:nvPr/>
          </p:nvSpPr>
          <p:spPr>
            <a:xfrm flipH="false" flipV="false" rot="0">
              <a:off x="0" y="0"/>
              <a:ext cx="5809488" cy="914400"/>
            </a:xfrm>
            <a:custGeom>
              <a:avLst/>
              <a:gdLst/>
              <a:ahLst/>
              <a:cxnLst/>
              <a:rect r="r" b="b" t="t" l="l"/>
              <a:pathLst>
                <a:path h="914400" w="5809488">
                  <a:moveTo>
                    <a:pt x="0" y="0"/>
                  </a:moveTo>
                  <a:lnTo>
                    <a:pt x="5809488" y="0"/>
                  </a:lnTo>
                  <a:lnTo>
                    <a:pt x="5809488" y="914400"/>
                  </a:lnTo>
                  <a:lnTo>
                    <a:pt x="0" y="914400"/>
                  </a:lnTo>
                  <a:close/>
                </a:path>
              </a:pathLst>
            </a:custGeom>
            <a:blipFill>
              <a:blip r:embed="rId3">
                <a:alphaModFix amt="0"/>
              </a:blip>
              <a:stretch>
                <a:fillRect l="0" t="-73794" r="0" b="-73794"/>
              </a:stretch>
            </a:blipFill>
          </p:spPr>
        </p:sp>
        <p:sp>
          <p:nvSpPr>
            <p:cNvPr name="TextBox 26" id="26"/>
            <p:cNvSpPr txBox="true"/>
            <p:nvPr/>
          </p:nvSpPr>
          <p:spPr>
            <a:xfrm>
              <a:off x="0" y="-19050"/>
              <a:ext cx="5809488" cy="933450"/>
            </a:xfrm>
            <a:prstGeom prst="rect">
              <a:avLst/>
            </a:prstGeom>
          </p:spPr>
          <p:txBody>
            <a:bodyPr anchor="ctr" rtlCol="false" tIns="0" lIns="0" bIns="0" rIns="0"/>
            <a:lstStyle/>
            <a:p>
              <a:pPr algn="ctr">
                <a:lnSpc>
                  <a:spcPts val="2520"/>
                </a:lnSpc>
              </a:pPr>
              <a:r>
                <a:rPr lang="en-US" sz="2100" b="true">
                  <a:solidFill>
                    <a:srgbClr val="000000"/>
                  </a:solidFill>
                  <a:latin typeface="Times New Roman Bold"/>
                  <a:ea typeface="Times New Roman Bold"/>
                  <a:cs typeface="Times New Roman Bold"/>
                  <a:sym typeface="Times New Roman Bold"/>
                </a:rPr>
                <a:t>count</a:t>
              </a:r>
            </a:p>
          </p:txBody>
        </p:sp>
      </p:grpSp>
      <p:grpSp>
        <p:nvGrpSpPr>
          <p:cNvPr name="Group 27" id="27"/>
          <p:cNvGrpSpPr/>
          <p:nvPr/>
        </p:nvGrpSpPr>
        <p:grpSpPr>
          <a:xfrm rot="0">
            <a:off x="12133707" y="2665095"/>
            <a:ext cx="5199126" cy="3036570"/>
            <a:chOff x="0" y="0"/>
            <a:chExt cx="6932168" cy="4048760"/>
          </a:xfrm>
        </p:grpSpPr>
        <p:sp>
          <p:nvSpPr>
            <p:cNvPr name="Freeform 28" id="28"/>
            <p:cNvSpPr/>
            <p:nvPr/>
          </p:nvSpPr>
          <p:spPr>
            <a:xfrm flipH="false" flipV="false" rot="0">
              <a:off x="0" y="0"/>
              <a:ext cx="6932168" cy="4048760"/>
            </a:xfrm>
            <a:custGeom>
              <a:avLst/>
              <a:gdLst/>
              <a:ahLst/>
              <a:cxnLst/>
              <a:rect r="r" b="b" t="t" l="l"/>
              <a:pathLst>
                <a:path h="4048760" w="6932168">
                  <a:moveTo>
                    <a:pt x="0" y="220853"/>
                  </a:moveTo>
                  <a:cubicBezTo>
                    <a:pt x="0" y="98933"/>
                    <a:pt x="98933" y="0"/>
                    <a:pt x="220853" y="0"/>
                  </a:cubicBezTo>
                  <a:lnTo>
                    <a:pt x="6711315" y="0"/>
                  </a:lnTo>
                  <a:cubicBezTo>
                    <a:pt x="6833235" y="0"/>
                    <a:pt x="6932168" y="98933"/>
                    <a:pt x="6932168" y="220853"/>
                  </a:cubicBezTo>
                  <a:lnTo>
                    <a:pt x="6932168" y="3827907"/>
                  </a:lnTo>
                  <a:cubicBezTo>
                    <a:pt x="6932168" y="3949827"/>
                    <a:pt x="6833235" y="4048760"/>
                    <a:pt x="6711315" y="4048760"/>
                  </a:cubicBezTo>
                  <a:lnTo>
                    <a:pt x="220853" y="4048760"/>
                  </a:lnTo>
                  <a:cubicBezTo>
                    <a:pt x="98933" y="4048760"/>
                    <a:pt x="0" y="3949827"/>
                    <a:pt x="0" y="3827907"/>
                  </a:cubicBezTo>
                  <a:close/>
                </a:path>
              </a:pathLst>
            </a:custGeom>
            <a:solidFill>
              <a:srgbClr val="FFFFFF"/>
            </a:solidFill>
            <a:ln w="19050" cap="sq">
              <a:solidFill>
                <a:srgbClr val="000000"/>
              </a:solidFill>
              <a:prstDash val="solid"/>
              <a:miter/>
            </a:ln>
          </p:spPr>
        </p:sp>
      </p:grpSp>
      <p:sp>
        <p:nvSpPr>
          <p:cNvPr name="TextBox 29" id="29"/>
          <p:cNvSpPr txBox="true"/>
          <p:nvPr/>
        </p:nvSpPr>
        <p:spPr>
          <a:xfrm rot="0">
            <a:off x="12554712" y="2920365"/>
            <a:ext cx="4357116" cy="714375"/>
          </a:xfrm>
          <a:prstGeom prst="rect">
            <a:avLst/>
          </a:prstGeom>
        </p:spPr>
        <p:txBody>
          <a:bodyPr anchor="t" rtlCol="false" tIns="0" lIns="0" bIns="0" rIns="0">
            <a:spAutoFit/>
          </a:bodyPr>
          <a:lstStyle/>
          <a:p>
            <a:pPr algn="l">
              <a:lnSpc>
                <a:spcPts val="4680"/>
              </a:lnSpc>
            </a:pPr>
            <a:r>
              <a:rPr lang="en-US" sz="3900" b="true">
                <a:solidFill>
                  <a:srgbClr val="000000"/>
                </a:solidFill>
                <a:latin typeface="Times New Roman Bold"/>
                <a:ea typeface="Times New Roman Bold"/>
                <a:cs typeface="Times New Roman Bold"/>
                <a:sym typeface="Times New Roman Bold"/>
              </a:rPr>
              <a:t>Pattern</a:t>
            </a:r>
          </a:p>
        </p:txBody>
      </p:sp>
      <p:sp>
        <p:nvSpPr>
          <p:cNvPr name="TextBox 30" id="30"/>
          <p:cNvSpPr txBox="true"/>
          <p:nvPr/>
        </p:nvSpPr>
        <p:spPr>
          <a:xfrm rot="0">
            <a:off x="12554712" y="3684270"/>
            <a:ext cx="4357116" cy="979170"/>
          </a:xfrm>
          <a:prstGeom prst="rect">
            <a:avLst/>
          </a:prstGeom>
        </p:spPr>
        <p:txBody>
          <a:bodyPr anchor="t" rtlCol="false" tIns="0" lIns="0" bIns="0" rIns="0">
            <a:spAutoFit/>
          </a:bodyPr>
          <a:lstStyle/>
          <a:p>
            <a:pPr algn="l">
              <a:lnSpc>
                <a:spcPts val="2520"/>
              </a:lnSpc>
            </a:pPr>
            <a:r>
              <a:rPr lang="en-US" sz="2100">
                <a:solidFill>
                  <a:srgbClr val="000000"/>
                </a:solidFill>
                <a:latin typeface="Times New Roman"/>
                <a:ea typeface="Times New Roman"/>
                <a:cs typeface="Times New Roman"/>
                <a:sym typeface="Times New Roman"/>
              </a:rPr>
              <a:t>The rule describing every valid lexeme of a token.</a:t>
            </a:r>
          </a:p>
        </p:txBody>
      </p:sp>
      <p:grpSp>
        <p:nvGrpSpPr>
          <p:cNvPr name="Group 31" id="31"/>
          <p:cNvGrpSpPr/>
          <p:nvPr/>
        </p:nvGrpSpPr>
        <p:grpSpPr>
          <a:xfrm rot="0">
            <a:off x="12542806" y="4720114"/>
            <a:ext cx="4380928" cy="709612"/>
            <a:chOff x="0" y="0"/>
            <a:chExt cx="5841238" cy="946150"/>
          </a:xfrm>
        </p:grpSpPr>
        <p:sp>
          <p:nvSpPr>
            <p:cNvPr name="Freeform 32" id="32"/>
            <p:cNvSpPr/>
            <p:nvPr/>
          </p:nvSpPr>
          <p:spPr>
            <a:xfrm flipH="false" flipV="false" rot="0">
              <a:off x="0" y="0"/>
              <a:ext cx="5841238" cy="946150"/>
            </a:xfrm>
            <a:custGeom>
              <a:avLst/>
              <a:gdLst/>
              <a:ahLst/>
              <a:cxnLst/>
              <a:rect r="r" b="b" t="t" l="l"/>
              <a:pathLst>
                <a:path h="946150" w="5841238">
                  <a:moveTo>
                    <a:pt x="0" y="151384"/>
                  </a:moveTo>
                  <a:cubicBezTo>
                    <a:pt x="0" y="67818"/>
                    <a:pt x="67818" y="0"/>
                    <a:pt x="151384" y="0"/>
                  </a:cubicBezTo>
                  <a:lnTo>
                    <a:pt x="5689854" y="0"/>
                  </a:lnTo>
                  <a:cubicBezTo>
                    <a:pt x="5773420" y="0"/>
                    <a:pt x="5841238" y="67818"/>
                    <a:pt x="5841238" y="151384"/>
                  </a:cubicBezTo>
                  <a:lnTo>
                    <a:pt x="5841238" y="794766"/>
                  </a:lnTo>
                  <a:cubicBezTo>
                    <a:pt x="5841238" y="878332"/>
                    <a:pt x="5773420" y="946150"/>
                    <a:pt x="5689854" y="946150"/>
                  </a:cubicBezTo>
                  <a:lnTo>
                    <a:pt x="151384" y="946150"/>
                  </a:lnTo>
                  <a:cubicBezTo>
                    <a:pt x="67818" y="946150"/>
                    <a:pt x="0" y="878332"/>
                    <a:pt x="0" y="794766"/>
                  </a:cubicBezTo>
                  <a:close/>
                </a:path>
              </a:pathLst>
            </a:custGeom>
            <a:solidFill>
              <a:srgbClr val="FFFFFF"/>
            </a:solidFill>
            <a:ln w="23812" cap="sq">
              <a:solidFill>
                <a:srgbClr val="000000"/>
              </a:solidFill>
              <a:prstDash val="solid"/>
              <a:miter/>
            </a:ln>
          </p:spPr>
        </p:sp>
      </p:grpSp>
      <p:grpSp>
        <p:nvGrpSpPr>
          <p:cNvPr name="Group 33" id="33"/>
          <p:cNvGrpSpPr/>
          <p:nvPr/>
        </p:nvGrpSpPr>
        <p:grpSpPr>
          <a:xfrm rot="0">
            <a:off x="12554712" y="4732020"/>
            <a:ext cx="4357116" cy="685800"/>
            <a:chOff x="0" y="0"/>
            <a:chExt cx="5809488" cy="914400"/>
          </a:xfrm>
        </p:grpSpPr>
        <p:sp>
          <p:nvSpPr>
            <p:cNvPr name="Freeform 34" id="34"/>
            <p:cNvSpPr/>
            <p:nvPr/>
          </p:nvSpPr>
          <p:spPr>
            <a:xfrm flipH="false" flipV="false" rot="0">
              <a:off x="0" y="0"/>
              <a:ext cx="5809488" cy="914400"/>
            </a:xfrm>
            <a:custGeom>
              <a:avLst/>
              <a:gdLst/>
              <a:ahLst/>
              <a:cxnLst/>
              <a:rect r="r" b="b" t="t" l="l"/>
              <a:pathLst>
                <a:path h="914400" w="5809488">
                  <a:moveTo>
                    <a:pt x="0" y="0"/>
                  </a:moveTo>
                  <a:lnTo>
                    <a:pt x="5809488" y="0"/>
                  </a:lnTo>
                  <a:lnTo>
                    <a:pt x="5809488" y="914400"/>
                  </a:lnTo>
                  <a:lnTo>
                    <a:pt x="0" y="914400"/>
                  </a:lnTo>
                  <a:close/>
                </a:path>
              </a:pathLst>
            </a:custGeom>
            <a:blipFill>
              <a:blip r:embed="rId3">
                <a:alphaModFix amt="0"/>
              </a:blip>
              <a:stretch>
                <a:fillRect l="0" t="-73794" r="0" b="-73794"/>
              </a:stretch>
            </a:blipFill>
          </p:spPr>
        </p:sp>
        <p:sp>
          <p:nvSpPr>
            <p:cNvPr name="TextBox 35" id="35"/>
            <p:cNvSpPr txBox="true"/>
            <p:nvPr/>
          </p:nvSpPr>
          <p:spPr>
            <a:xfrm>
              <a:off x="0" y="-19050"/>
              <a:ext cx="5809488" cy="933450"/>
            </a:xfrm>
            <a:prstGeom prst="rect">
              <a:avLst/>
            </a:prstGeom>
          </p:spPr>
          <p:txBody>
            <a:bodyPr anchor="ctr" rtlCol="false" tIns="0" lIns="0" bIns="0" rIns="0"/>
            <a:lstStyle/>
            <a:p>
              <a:pPr algn="ctr">
                <a:lnSpc>
                  <a:spcPts val="2520"/>
                </a:lnSpc>
              </a:pPr>
              <a:r>
                <a:rPr lang="en-US" sz="2100" b="true">
                  <a:solidFill>
                    <a:srgbClr val="000000"/>
                  </a:solidFill>
                  <a:latin typeface="Times New Roman Bold"/>
                  <a:ea typeface="Times New Roman Bold"/>
                  <a:cs typeface="Times New Roman Bold"/>
                  <a:sym typeface="Times New Roman Bold"/>
                </a:rPr>
                <a:t>letter (letter | digit)*</a:t>
              </a:r>
            </a:p>
          </p:txBody>
        </p:sp>
      </p:grpSp>
      <p:graphicFrame>
        <p:nvGraphicFramePr>
          <p:cNvPr name="Table 36" id="36"/>
          <p:cNvGraphicFramePr>
            <a:graphicFrameLocks noGrp="true"/>
          </p:cNvGraphicFramePr>
          <p:nvPr/>
        </p:nvGraphicFramePr>
        <p:xfrm>
          <a:off x="960120" y="6240780"/>
          <a:ext cx="16344900" cy="2667000"/>
        </p:xfrm>
        <a:graphic>
          <a:graphicData uri="http://schemas.openxmlformats.org/drawingml/2006/table">
            <a:tbl>
              <a:tblPr/>
              <a:tblGrid>
                <a:gridCol w="4799765"/>
                <a:gridCol w="4799765"/>
                <a:gridCol w="6745370"/>
              </a:tblGrid>
              <a:tr h="533400">
                <a:tc>
                  <a:txBody>
                    <a:bodyPr anchor="t" rtlCol="false"/>
                    <a:lstStyle/>
                    <a:p>
                      <a:pPr algn="l">
                        <a:lnSpc>
                          <a:spcPts val="2520"/>
                        </a:lnSpc>
                        <a:defRPr/>
                      </a:pPr>
                      <a:r>
                        <a:rPr lang="en-US" sz="2100" b="true">
                          <a:solidFill>
                            <a:srgbClr val="000000"/>
                          </a:solidFill>
                          <a:latin typeface="Times New Roman Bold"/>
                          <a:ea typeface="Times New Roman Bold"/>
                          <a:cs typeface="Times New Roman Bold"/>
                          <a:sym typeface="Times New Roman Bold"/>
                        </a:rPr>
                        <a:t>Lexeme in source</a:t>
                      </a:r>
                      <a:endParaRPr lang="en-US" sz="1100"/>
                    </a:p>
                  </a:txBody>
                  <a:tcPr marL="137160" marR="137160" marT="137160" marB="137160"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2100" b="true">
                          <a:solidFill>
                            <a:srgbClr val="000000"/>
                          </a:solidFill>
                          <a:latin typeface="Times New Roman Bold"/>
                          <a:ea typeface="Times New Roman Bold"/>
                          <a:cs typeface="Times New Roman Bold"/>
                          <a:sym typeface="Times New Roman Bold"/>
                        </a:rPr>
                        <a:t>Token produced</a:t>
                      </a:r>
                      <a:endParaRPr lang="en-US" sz="1100"/>
                    </a:p>
                  </a:txBody>
                  <a:tcPr marL="137160" marR="137160" marT="137160" marB="137160"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2100" b="true">
                          <a:solidFill>
                            <a:srgbClr val="000000"/>
                          </a:solidFill>
                          <a:latin typeface="Times New Roman Bold"/>
                          <a:ea typeface="Times New Roman Bold"/>
                          <a:cs typeface="Times New Roman Bold"/>
                          <a:sym typeface="Times New Roman Bold"/>
                        </a:rPr>
                        <a:t>Pattern that accepted it</a:t>
                      </a:r>
                      <a:endParaRPr lang="en-US" sz="1100"/>
                    </a:p>
                  </a:txBody>
                  <a:tcPr marL="137160" marR="137160" marT="137160" marB="137160"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FFFFFF"/>
                    </a:solidFill>
                  </a:tcPr>
                </a:tc>
              </a:tr>
              <a:tr h="533400">
                <a:tc>
                  <a:txBody>
                    <a:bodyPr anchor="t" rtlCol="false"/>
                    <a:lstStyle/>
                    <a:p>
                      <a:pPr algn="l">
                        <a:lnSpc>
                          <a:spcPts val="2520"/>
                        </a:lnSpc>
                        <a:defRPr/>
                      </a:pPr>
                      <a:r>
                        <a:rPr lang="en-US" sz="2100" b="true">
                          <a:solidFill>
                            <a:srgbClr val="000000"/>
                          </a:solidFill>
                          <a:latin typeface="Times New Roman Bold"/>
                          <a:ea typeface="Times New Roman Bold"/>
                          <a:cs typeface="Times New Roman Bold"/>
                          <a:sym typeface="Times New Roman Bold"/>
                        </a:rPr>
                        <a:t>count</a:t>
                      </a:r>
                      <a:endParaRPr lang="en-US" sz="1100"/>
                    </a:p>
                  </a:txBody>
                  <a:tcPr marL="137160" marR="137160" marT="137160" marB="137160"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2100">
                          <a:solidFill>
                            <a:srgbClr val="000000"/>
                          </a:solidFill>
                          <a:latin typeface="Times New Roman"/>
                          <a:ea typeface="Times New Roman"/>
                          <a:cs typeface="Times New Roman"/>
                          <a:sym typeface="Times New Roman"/>
                        </a:rPr>
                        <a:t>IDENTIFIER</a:t>
                      </a:r>
                      <a:endParaRPr lang="en-US" sz="1100"/>
                    </a:p>
                  </a:txBody>
                  <a:tcPr marL="137160" marR="137160" marT="137160" marB="137160"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2100" b="true">
                          <a:solidFill>
                            <a:srgbClr val="000000"/>
                          </a:solidFill>
                          <a:latin typeface="Times New Roman Bold"/>
                          <a:ea typeface="Times New Roman Bold"/>
                          <a:cs typeface="Times New Roman Bold"/>
                          <a:sym typeface="Times New Roman Bold"/>
                        </a:rPr>
                        <a:t>letter (letter | digit)*</a:t>
                      </a:r>
                      <a:endParaRPr lang="en-US" sz="1100"/>
                    </a:p>
                  </a:txBody>
                  <a:tcPr marL="137160" marR="137160" marT="137160" marB="137160"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FFFFFF"/>
                    </a:solidFill>
                  </a:tcPr>
                </a:tc>
              </a:tr>
              <a:tr h="533400">
                <a:tc>
                  <a:txBody>
                    <a:bodyPr anchor="t" rtlCol="false"/>
                    <a:lstStyle/>
                    <a:p>
                      <a:pPr algn="l">
                        <a:lnSpc>
                          <a:spcPts val="2520"/>
                        </a:lnSpc>
                        <a:defRPr/>
                      </a:pPr>
                      <a:r>
                        <a:rPr lang="en-US" sz="2100" b="true">
                          <a:solidFill>
                            <a:srgbClr val="000000"/>
                          </a:solidFill>
                          <a:latin typeface="Times New Roman Bold"/>
                          <a:ea typeface="Times New Roman Bold"/>
                          <a:cs typeface="Times New Roman Bold"/>
                          <a:sym typeface="Times New Roman Bold"/>
                        </a:rPr>
                        <a:t>10</a:t>
                      </a:r>
                      <a:endParaRPr lang="en-US" sz="1100"/>
                    </a:p>
                  </a:txBody>
                  <a:tcPr marL="137160" marR="137160" marT="137160" marB="137160"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2100">
                          <a:solidFill>
                            <a:srgbClr val="000000"/>
                          </a:solidFill>
                          <a:latin typeface="Times New Roman"/>
                          <a:ea typeface="Times New Roman"/>
                          <a:cs typeface="Times New Roman"/>
                          <a:sym typeface="Times New Roman"/>
                        </a:rPr>
                        <a:t>INT_LITERAL</a:t>
                      </a:r>
                      <a:endParaRPr lang="en-US" sz="1100"/>
                    </a:p>
                  </a:txBody>
                  <a:tcPr marL="137160" marR="137160" marT="137160" marB="137160"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2100" b="true">
                          <a:solidFill>
                            <a:srgbClr val="000000"/>
                          </a:solidFill>
                          <a:latin typeface="Times New Roman Bold"/>
                          <a:ea typeface="Times New Roman Bold"/>
                          <a:cs typeface="Times New Roman Bold"/>
                          <a:sym typeface="Times New Roman Bold"/>
                        </a:rPr>
                        <a:t>digit+</a:t>
                      </a:r>
                      <a:endParaRPr lang="en-US" sz="1100"/>
                    </a:p>
                  </a:txBody>
                  <a:tcPr marL="137160" marR="137160" marT="137160" marB="137160"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FFFFFF"/>
                    </a:solidFill>
                  </a:tcPr>
                </a:tc>
              </a:tr>
              <a:tr h="533400">
                <a:tc>
                  <a:txBody>
                    <a:bodyPr anchor="t" rtlCol="false"/>
                    <a:lstStyle/>
                    <a:p>
                      <a:pPr algn="l">
                        <a:lnSpc>
                          <a:spcPts val="2520"/>
                        </a:lnSpc>
                        <a:defRPr/>
                      </a:pPr>
                      <a:r>
                        <a:rPr lang="en-US" sz="2100" b="true">
                          <a:solidFill>
                            <a:srgbClr val="000000"/>
                          </a:solidFill>
                          <a:latin typeface="Times New Roman Bold"/>
                          <a:ea typeface="Times New Roman Bold"/>
                          <a:cs typeface="Times New Roman Bold"/>
                          <a:sym typeface="Times New Roman Bold"/>
                        </a:rPr>
                        <a:t>=</a:t>
                      </a:r>
                      <a:endParaRPr lang="en-US" sz="1100"/>
                    </a:p>
                  </a:txBody>
                  <a:tcPr marL="137160" marR="137160" marT="137160" marB="137160"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2100">
                          <a:solidFill>
                            <a:srgbClr val="000000"/>
                          </a:solidFill>
                          <a:latin typeface="Times New Roman"/>
                          <a:ea typeface="Times New Roman"/>
                          <a:cs typeface="Times New Roman"/>
                          <a:sym typeface="Times New Roman"/>
                        </a:rPr>
                        <a:t>ASSIGN</a:t>
                      </a:r>
                      <a:endParaRPr lang="en-US" sz="1100"/>
                    </a:p>
                  </a:txBody>
                  <a:tcPr marL="137160" marR="137160" marT="137160" marB="137160"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2100" b="true">
                          <a:solidFill>
                            <a:srgbClr val="000000"/>
                          </a:solidFill>
                          <a:latin typeface="Times New Roman Bold"/>
                          <a:ea typeface="Times New Roman Bold"/>
                          <a:cs typeface="Times New Roman Bold"/>
                          <a:sym typeface="Times New Roman Bold"/>
                        </a:rPr>
                        <a:t>=</a:t>
                      </a:r>
                      <a:endParaRPr lang="en-US" sz="1100"/>
                    </a:p>
                  </a:txBody>
                  <a:tcPr marL="137160" marR="137160" marT="137160" marB="137160"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FFFFFF"/>
                    </a:solidFill>
                  </a:tcPr>
                </a:tc>
              </a:tr>
              <a:tr h="533400">
                <a:tc>
                  <a:txBody>
                    <a:bodyPr anchor="t" rtlCol="false"/>
                    <a:lstStyle/>
                    <a:p>
                      <a:pPr algn="l">
                        <a:lnSpc>
                          <a:spcPts val="2520"/>
                        </a:lnSpc>
                        <a:defRPr/>
                      </a:pPr>
                      <a:r>
                        <a:rPr lang="en-US" sz="2100" b="true">
                          <a:solidFill>
                            <a:srgbClr val="000000"/>
                          </a:solidFill>
                          <a:latin typeface="Times New Roman Bold"/>
                          <a:ea typeface="Times New Roman Bold"/>
                          <a:cs typeface="Times New Roman Bold"/>
                          <a:sym typeface="Times New Roman Bold"/>
                        </a:rPr>
                        <a:t>while</a:t>
                      </a:r>
                      <a:endParaRPr lang="en-US" sz="1100"/>
                    </a:p>
                  </a:txBody>
                  <a:tcPr marL="137160" marR="137160" marT="137160" marB="137160"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2100">
                          <a:solidFill>
                            <a:srgbClr val="000000"/>
                          </a:solidFill>
                          <a:latin typeface="Times New Roman"/>
                          <a:ea typeface="Times New Roman"/>
                          <a:cs typeface="Times New Roman"/>
                          <a:sym typeface="Times New Roman"/>
                        </a:rPr>
                        <a:t>KEYWORD</a:t>
                      </a:r>
                      <a:endParaRPr lang="en-US" sz="1100"/>
                    </a:p>
                  </a:txBody>
                  <a:tcPr marL="137160" marR="137160" marT="137160" marB="137160"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2100" b="true">
                          <a:solidFill>
                            <a:srgbClr val="000000"/>
                          </a:solidFill>
                          <a:latin typeface="Times New Roman Bold"/>
                          <a:ea typeface="Times New Roman Bold"/>
                          <a:cs typeface="Times New Roman Bold"/>
                          <a:sym typeface="Times New Roman Bold"/>
                        </a:rPr>
                        <a:t>reserved word list</a:t>
                      </a:r>
                      <a:endParaRPr lang="en-US" sz="1100"/>
                    </a:p>
                  </a:txBody>
                  <a:tcPr marL="137160" marR="137160" marT="137160" marB="137160"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FFFFFF"/>
                    </a:solidFill>
                  </a:tcPr>
                </a:tc>
              </a:tr>
            </a:tbl>
          </a:graphicData>
        </a:graphic>
      </p:graphicFrame>
      <p:sp>
        <p:nvSpPr>
          <p:cNvPr name="TextBox 37" id="37"/>
          <p:cNvSpPr txBox="true"/>
          <p:nvPr/>
        </p:nvSpPr>
        <p:spPr>
          <a:xfrm rot="0">
            <a:off x="16454628" y="9627870"/>
            <a:ext cx="777240" cy="339090"/>
          </a:xfrm>
          <a:prstGeom prst="rect">
            <a:avLst/>
          </a:prstGeom>
        </p:spPr>
        <p:txBody>
          <a:bodyPr anchor="t" rtlCol="false" tIns="0" lIns="0" bIns="0" rIns="0">
            <a:spAutoFit/>
          </a:bodyPr>
          <a:lstStyle/>
          <a:p>
            <a:pPr algn="r">
              <a:lnSpc>
                <a:spcPts val="1800"/>
              </a:lnSpc>
            </a:pPr>
            <a:r>
              <a:rPr lang="en-US" sz="1500">
                <a:solidFill>
                  <a:srgbClr val="000000"/>
                </a:solidFill>
                <a:latin typeface="Times New Roman"/>
                <a:ea typeface="Times New Roman"/>
                <a:cs typeface="Times New Roman"/>
                <a:sym typeface="Times New Roman"/>
              </a:rPr>
              <a:t>3</a:t>
            </a:r>
          </a:p>
        </p:txBody>
      </p:sp>
      <p:sp>
        <p:nvSpPr>
          <p:cNvPr name="Freeform 38" id="38"/>
          <p:cNvSpPr/>
          <p:nvPr/>
        </p:nvSpPr>
        <p:spPr>
          <a:xfrm flipH="false" flipV="false" rot="0">
            <a:off x="15581052" y="55401"/>
            <a:ext cx="2083759" cy="2083759"/>
          </a:xfrm>
          <a:custGeom>
            <a:avLst/>
            <a:gdLst/>
            <a:ahLst/>
            <a:cxnLst/>
            <a:rect r="r" b="b" t="t" l="l"/>
            <a:pathLst>
              <a:path h="2083759" w="2083759">
                <a:moveTo>
                  <a:pt x="0" y="0"/>
                </a:moveTo>
                <a:lnTo>
                  <a:pt x="2083758" y="0"/>
                </a:lnTo>
                <a:lnTo>
                  <a:pt x="2083758" y="2083758"/>
                </a:lnTo>
                <a:lnTo>
                  <a:pt x="0" y="2083758"/>
                </a:lnTo>
                <a:lnTo>
                  <a:pt x="0" y="0"/>
                </a:lnTo>
                <a:close/>
              </a:path>
            </a:pathLst>
          </a:custGeom>
          <a:blipFill>
            <a:blip r:embed="rId4"/>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9601200"/>
            <a:ext cx="8229600" cy="411480"/>
            <a:chOff x="0" y="0"/>
            <a:chExt cx="10972800" cy="548640"/>
          </a:xfrm>
        </p:grpSpPr>
        <p:sp>
          <p:nvSpPr>
            <p:cNvPr name="Freeform 3" id="3"/>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700" r="0" b="-339700"/>
              </a:stretch>
            </a:blipFill>
          </p:spPr>
        </p:sp>
        <p:sp>
          <p:nvSpPr>
            <p:cNvPr name="TextBox 4" id="4"/>
            <p:cNvSpPr txBox="true"/>
            <p:nvPr/>
          </p:nvSpPr>
          <p:spPr>
            <a:xfrm>
              <a:off x="0" y="-19050"/>
              <a:ext cx="10972800" cy="567690"/>
            </a:xfrm>
            <a:prstGeom prst="rect">
              <a:avLst/>
            </a:prstGeom>
          </p:spPr>
          <p:txBody>
            <a:bodyPr anchor="ctr" rtlCol="false" tIns="0" lIns="0" bIns="0" rIns="0"/>
            <a:lstStyle/>
            <a:p>
              <a:pPr algn="l">
                <a:lnSpc>
                  <a:spcPts val="1800"/>
                </a:lnSpc>
              </a:pPr>
              <a:r>
                <a:rPr lang="en-US" sz="1500">
                  <a:solidFill>
                    <a:srgbClr val="000000"/>
                  </a:solidFill>
                  <a:latin typeface="Times New Roman"/>
                  <a:ea typeface="Times New Roman"/>
                  <a:cs typeface="Times New Roman"/>
                  <a:sym typeface="Times New Roman"/>
                </a:rPr>
                <a:t>Building an FSA for Token Recognition</a:t>
              </a:r>
            </a:p>
          </p:txBody>
        </p:sp>
      </p:grpSp>
      <p:grpSp>
        <p:nvGrpSpPr>
          <p:cNvPr name="Group 5" id="5"/>
          <p:cNvGrpSpPr/>
          <p:nvPr/>
        </p:nvGrpSpPr>
        <p:grpSpPr>
          <a:xfrm rot="0">
            <a:off x="960120" y="548640"/>
            <a:ext cx="15361920" cy="1097280"/>
            <a:chOff x="0" y="0"/>
            <a:chExt cx="20482560" cy="1463040"/>
          </a:xfrm>
        </p:grpSpPr>
        <p:sp>
          <p:nvSpPr>
            <p:cNvPr name="Freeform 6" id="6"/>
            <p:cNvSpPr/>
            <p:nvPr/>
          </p:nvSpPr>
          <p:spPr>
            <a:xfrm flipH="false" flipV="false" rot="0">
              <a:off x="0" y="0"/>
              <a:ext cx="20482561" cy="1463040"/>
            </a:xfrm>
            <a:custGeom>
              <a:avLst/>
              <a:gdLst/>
              <a:ahLst/>
              <a:cxnLst/>
              <a:rect r="r" b="b" t="t" l="l"/>
              <a:pathLst>
                <a:path h="1463040" w="20482561">
                  <a:moveTo>
                    <a:pt x="0" y="0"/>
                  </a:moveTo>
                  <a:lnTo>
                    <a:pt x="20482561" y="0"/>
                  </a:lnTo>
                  <a:lnTo>
                    <a:pt x="20482561" y="1463040"/>
                  </a:lnTo>
                  <a:lnTo>
                    <a:pt x="0" y="1463040"/>
                  </a:lnTo>
                  <a:close/>
                </a:path>
              </a:pathLst>
            </a:custGeom>
            <a:blipFill>
              <a:blip r:embed="rId3">
                <a:alphaModFix amt="0"/>
              </a:blip>
              <a:stretch>
                <a:fillRect l="0" t="-222790" r="0" b="-222790"/>
              </a:stretch>
            </a:blipFill>
          </p:spPr>
        </p:sp>
        <p:sp>
          <p:nvSpPr>
            <p:cNvPr name="TextBox 7" id="7"/>
            <p:cNvSpPr txBox="true"/>
            <p:nvPr/>
          </p:nvSpPr>
          <p:spPr>
            <a:xfrm>
              <a:off x="0" y="-28575"/>
              <a:ext cx="20482560" cy="1491615"/>
            </a:xfrm>
            <a:prstGeom prst="rect">
              <a:avLst/>
            </a:prstGeom>
          </p:spPr>
          <p:txBody>
            <a:bodyPr anchor="ctr" rtlCol="false" tIns="0" lIns="0" bIns="0" rIns="0"/>
            <a:lstStyle/>
            <a:p>
              <a:pPr algn="l">
                <a:lnSpc>
                  <a:spcPts val="6120"/>
                </a:lnSpc>
              </a:pPr>
              <a:r>
                <a:rPr lang="en-US" sz="5100" b="true">
                  <a:solidFill>
                    <a:srgbClr val="000000"/>
                  </a:solidFill>
                  <a:latin typeface="Times New Roman Bold"/>
                  <a:ea typeface="Times New Roman Bold"/>
                  <a:cs typeface="Times New Roman Bold"/>
                  <a:sym typeface="Times New Roman Bold"/>
                </a:rPr>
                <a:t>Token classes as regular expressions</a:t>
              </a:r>
            </a:p>
          </p:txBody>
        </p:sp>
      </p:grpSp>
      <p:sp>
        <p:nvSpPr>
          <p:cNvPr name="TextBox 8" id="8"/>
          <p:cNvSpPr txBox="true"/>
          <p:nvPr/>
        </p:nvSpPr>
        <p:spPr>
          <a:xfrm rot="0">
            <a:off x="960120" y="1773555"/>
            <a:ext cx="15361920" cy="558165"/>
          </a:xfrm>
          <a:prstGeom prst="rect">
            <a:avLst/>
          </a:prstGeom>
        </p:spPr>
        <p:txBody>
          <a:bodyPr anchor="t" rtlCol="false" tIns="0" lIns="0" bIns="0" rIns="0">
            <a:spAutoFit/>
          </a:bodyPr>
          <a:lstStyle/>
          <a:p>
            <a:pPr algn="l">
              <a:lnSpc>
                <a:spcPts val="2879"/>
              </a:lnSpc>
            </a:pPr>
            <a:r>
              <a:rPr lang="en-US" sz="2400">
                <a:solidFill>
                  <a:srgbClr val="000000"/>
                </a:solidFill>
                <a:latin typeface="Times New Roman"/>
                <a:ea typeface="Times New Roman"/>
                <a:cs typeface="Times New Roman"/>
                <a:sym typeface="Times New Roman"/>
              </a:rPr>
              <a:t>Every token class gets a regex, and every regex has an equivalent finite automaton.</a:t>
            </a:r>
          </a:p>
        </p:txBody>
      </p:sp>
      <p:graphicFrame>
        <p:nvGraphicFramePr>
          <p:cNvPr name="Table 9" id="9"/>
          <p:cNvGraphicFramePr>
            <a:graphicFrameLocks noGrp="true"/>
          </p:cNvGraphicFramePr>
          <p:nvPr/>
        </p:nvGraphicFramePr>
        <p:xfrm>
          <a:off x="960120" y="2674620"/>
          <a:ext cx="16325850" cy="4933950"/>
        </p:xfrm>
        <a:graphic>
          <a:graphicData uri="http://schemas.openxmlformats.org/drawingml/2006/table">
            <a:tbl>
              <a:tblPr/>
              <a:tblGrid>
                <a:gridCol w="3571091"/>
                <a:gridCol w="7376228"/>
                <a:gridCol w="5378531"/>
              </a:tblGrid>
              <a:tr h="704850">
                <a:tc>
                  <a:txBody>
                    <a:bodyPr anchor="t" rtlCol="false"/>
                    <a:lstStyle/>
                    <a:p>
                      <a:pPr algn="l">
                        <a:lnSpc>
                          <a:spcPts val="2520"/>
                        </a:lnSpc>
                        <a:defRPr/>
                      </a:pPr>
                      <a:r>
                        <a:rPr lang="en-US" sz="2100" b="true">
                          <a:solidFill>
                            <a:srgbClr val="000000"/>
                          </a:solidFill>
                          <a:latin typeface="Times New Roman Bold"/>
                          <a:ea typeface="Times New Roman Bold"/>
                          <a:cs typeface="Times New Roman Bold"/>
                          <a:sym typeface="Times New Roman Bold"/>
                        </a:rPr>
                        <a:t>Token class</a:t>
                      </a:r>
                      <a:endParaRPr lang="en-US" sz="1100"/>
                    </a:p>
                  </a:txBody>
                  <a:tcPr marL="182880" marR="182880" marT="182880" marB="182880"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2100" b="true">
                          <a:solidFill>
                            <a:srgbClr val="000000"/>
                          </a:solidFill>
                          <a:latin typeface="Times New Roman Bold"/>
                          <a:ea typeface="Times New Roman Bold"/>
                          <a:cs typeface="Times New Roman Bold"/>
                          <a:sym typeface="Times New Roman Bold"/>
                        </a:rPr>
                        <a:t>Regular expression</a:t>
                      </a:r>
                      <a:endParaRPr lang="en-US" sz="1100"/>
                    </a:p>
                  </a:txBody>
                  <a:tcPr marL="182880" marR="182880" marT="182880" marB="182880"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2100" b="true">
                          <a:solidFill>
                            <a:srgbClr val="000000"/>
                          </a:solidFill>
                          <a:latin typeface="Times New Roman Bold"/>
                          <a:ea typeface="Times New Roman Bold"/>
                          <a:cs typeface="Times New Roman Bold"/>
                          <a:sym typeface="Times New Roman Bold"/>
                        </a:rPr>
                        <a:t>Examples</a:t>
                      </a:r>
                      <a:endParaRPr lang="en-US" sz="1100"/>
                    </a:p>
                  </a:txBody>
                  <a:tcPr marL="182880" marR="182880" marT="182880" marB="182880"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FFFFFF"/>
                    </a:solidFill>
                  </a:tcPr>
                </a:tc>
              </a:tr>
              <a:tr h="704850">
                <a:tc>
                  <a:txBody>
                    <a:bodyPr anchor="t" rtlCol="false"/>
                    <a:lstStyle/>
                    <a:p>
                      <a:pPr algn="l">
                        <a:lnSpc>
                          <a:spcPts val="2520"/>
                        </a:lnSpc>
                        <a:defRPr/>
                      </a:pPr>
                      <a:r>
                        <a:rPr lang="en-US" sz="2100" b="true">
                          <a:solidFill>
                            <a:srgbClr val="000000"/>
                          </a:solidFill>
                          <a:latin typeface="Times New Roman Bold"/>
                          <a:ea typeface="Times New Roman Bold"/>
                          <a:cs typeface="Times New Roman Bold"/>
                          <a:sym typeface="Times New Roman Bold"/>
                        </a:rPr>
                        <a:t>IDENTIFIER</a:t>
                      </a:r>
                      <a:endParaRPr lang="en-US" sz="1100"/>
                    </a:p>
                  </a:txBody>
                  <a:tcPr marL="182880" marR="182880" marT="182880" marB="182880"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2100" b="true">
                          <a:solidFill>
                            <a:srgbClr val="000000"/>
                          </a:solidFill>
                          <a:latin typeface="Times New Roman Bold"/>
                          <a:ea typeface="Times New Roman Bold"/>
                          <a:cs typeface="Times New Roman Bold"/>
                          <a:sym typeface="Times New Roman Bold"/>
                        </a:rPr>
                        <a:t>[a-zA-Z_][a-zA-Z0-9_]*</a:t>
                      </a:r>
                      <a:endParaRPr lang="en-US" sz="1100"/>
                    </a:p>
                  </a:txBody>
                  <a:tcPr marL="182880" marR="182880" marT="182880" marB="182880"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2100">
                          <a:solidFill>
                            <a:srgbClr val="000000"/>
                          </a:solidFill>
                          <a:latin typeface="Times New Roman"/>
                          <a:ea typeface="Times New Roman"/>
                          <a:cs typeface="Times New Roman"/>
                          <a:sym typeface="Times New Roman"/>
                        </a:rPr>
                        <a:t>x, _tmp, count2</a:t>
                      </a:r>
                      <a:endParaRPr lang="en-US" sz="1100"/>
                    </a:p>
                  </a:txBody>
                  <a:tcPr marL="182880" marR="182880" marT="182880" marB="182880"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FFFFFF"/>
                    </a:solidFill>
                  </a:tcPr>
                </a:tc>
              </a:tr>
              <a:tr h="704850">
                <a:tc>
                  <a:txBody>
                    <a:bodyPr anchor="t" rtlCol="false"/>
                    <a:lstStyle/>
                    <a:p>
                      <a:pPr algn="l">
                        <a:lnSpc>
                          <a:spcPts val="2520"/>
                        </a:lnSpc>
                        <a:defRPr/>
                      </a:pPr>
                      <a:r>
                        <a:rPr lang="en-US" sz="2100" b="true">
                          <a:solidFill>
                            <a:srgbClr val="000000"/>
                          </a:solidFill>
                          <a:latin typeface="Times New Roman Bold"/>
                          <a:ea typeface="Times New Roman Bold"/>
                          <a:cs typeface="Times New Roman Bold"/>
                          <a:sym typeface="Times New Roman Bold"/>
                        </a:rPr>
                        <a:t>INTEGER</a:t>
                      </a:r>
                      <a:endParaRPr lang="en-US" sz="1100"/>
                    </a:p>
                  </a:txBody>
                  <a:tcPr marL="182880" marR="182880" marT="182880" marB="182880"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2100" b="true">
                          <a:solidFill>
                            <a:srgbClr val="000000"/>
                          </a:solidFill>
                          <a:latin typeface="Times New Roman Bold"/>
                          <a:ea typeface="Times New Roman Bold"/>
                          <a:cs typeface="Times New Roman Bold"/>
                          <a:sym typeface="Times New Roman Bold"/>
                        </a:rPr>
                        <a:t>[0-9]+</a:t>
                      </a:r>
                      <a:endParaRPr lang="en-US" sz="1100"/>
                    </a:p>
                  </a:txBody>
                  <a:tcPr marL="182880" marR="182880" marT="182880" marB="182880"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2100">
                          <a:solidFill>
                            <a:srgbClr val="000000"/>
                          </a:solidFill>
                          <a:latin typeface="Times New Roman"/>
                          <a:ea typeface="Times New Roman"/>
                          <a:cs typeface="Times New Roman"/>
                          <a:sym typeface="Times New Roman"/>
                        </a:rPr>
                        <a:t>0, 42, 2026</a:t>
                      </a:r>
                      <a:endParaRPr lang="en-US" sz="1100"/>
                    </a:p>
                  </a:txBody>
                  <a:tcPr marL="182880" marR="182880" marT="182880" marB="182880"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FFFFFF"/>
                    </a:solidFill>
                  </a:tcPr>
                </a:tc>
              </a:tr>
              <a:tr h="704850">
                <a:tc>
                  <a:txBody>
                    <a:bodyPr anchor="t" rtlCol="false"/>
                    <a:lstStyle/>
                    <a:p>
                      <a:pPr algn="l">
                        <a:lnSpc>
                          <a:spcPts val="2520"/>
                        </a:lnSpc>
                        <a:defRPr/>
                      </a:pPr>
                      <a:r>
                        <a:rPr lang="en-US" sz="2100" b="true">
                          <a:solidFill>
                            <a:srgbClr val="000000"/>
                          </a:solidFill>
                          <a:latin typeface="Times New Roman Bold"/>
                          <a:ea typeface="Times New Roman Bold"/>
                          <a:cs typeface="Times New Roman Bold"/>
                          <a:sym typeface="Times New Roman Bold"/>
                        </a:rPr>
                        <a:t>FLOAT</a:t>
                      </a:r>
                      <a:endParaRPr lang="en-US" sz="1100"/>
                    </a:p>
                  </a:txBody>
                  <a:tcPr marL="182880" marR="182880" marT="182880" marB="182880"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2100" b="true">
                          <a:solidFill>
                            <a:srgbClr val="000000"/>
                          </a:solidFill>
                          <a:latin typeface="Times New Roman Bold"/>
                          <a:ea typeface="Times New Roman Bold"/>
                          <a:cs typeface="Times New Roman Bold"/>
                          <a:sym typeface="Times New Roman Bold"/>
                        </a:rPr>
                        <a:t>[0-9]+\.[0-9]+</a:t>
                      </a:r>
                      <a:endParaRPr lang="en-US" sz="1100"/>
                    </a:p>
                  </a:txBody>
                  <a:tcPr marL="182880" marR="182880" marT="182880" marB="182880"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2100">
                          <a:solidFill>
                            <a:srgbClr val="000000"/>
                          </a:solidFill>
                          <a:latin typeface="Times New Roman"/>
                          <a:ea typeface="Times New Roman"/>
                          <a:cs typeface="Times New Roman"/>
                          <a:sym typeface="Times New Roman"/>
                        </a:rPr>
                        <a:t>3.14, 0.5</a:t>
                      </a:r>
                      <a:endParaRPr lang="en-US" sz="1100"/>
                    </a:p>
                  </a:txBody>
                  <a:tcPr marL="182880" marR="182880" marT="182880" marB="182880"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FFFFFF"/>
                    </a:solidFill>
                  </a:tcPr>
                </a:tc>
              </a:tr>
              <a:tr h="704850">
                <a:tc>
                  <a:txBody>
                    <a:bodyPr anchor="t" rtlCol="false"/>
                    <a:lstStyle/>
                    <a:p>
                      <a:pPr algn="l">
                        <a:lnSpc>
                          <a:spcPts val="2520"/>
                        </a:lnSpc>
                        <a:defRPr/>
                      </a:pPr>
                      <a:r>
                        <a:rPr lang="en-US" sz="2100" b="true">
                          <a:solidFill>
                            <a:srgbClr val="000000"/>
                          </a:solidFill>
                          <a:latin typeface="Times New Roman Bold"/>
                          <a:ea typeface="Times New Roman Bold"/>
                          <a:cs typeface="Times New Roman Bold"/>
                          <a:sym typeface="Times New Roman Bold"/>
                        </a:rPr>
                        <a:t>OPERATOR</a:t>
                      </a:r>
                      <a:endParaRPr lang="en-US" sz="1100"/>
                    </a:p>
                  </a:txBody>
                  <a:tcPr marL="182880" marR="182880" marT="182880" marB="182880"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2100" b="true">
                          <a:solidFill>
                            <a:srgbClr val="000000"/>
                          </a:solidFill>
                          <a:latin typeface="Times New Roman Bold"/>
                          <a:ea typeface="Times New Roman Bold"/>
                          <a:cs typeface="Times New Roman Bold"/>
                          <a:sym typeface="Times New Roman Bold"/>
                        </a:rPr>
                        <a:t>+  -  *  /  =  ==  &lt;=</a:t>
                      </a:r>
                      <a:endParaRPr lang="en-US" sz="1100"/>
                    </a:p>
                  </a:txBody>
                  <a:tcPr marL="182880" marR="182880" marT="182880" marB="182880"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2100">
                          <a:solidFill>
                            <a:srgbClr val="000000"/>
                          </a:solidFill>
                          <a:latin typeface="Times New Roman"/>
                          <a:ea typeface="Times New Roman"/>
                          <a:cs typeface="Times New Roman"/>
                          <a:sym typeface="Times New Roman"/>
                        </a:rPr>
                        <a:t>==, &lt;=</a:t>
                      </a:r>
                      <a:endParaRPr lang="en-US" sz="1100"/>
                    </a:p>
                  </a:txBody>
                  <a:tcPr marL="182880" marR="182880" marT="182880" marB="182880"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FFFFFF"/>
                    </a:solidFill>
                  </a:tcPr>
                </a:tc>
              </a:tr>
              <a:tr h="704850">
                <a:tc>
                  <a:txBody>
                    <a:bodyPr anchor="t" rtlCol="false"/>
                    <a:lstStyle/>
                    <a:p>
                      <a:pPr algn="l">
                        <a:lnSpc>
                          <a:spcPts val="2520"/>
                        </a:lnSpc>
                        <a:defRPr/>
                      </a:pPr>
                      <a:r>
                        <a:rPr lang="en-US" sz="2100" b="true">
                          <a:solidFill>
                            <a:srgbClr val="000000"/>
                          </a:solidFill>
                          <a:latin typeface="Times New Roman Bold"/>
                          <a:ea typeface="Times New Roman Bold"/>
                          <a:cs typeface="Times New Roman Bold"/>
                          <a:sym typeface="Times New Roman Bold"/>
                        </a:rPr>
                        <a:t>DELIMITER</a:t>
                      </a:r>
                      <a:endParaRPr lang="en-US" sz="1100"/>
                    </a:p>
                  </a:txBody>
                  <a:tcPr marL="182880" marR="182880" marT="182880" marB="182880"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2100" b="true">
                          <a:solidFill>
                            <a:srgbClr val="000000"/>
                          </a:solidFill>
                          <a:latin typeface="Times New Roman Bold"/>
                          <a:ea typeface="Times New Roman Bold"/>
                          <a:cs typeface="Times New Roman Bold"/>
                          <a:sym typeface="Times New Roman Bold"/>
                        </a:rPr>
                        <a:t>(  )  {  }  ;  ,</a:t>
                      </a:r>
                      <a:endParaRPr lang="en-US" sz="1100"/>
                    </a:p>
                  </a:txBody>
                  <a:tcPr marL="182880" marR="182880" marT="182880" marB="182880"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2100">
                          <a:solidFill>
                            <a:srgbClr val="000000"/>
                          </a:solidFill>
                          <a:latin typeface="Times New Roman"/>
                          <a:ea typeface="Times New Roman"/>
                          <a:cs typeface="Times New Roman"/>
                          <a:sym typeface="Times New Roman"/>
                        </a:rPr>
                        <a:t>( ;</a:t>
                      </a:r>
                      <a:endParaRPr lang="en-US" sz="1100"/>
                    </a:p>
                  </a:txBody>
                  <a:tcPr marL="182880" marR="182880" marT="182880" marB="182880"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FFFFFF"/>
                    </a:solidFill>
                  </a:tcPr>
                </a:tc>
              </a:tr>
              <a:tr h="704850">
                <a:tc>
                  <a:txBody>
                    <a:bodyPr anchor="t" rtlCol="false"/>
                    <a:lstStyle/>
                    <a:p>
                      <a:pPr algn="l">
                        <a:lnSpc>
                          <a:spcPts val="2520"/>
                        </a:lnSpc>
                        <a:defRPr/>
                      </a:pPr>
                      <a:r>
                        <a:rPr lang="en-US" sz="2100" b="true">
                          <a:solidFill>
                            <a:srgbClr val="000000"/>
                          </a:solidFill>
                          <a:latin typeface="Times New Roman Bold"/>
                          <a:ea typeface="Times New Roman Bold"/>
                          <a:cs typeface="Times New Roman Bold"/>
                          <a:sym typeface="Times New Roman Bold"/>
                        </a:rPr>
                        <a:t>WHITESPACE</a:t>
                      </a:r>
                      <a:endParaRPr lang="en-US" sz="1100"/>
                    </a:p>
                  </a:txBody>
                  <a:tcPr marL="182880" marR="182880" marT="182880" marB="182880"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2100" b="true">
                          <a:solidFill>
                            <a:srgbClr val="000000"/>
                          </a:solidFill>
                          <a:latin typeface="Times New Roman Bold"/>
                          <a:ea typeface="Times New Roman Bold"/>
                          <a:cs typeface="Times New Roman Bold"/>
                          <a:sym typeface="Times New Roman Bold"/>
                        </a:rPr>
                        <a:t>[ \t\n]+   (skipped)</a:t>
                      </a:r>
                      <a:endParaRPr lang="en-US" sz="1100"/>
                    </a:p>
                  </a:txBody>
                  <a:tcPr marL="182880" marR="182880" marT="182880" marB="182880"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2100">
                          <a:solidFill>
                            <a:srgbClr val="000000"/>
                          </a:solidFill>
                          <a:latin typeface="Times New Roman"/>
                          <a:ea typeface="Times New Roman"/>
                          <a:cs typeface="Times New Roman"/>
                          <a:sym typeface="Times New Roman"/>
                        </a:rPr>
                        <a:t>spaces, tabs</a:t>
                      </a:r>
                      <a:endParaRPr lang="en-US" sz="1100"/>
                    </a:p>
                  </a:txBody>
                  <a:tcPr marL="182880" marR="182880" marT="182880" marB="182880"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FFFFFF"/>
                    </a:solidFill>
                  </a:tcPr>
                </a:tc>
              </a:tr>
            </a:tbl>
          </a:graphicData>
        </a:graphic>
      </p:graphicFrame>
      <p:grpSp>
        <p:nvGrpSpPr>
          <p:cNvPr name="Group 10" id="10"/>
          <p:cNvGrpSpPr/>
          <p:nvPr/>
        </p:nvGrpSpPr>
        <p:grpSpPr>
          <a:xfrm rot="0">
            <a:off x="950595" y="8220075"/>
            <a:ext cx="16382238" cy="979170"/>
            <a:chOff x="0" y="0"/>
            <a:chExt cx="21842984" cy="1305560"/>
          </a:xfrm>
        </p:grpSpPr>
        <p:sp>
          <p:nvSpPr>
            <p:cNvPr name="Freeform 11" id="11"/>
            <p:cNvSpPr/>
            <p:nvPr/>
          </p:nvSpPr>
          <p:spPr>
            <a:xfrm flipH="false" flipV="false" rot="0">
              <a:off x="0" y="0"/>
              <a:ext cx="21842985" cy="1305560"/>
            </a:xfrm>
            <a:custGeom>
              <a:avLst/>
              <a:gdLst/>
              <a:ahLst/>
              <a:cxnLst/>
              <a:rect r="r" b="b" t="t" l="l"/>
              <a:pathLst>
                <a:path h="1305560" w="21842985">
                  <a:moveTo>
                    <a:pt x="0" y="223774"/>
                  </a:moveTo>
                  <a:cubicBezTo>
                    <a:pt x="0" y="100203"/>
                    <a:pt x="100203" y="0"/>
                    <a:pt x="223774" y="0"/>
                  </a:cubicBezTo>
                  <a:lnTo>
                    <a:pt x="21619211" y="0"/>
                  </a:lnTo>
                  <a:cubicBezTo>
                    <a:pt x="21742781" y="0"/>
                    <a:pt x="21842985" y="100203"/>
                    <a:pt x="21842985" y="223774"/>
                  </a:cubicBezTo>
                  <a:lnTo>
                    <a:pt x="21842985" y="1081786"/>
                  </a:lnTo>
                  <a:cubicBezTo>
                    <a:pt x="21842985" y="1205357"/>
                    <a:pt x="21742781" y="1305560"/>
                    <a:pt x="21619211" y="1305560"/>
                  </a:cubicBezTo>
                  <a:lnTo>
                    <a:pt x="223774" y="1305560"/>
                  </a:lnTo>
                  <a:cubicBezTo>
                    <a:pt x="100203" y="1305560"/>
                    <a:pt x="0" y="1205357"/>
                    <a:pt x="0" y="1081786"/>
                  </a:cubicBezTo>
                  <a:close/>
                </a:path>
              </a:pathLst>
            </a:custGeom>
            <a:solidFill>
              <a:srgbClr val="FFFFFF"/>
            </a:solidFill>
            <a:ln w="19050" cap="sq">
              <a:solidFill>
                <a:srgbClr val="000000"/>
              </a:solidFill>
              <a:prstDash val="solid"/>
              <a:miter/>
            </a:ln>
          </p:spPr>
        </p:sp>
      </p:grpSp>
      <p:grpSp>
        <p:nvGrpSpPr>
          <p:cNvPr name="Group 12" id="12"/>
          <p:cNvGrpSpPr/>
          <p:nvPr/>
        </p:nvGrpSpPr>
        <p:grpSpPr>
          <a:xfrm rot="0">
            <a:off x="1371600" y="8229600"/>
            <a:ext cx="15540228" cy="960120"/>
            <a:chOff x="0" y="0"/>
            <a:chExt cx="20720304" cy="1280160"/>
          </a:xfrm>
        </p:grpSpPr>
        <p:sp>
          <p:nvSpPr>
            <p:cNvPr name="Freeform 13" id="13"/>
            <p:cNvSpPr/>
            <p:nvPr/>
          </p:nvSpPr>
          <p:spPr>
            <a:xfrm flipH="false" flipV="false" rot="0">
              <a:off x="0" y="0"/>
              <a:ext cx="20720304" cy="1280160"/>
            </a:xfrm>
            <a:custGeom>
              <a:avLst/>
              <a:gdLst/>
              <a:ahLst/>
              <a:cxnLst/>
              <a:rect r="r" b="b" t="t" l="l"/>
              <a:pathLst>
                <a:path h="1280160" w="20720304">
                  <a:moveTo>
                    <a:pt x="0" y="0"/>
                  </a:moveTo>
                  <a:lnTo>
                    <a:pt x="20720304" y="0"/>
                  </a:lnTo>
                  <a:lnTo>
                    <a:pt x="20720304" y="1280160"/>
                  </a:lnTo>
                  <a:lnTo>
                    <a:pt x="0" y="1280160"/>
                  </a:lnTo>
                  <a:close/>
                </a:path>
              </a:pathLst>
            </a:custGeom>
            <a:blipFill>
              <a:blip r:embed="rId3">
                <a:alphaModFix amt="0"/>
              </a:blip>
              <a:stretch>
                <a:fillRect l="0" t="-265379" r="0" b="-265379"/>
              </a:stretch>
            </a:blipFill>
          </p:spPr>
        </p:sp>
        <p:sp>
          <p:nvSpPr>
            <p:cNvPr name="TextBox 14" id="14"/>
            <p:cNvSpPr txBox="true"/>
            <p:nvPr/>
          </p:nvSpPr>
          <p:spPr>
            <a:xfrm>
              <a:off x="0" y="-19050"/>
              <a:ext cx="20720304" cy="1299210"/>
            </a:xfrm>
            <a:prstGeom prst="rect">
              <a:avLst/>
            </a:prstGeom>
          </p:spPr>
          <p:txBody>
            <a:bodyPr anchor="ctr" rtlCol="false" tIns="0" lIns="0" bIns="0" rIns="0"/>
            <a:lstStyle/>
            <a:p>
              <a:pPr algn="l">
                <a:lnSpc>
                  <a:spcPts val="2520"/>
                </a:lnSpc>
              </a:pPr>
              <a:r>
                <a:rPr lang="en-US" sz="2100" b="true">
                  <a:solidFill>
                    <a:srgbClr val="000000"/>
                  </a:solidFill>
                  <a:latin typeface="Times New Roman Bold"/>
                  <a:ea typeface="Times New Roman Bold"/>
                  <a:cs typeface="Times New Roman Bold"/>
                  <a:sym typeface="Times New Roman Bold"/>
                </a:rPr>
                <a:t>Each regex becomes one small automaton. The lexer combines them and runs the whole set in a single left-to-right scan.</a:t>
              </a:r>
            </a:p>
          </p:txBody>
        </p:sp>
      </p:grpSp>
      <p:sp>
        <p:nvSpPr>
          <p:cNvPr name="TextBox 15" id="15"/>
          <p:cNvSpPr txBox="true"/>
          <p:nvPr/>
        </p:nvSpPr>
        <p:spPr>
          <a:xfrm rot="0">
            <a:off x="16454628" y="9627870"/>
            <a:ext cx="777240" cy="339090"/>
          </a:xfrm>
          <a:prstGeom prst="rect">
            <a:avLst/>
          </a:prstGeom>
        </p:spPr>
        <p:txBody>
          <a:bodyPr anchor="t" rtlCol="false" tIns="0" lIns="0" bIns="0" rIns="0">
            <a:spAutoFit/>
          </a:bodyPr>
          <a:lstStyle/>
          <a:p>
            <a:pPr algn="r">
              <a:lnSpc>
                <a:spcPts val="1800"/>
              </a:lnSpc>
            </a:pPr>
            <a:r>
              <a:rPr lang="en-US" sz="1500">
                <a:solidFill>
                  <a:srgbClr val="000000"/>
                </a:solidFill>
                <a:latin typeface="Times New Roman"/>
                <a:ea typeface="Times New Roman"/>
                <a:cs typeface="Times New Roman"/>
                <a:sym typeface="Times New Roman"/>
              </a:rPr>
              <a:t>4</a:t>
            </a:r>
          </a:p>
        </p:txBody>
      </p:sp>
      <p:sp>
        <p:nvSpPr>
          <p:cNvPr name="Freeform 16" id="16"/>
          <p:cNvSpPr/>
          <p:nvPr/>
        </p:nvSpPr>
        <p:spPr>
          <a:xfrm flipH="false" flipV="false" rot="0">
            <a:off x="15175541" y="55401"/>
            <a:ext cx="2083759" cy="2083759"/>
          </a:xfrm>
          <a:custGeom>
            <a:avLst/>
            <a:gdLst/>
            <a:ahLst/>
            <a:cxnLst/>
            <a:rect r="r" b="b" t="t" l="l"/>
            <a:pathLst>
              <a:path h="2083759" w="2083759">
                <a:moveTo>
                  <a:pt x="0" y="0"/>
                </a:moveTo>
                <a:lnTo>
                  <a:pt x="2083759" y="0"/>
                </a:lnTo>
                <a:lnTo>
                  <a:pt x="2083759" y="2083758"/>
                </a:lnTo>
                <a:lnTo>
                  <a:pt x="0" y="2083758"/>
                </a:lnTo>
                <a:lnTo>
                  <a:pt x="0" y="0"/>
                </a:lnTo>
                <a:close/>
              </a:path>
            </a:pathLst>
          </a:custGeom>
          <a:blipFill>
            <a:blip r:embed="rId4"/>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9601200"/>
            <a:ext cx="8229600" cy="411480"/>
            <a:chOff x="0" y="0"/>
            <a:chExt cx="10972800" cy="548640"/>
          </a:xfrm>
        </p:grpSpPr>
        <p:sp>
          <p:nvSpPr>
            <p:cNvPr name="Freeform 3" id="3"/>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700" r="0" b="-339700"/>
              </a:stretch>
            </a:blipFill>
          </p:spPr>
        </p:sp>
        <p:sp>
          <p:nvSpPr>
            <p:cNvPr name="TextBox 4" id="4"/>
            <p:cNvSpPr txBox="true"/>
            <p:nvPr/>
          </p:nvSpPr>
          <p:spPr>
            <a:xfrm>
              <a:off x="0" y="-19050"/>
              <a:ext cx="10972800" cy="567690"/>
            </a:xfrm>
            <a:prstGeom prst="rect">
              <a:avLst/>
            </a:prstGeom>
          </p:spPr>
          <p:txBody>
            <a:bodyPr anchor="ctr" rtlCol="false" tIns="0" lIns="0" bIns="0" rIns="0"/>
            <a:lstStyle/>
            <a:p>
              <a:pPr algn="l">
                <a:lnSpc>
                  <a:spcPts val="1800"/>
                </a:lnSpc>
              </a:pPr>
              <a:r>
                <a:rPr lang="en-US" sz="1500">
                  <a:solidFill>
                    <a:srgbClr val="000000"/>
                  </a:solidFill>
                  <a:latin typeface="Times New Roman"/>
                  <a:ea typeface="Times New Roman"/>
                  <a:cs typeface="Times New Roman"/>
                  <a:sym typeface="Times New Roman"/>
                </a:rPr>
                <a:t>Building an FSA for Token Recognition</a:t>
              </a:r>
            </a:p>
          </p:txBody>
        </p:sp>
      </p:grpSp>
      <p:grpSp>
        <p:nvGrpSpPr>
          <p:cNvPr name="Group 5" id="5"/>
          <p:cNvGrpSpPr/>
          <p:nvPr/>
        </p:nvGrpSpPr>
        <p:grpSpPr>
          <a:xfrm rot="0">
            <a:off x="960120" y="548640"/>
            <a:ext cx="15361920" cy="1097280"/>
            <a:chOff x="0" y="0"/>
            <a:chExt cx="20482560" cy="1463040"/>
          </a:xfrm>
        </p:grpSpPr>
        <p:sp>
          <p:nvSpPr>
            <p:cNvPr name="Freeform 6" id="6"/>
            <p:cNvSpPr/>
            <p:nvPr/>
          </p:nvSpPr>
          <p:spPr>
            <a:xfrm flipH="false" flipV="false" rot="0">
              <a:off x="0" y="0"/>
              <a:ext cx="20482561" cy="1463040"/>
            </a:xfrm>
            <a:custGeom>
              <a:avLst/>
              <a:gdLst/>
              <a:ahLst/>
              <a:cxnLst/>
              <a:rect r="r" b="b" t="t" l="l"/>
              <a:pathLst>
                <a:path h="1463040" w="20482561">
                  <a:moveTo>
                    <a:pt x="0" y="0"/>
                  </a:moveTo>
                  <a:lnTo>
                    <a:pt x="20482561" y="0"/>
                  </a:lnTo>
                  <a:lnTo>
                    <a:pt x="20482561" y="1463040"/>
                  </a:lnTo>
                  <a:lnTo>
                    <a:pt x="0" y="1463040"/>
                  </a:lnTo>
                  <a:close/>
                </a:path>
              </a:pathLst>
            </a:custGeom>
            <a:blipFill>
              <a:blip r:embed="rId3">
                <a:alphaModFix amt="0"/>
              </a:blip>
              <a:stretch>
                <a:fillRect l="0" t="-222790" r="0" b="-222790"/>
              </a:stretch>
            </a:blipFill>
          </p:spPr>
        </p:sp>
        <p:sp>
          <p:nvSpPr>
            <p:cNvPr name="TextBox 7" id="7"/>
            <p:cNvSpPr txBox="true"/>
            <p:nvPr/>
          </p:nvSpPr>
          <p:spPr>
            <a:xfrm>
              <a:off x="0" y="-28575"/>
              <a:ext cx="20482560" cy="1491615"/>
            </a:xfrm>
            <a:prstGeom prst="rect">
              <a:avLst/>
            </a:prstGeom>
          </p:spPr>
          <p:txBody>
            <a:bodyPr anchor="ctr" rtlCol="false" tIns="0" lIns="0" bIns="0" rIns="0"/>
            <a:lstStyle/>
            <a:p>
              <a:pPr algn="l">
                <a:lnSpc>
                  <a:spcPts val="6120"/>
                </a:lnSpc>
              </a:pPr>
              <a:r>
                <a:rPr lang="en-US" sz="5100" b="true">
                  <a:solidFill>
                    <a:srgbClr val="000000"/>
                  </a:solidFill>
                  <a:latin typeface="Times New Roman Bold"/>
                  <a:ea typeface="Times New Roman Bold"/>
                  <a:cs typeface="Times New Roman Bold"/>
                  <a:sym typeface="Times New Roman Bold"/>
                </a:rPr>
                <a:t>A DFA is a five-tuple</a:t>
              </a:r>
            </a:p>
          </p:txBody>
        </p:sp>
      </p:grpSp>
      <p:sp>
        <p:nvSpPr>
          <p:cNvPr name="TextBox 8" id="8"/>
          <p:cNvSpPr txBox="true"/>
          <p:nvPr/>
        </p:nvSpPr>
        <p:spPr>
          <a:xfrm rot="0">
            <a:off x="960120" y="1773555"/>
            <a:ext cx="15361920" cy="558165"/>
          </a:xfrm>
          <a:prstGeom prst="rect">
            <a:avLst/>
          </a:prstGeom>
        </p:spPr>
        <p:txBody>
          <a:bodyPr anchor="t" rtlCol="false" tIns="0" lIns="0" bIns="0" rIns="0">
            <a:spAutoFit/>
          </a:bodyPr>
          <a:lstStyle/>
          <a:p>
            <a:pPr algn="l">
              <a:lnSpc>
                <a:spcPts val="2879"/>
              </a:lnSpc>
            </a:pPr>
            <a:r>
              <a:rPr lang="en-US" sz="2400">
                <a:solidFill>
                  <a:srgbClr val="000000"/>
                </a:solidFill>
                <a:latin typeface="Times New Roman"/>
                <a:ea typeface="Times New Roman"/>
                <a:cs typeface="Times New Roman"/>
                <a:sym typeface="Times New Roman"/>
              </a:rPr>
              <a:t>M = (Q, Σ, δ, q0, F). Each part has a concrete job inside a lexer.</a:t>
            </a:r>
          </a:p>
        </p:txBody>
      </p:sp>
      <p:sp>
        <p:nvSpPr>
          <p:cNvPr name="TextBox 9" id="9"/>
          <p:cNvSpPr txBox="true"/>
          <p:nvPr/>
        </p:nvSpPr>
        <p:spPr>
          <a:xfrm rot="0">
            <a:off x="2331720" y="2518410"/>
            <a:ext cx="5486400" cy="430530"/>
          </a:xfrm>
          <a:prstGeom prst="rect">
            <a:avLst/>
          </a:prstGeom>
        </p:spPr>
        <p:txBody>
          <a:bodyPr anchor="t" rtlCol="false" tIns="0" lIns="0" bIns="0" rIns="0">
            <a:spAutoFit/>
          </a:bodyPr>
          <a:lstStyle/>
          <a:p>
            <a:pPr algn="l">
              <a:lnSpc>
                <a:spcPts val="1980"/>
              </a:lnSpc>
            </a:pPr>
            <a:r>
              <a:rPr lang="en-US" b="true" sz="1650" spc="299">
                <a:solidFill>
                  <a:srgbClr val="000000"/>
                </a:solidFill>
                <a:latin typeface="Times New Roman Bold"/>
                <a:ea typeface="Times New Roman Bold"/>
                <a:cs typeface="Times New Roman Bold"/>
                <a:sym typeface="Times New Roman Bold"/>
              </a:rPr>
              <a:t>FORMAL PART</a:t>
            </a:r>
          </a:p>
        </p:txBody>
      </p:sp>
      <p:sp>
        <p:nvSpPr>
          <p:cNvPr name="TextBox 10" id="10"/>
          <p:cNvSpPr txBox="true"/>
          <p:nvPr/>
        </p:nvSpPr>
        <p:spPr>
          <a:xfrm rot="0">
            <a:off x="9052560" y="2518410"/>
            <a:ext cx="6858000" cy="430530"/>
          </a:xfrm>
          <a:prstGeom prst="rect">
            <a:avLst/>
          </a:prstGeom>
        </p:spPr>
        <p:txBody>
          <a:bodyPr anchor="t" rtlCol="false" tIns="0" lIns="0" bIns="0" rIns="0">
            <a:spAutoFit/>
          </a:bodyPr>
          <a:lstStyle/>
          <a:p>
            <a:pPr algn="l">
              <a:lnSpc>
                <a:spcPts val="1980"/>
              </a:lnSpc>
            </a:pPr>
            <a:r>
              <a:rPr lang="en-US" b="true" sz="1650" spc="299">
                <a:solidFill>
                  <a:srgbClr val="000000"/>
                </a:solidFill>
                <a:latin typeface="Times New Roman Bold"/>
                <a:ea typeface="Times New Roman Bold"/>
                <a:cs typeface="Times New Roman Bold"/>
                <a:sym typeface="Times New Roman Bold"/>
              </a:rPr>
              <a:t>ROLE IN A LEXER</a:t>
            </a:r>
          </a:p>
        </p:txBody>
      </p:sp>
      <p:grpSp>
        <p:nvGrpSpPr>
          <p:cNvPr name="Group 11" id="11"/>
          <p:cNvGrpSpPr/>
          <p:nvPr/>
        </p:nvGrpSpPr>
        <p:grpSpPr>
          <a:xfrm rot="0">
            <a:off x="950595" y="3076575"/>
            <a:ext cx="16382238" cy="1047750"/>
            <a:chOff x="0" y="0"/>
            <a:chExt cx="21842984" cy="1397000"/>
          </a:xfrm>
        </p:grpSpPr>
        <p:sp>
          <p:nvSpPr>
            <p:cNvPr name="Freeform 12" id="12"/>
            <p:cNvSpPr/>
            <p:nvPr/>
          </p:nvSpPr>
          <p:spPr>
            <a:xfrm flipH="false" flipV="false" rot="0">
              <a:off x="0" y="0"/>
              <a:ext cx="21842983" cy="1397000"/>
            </a:xfrm>
            <a:custGeom>
              <a:avLst/>
              <a:gdLst/>
              <a:ahLst/>
              <a:cxnLst/>
              <a:rect r="r" b="b" t="t" l="l"/>
              <a:pathLst>
                <a:path h="1397000" w="21842983">
                  <a:moveTo>
                    <a:pt x="0" y="223520"/>
                  </a:moveTo>
                  <a:cubicBezTo>
                    <a:pt x="0" y="100076"/>
                    <a:pt x="100076" y="0"/>
                    <a:pt x="223520" y="0"/>
                  </a:cubicBezTo>
                  <a:lnTo>
                    <a:pt x="21619463" y="0"/>
                  </a:lnTo>
                  <a:cubicBezTo>
                    <a:pt x="21742907" y="0"/>
                    <a:pt x="21842983" y="100076"/>
                    <a:pt x="21842983" y="223520"/>
                  </a:cubicBezTo>
                  <a:lnTo>
                    <a:pt x="21842983" y="1173480"/>
                  </a:lnTo>
                  <a:cubicBezTo>
                    <a:pt x="21842983" y="1296924"/>
                    <a:pt x="21742907" y="1397000"/>
                    <a:pt x="21619463" y="1397000"/>
                  </a:cubicBezTo>
                  <a:lnTo>
                    <a:pt x="223520" y="1397000"/>
                  </a:lnTo>
                  <a:cubicBezTo>
                    <a:pt x="100076" y="1397000"/>
                    <a:pt x="0" y="1296924"/>
                    <a:pt x="0" y="1173480"/>
                  </a:cubicBezTo>
                  <a:close/>
                </a:path>
              </a:pathLst>
            </a:custGeom>
            <a:solidFill>
              <a:srgbClr val="FFFFFF"/>
            </a:solidFill>
            <a:ln w="19050" cap="sq">
              <a:solidFill>
                <a:srgbClr val="000000"/>
              </a:solidFill>
              <a:prstDash val="solid"/>
              <a:miter/>
            </a:ln>
          </p:spPr>
        </p:sp>
      </p:grpSp>
      <p:grpSp>
        <p:nvGrpSpPr>
          <p:cNvPr name="Group 13" id="13"/>
          <p:cNvGrpSpPr/>
          <p:nvPr/>
        </p:nvGrpSpPr>
        <p:grpSpPr>
          <a:xfrm rot="0">
            <a:off x="1110424" y="3195256"/>
            <a:ext cx="810387" cy="810387"/>
            <a:chOff x="0" y="0"/>
            <a:chExt cx="1080516" cy="1080516"/>
          </a:xfrm>
        </p:grpSpPr>
        <p:sp>
          <p:nvSpPr>
            <p:cNvPr name="Freeform 14" id="14"/>
            <p:cNvSpPr/>
            <p:nvPr/>
          </p:nvSpPr>
          <p:spPr>
            <a:xfrm flipH="false" flipV="false" rot="0">
              <a:off x="0" y="0"/>
              <a:ext cx="1080516" cy="1080516"/>
            </a:xfrm>
            <a:custGeom>
              <a:avLst/>
              <a:gdLst/>
              <a:ahLst/>
              <a:cxnLst/>
              <a:rect r="r" b="b" t="t" l="l"/>
              <a:pathLst>
                <a:path h="1080516" w="1080516">
                  <a:moveTo>
                    <a:pt x="0" y="540258"/>
                  </a:moveTo>
                  <a:cubicBezTo>
                    <a:pt x="0" y="241935"/>
                    <a:pt x="241935" y="0"/>
                    <a:pt x="540258" y="0"/>
                  </a:cubicBezTo>
                  <a:cubicBezTo>
                    <a:pt x="838581" y="0"/>
                    <a:pt x="1080516" y="241935"/>
                    <a:pt x="1080516" y="540258"/>
                  </a:cubicBezTo>
                  <a:cubicBezTo>
                    <a:pt x="1080516" y="838581"/>
                    <a:pt x="838581" y="1080516"/>
                    <a:pt x="540258" y="1080516"/>
                  </a:cubicBezTo>
                  <a:cubicBezTo>
                    <a:pt x="241935" y="1080516"/>
                    <a:pt x="0" y="838581"/>
                    <a:pt x="0" y="540258"/>
                  </a:cubicBezTo>
                  <a:close/>
                </a:path>
              </a:pathLst>
            </a:custGeom>
            <a:solidFill>
              <a:srgbClr val="FFFFFF"/>
            </a:solidFill>
            <a:ln w="28575" cap="sq">
              <a:solidFill>
                <a:srgbClr val="000000"/>
              </a:solidFill>
              <a:prstDash val="solid"/>
              <a:miter/>
            </a:ln>
          </p:spPr>
        </p:sp>
      </p:grpSp>
      <p:grpSp>
        <p:nvGrpSpPr>
          <p:cNvPr name="Group 15" id="15"/>
          <p:cNvGrpSpPr/>
          <p:nvPr/>
        </p:nvGrpSpPr>
        <p:grpSpPr>
          <a:xfrm rot="0">
            <a:off x="1124712" y="3209544"/>
            <a:ext cx="781812" cy="781812"/>
            <a:chOff x="0" y="0"/>
            <a:chExt cx="1042416" cy="1042416"/>
          </a:xfrm>
        </p:grpSpPr>
        <p:sp>
          <p:nvSpPr>
            <p:cNvPr name="Freeform 16" id="16"/>
            <p:cNvSpPr/>
            <p:nvPr/>
          </p:nvSpPr>
          <p:spPr>
            <a:xfrm flipH="false" flipV="false" rot="0">
              <a:off x="0" y="0"/>
              <a:ext cx="1042416" cy="1042416"/>
            </a:xfrm>
            <a:custGeom>
              <a:avLst/>
              <a:gdLst/>
              <a:ahLst/>
              <a:cxnLst/>
              <a:rect r="r" b="b" t="t" l="l"/>
              <a:pathLst>
                <a:path h="1042416" w="1042416">
                  <a:moveTo>
                    <a:pt x="0" y="0"/>
                  </a:moveTo>
                  <a:lnTo>
                    <a:pt x="1042416" y="0"/>
                  </a:lnTo>
                  <a:lnTo>
                    <a:pt x="1042416" y="1042416"/>
                  </a:lnTo>
                  <a:lnTo>
                    <a:pt x="0" y="1042416"/>
                  </a:lnTo>
                  <a:close/>
                </a:path>
              </a:pathLst>
            </a:custGeom>
            <a:blipFill>
              <a:blip r:embed="rId3">
                <a:alphaModFix amt="0"/>
              </a:blip>
              <a:stretch>
                <a:fillRect l="-78303" t="0" r="-78303" b="0"/>
              </a:stretch>
            </a:blipFill>
          </p:spPr>
        </p:sp>
        <p:sp>
          <p:nvSpPr>
            <p:cNvPr name="TextBox 17" id="17"/>
            <p:cNvSpPr txBox="true"/>
            <p:nvPr/>
          </p:nvSpPr>
          <p:spPr>
            <a:xfrm>
              <a:off x="0" y="-19050"/>
              <a:ext cx="1042416" cy="1061466"/>
            </a:xfrm>
            <a:prstGeom prst="rect">
              <a:avLst/>
            </a:prstGeom>
          </p:spPr>
          <p:txBody>
            <a:bodyPr anchor="ctr" rtlCol="false" tIns="0" lIns="0" bIns="0" rIns="0"/>
            <a:lstStyle/>
            <a:p>
              <a:pPr algn="ctr">
                <a:lnSpc>
                  <a:spcPts val="3240"/>
                </a:lnSpc>
              </a:pPr>
              <a:r>
                <a:rPr lang="en-US" sz="2700" b="true">
                  <a:solidFill>
                    <a:srgbClr val="000000"/>
                  </a:solidFill>
                  <a:latin typeface="Times New Roman Bold"/>
                  <a:ea typeface="Times New Roman Bold"/>
                  <a:cs typeface="Times New Roman Bold"/>
                  <a:sym typeface="Times New Roman Bold"/>
                </a:rPr>
                <a:t>Q</a:t>
              </a:r>
            </a:p>
          </p:txBody>
        </p:sp>
      </p:grpSp>
      <p:grpSp>
        <p:nvGrpSpPr>
          <p:cNvPr name="Group 18" id="18"/>
          <p:cNvGrpSpPr/>
          <p:nvPr/>
        </p:nvGrpSpPr>
        <p:grpSpPr>
          <a:xfrm rot="0">
            <a:off x="2331720" y="3086100"/>
            <a:ext cx="6446520" cy="1028700"/>
            <a:chOff x="0" y="0"/>
            <a:chExt cx="8595360" cy="1371600"/>
          </a:xfrm>
        </p:grpSpPr>
        <p:sp>
          <p:nvSpPr>
            <p:cNvPr name="Freeform 19" id="19"/>
            <p:cNvSpPr/>
            <p:nvPr/>
          </p:nvSpPr>
          <p:spPr>
            <a:xfrm flipH="false" flipV="false" rot="0">
              <a:off x="0" y="0"/>
              <a:ext cx="8595360" cy="1371600"/>
            </a:xfrm>
            <a:custGeom>
              <a:avLst/>
              <a:gdLst/>
              <a:ahLst/>
              <a:cxnLst/>
              <a:rect r="r" b="b" t="t" l="l"/>
              <a:pathLst>
                <a:path h="1371600" w="8595360">
                  <a:moveTo>
                    <a:pt x="0" y="0"/>
                  </a:moveTo>
                  <a:lnTo>
                    <a:pt x="8595360" y="0"/>
                  </a:lnTo>
                  <a:lnTo>
                    <a:pt x="8595360" y="1371600"/>
                  </a:lnTo>
                  <a:lnTo>
                    <a:pt x="0" y="1371600"/>
                  </a:lnTo>
                  <a:close/>
                </a:path>
              </a:pathLst>
            </a:custGeom>
            <a:blipFill>
              <a:blip r:embed="rId3">
                <a:alphaModFix amt="0"/>
              </a:blip>
              <a:stretch>
                <a:fillRect l="0" t="-72106" r="0" b="-72106"/>
              </a:stretch>
            </a:blipFill>
          </p:spPr>
        </p:sp>
        <p:sp>
          <p:nvSpPr>
            <p:cNvPr name="TextBox 20" id="20"/>
            <p:cNvSpPr txBox="true"/>
            <p:nvPr/>
          </p:nvSpPr>
          <p:spPr>
            <a:xfrm>
              <a:off x="0" y="-9525"/>
              <a:ext cx="8595360" cy="1381125"/>
            </a:xfrm>
            <a:prstGeom prst="rect">
              <a:avLst/>
            </a:prstGeom>
          </p:spPr>
          <p:txBody>
            <a:bodyPr anchor="ctr" rtlCol="false" tIns="0" lIns="0" bIns="0" rIns="0"/>
            <a:lstStyle/>
            <a:p>
              <a:pPr algn="l">
                <a:lnSpc>
                  <a:spcPts val="2879"/>
                </a:lnSpc>
              </a:pPr>
              <a:r>
                <a:rPr lang="en-US" sz="2400" b="true">
                  <a:solidFill>
                    <a:srgbClr val="000000"/>
                  </a:solidFill>
                  <a:latin typeface="Times New Roman Bold"/>
                  <a:ea typeface="Times New Roman Bold"/>
                  <a:cs typeface="Times New Roman Bold"/>
                  <a:sym typeface="Times New Roman Bold"/>
                </a:rPr>
                <a:t>Finite set of states</a:t>
              </a:r>
            </a:p>
          </p:txBody>
        </p:sp>
      </p:grpSp>
      <p:grpSp>
        <p:nvGrpSpPr>
          <p:cNvPr name="Group 21" id="21"/>
          <p:cNvGrpSpPr/>
          <p:nvPr/>
        </p:nvGrpSpPr>
        <p:grpSpPr>
          <a:xfrm rot="0">
            <a:off x="9052560" y="3086100"/>
            <a:ext cx="7955280" cy="1028700"/>
            <a:chOff x="0" y="0"/>
            <a:chExt cx="10607040" cy="1371600"/>
          </a:xfrm>
        </p:grpSpPr>
        <p:sp>
          <p:nvSpPr>
            <p:cNvPr name="Freeform 22" id="22"/>
            <p:cNvSpPr/>
            <p:nvPr/>
          </p:nvSpPr>
          <p:spPr>
            <a:xfrm flipH="false" flipV="false" rot="0">
              <a:off x="0" y="0"/>
              <a:ext cx="10607040" cy="1371600"/>
            </a:xfrm>
            <a:custGeom>
              <a:avLst/>
              <a:gdLst/>
              <a:ahLst/>
              <a:cxnLst/>
              <a:rect r="r" b="b" t="t" l="l"/>
              <a:pathLst>
                <a:path h="1371600" w="10607040">
                  <a:moveTo>
                    <a:pt x="0" y="0"/>
                  </a:moveTo>
                  <a:lnTo>
                    <a:pt x="10607040" y="0"/>
                  </a:lnTo>
                  <a:lnTo>
                    <a:pt x="10607040" y="1371600"/>
                  </a:lnTo>
                  <a:lnTo>
                    <a:pt x="0" y="1371600"/>
                  </a:lnTo>
                  <a:close/>
                </a:path>
              </a:pathLst>
            </a:custGeom>
            <a:blipFill>
              <a:blip r:embed="rId3">
                <a:alphaModFix amt="0"/>
              </a:blip>
              <a:stretch>
                <a:fillRect l="0" t="-100684" r="0" b="-100684"/>
              </a:stretch>
            </a:blipFill>
          </p:spPr>
        </p:sp>
        <p:sp>
          <p:nvSpPr>
            <p:cNvPr name="TextBox 23" id="23"/>
            <p:cNvSpPr txBox="true"/>
            <p:nvPr/>
          </p:nvSpPr>
          <p:spPr>
            <a:xfrm>
              <a:off x="0" y="-19050"/>
              <a:ext cx="10607040" cy="1390650"/>
            </a:xfrm>
            <a:prstGeom prst="rect">
              <a:avLst/>
            </a:prstGeom>
          </p:spPr>
          <p:txBody>
            <a:bodyPr anchor="ctr" rtlCol="false" tIns="0" lIns="0" bIns="0" rIns="0"/>
            <a:lstStyle/>
            <a:p>
              <a:pPr algn="l">
                <a:lnSpc>
                  <a:spcPts val="2520"/>
                </a:lnSpc>
              </a:pPr>
              <a:r>
                <a:rPr lang="en-US" sz="2100">
                  <a:solidFill>
                    <a:srgbClr val="000000"/>
                  </a:solidFill>
                  <a:latin typeface="Times New Roman"/>
                  <a:ea typeface="Times New Roman"/>
                  <a:cs typeface="Times New Roman"/>
                  <a:sym typeface="Times New Roman"/>
                </a:rPr>
                <a:t>How much of a token has been read so far</a:t>
              </a:r>
            </a:p>
          </p:txBody>
        </p:sp>
      </p:grpSp>
      <p:grpSp>
        <p:nvGrpSpPr>
          <p:cNvPr name="Group 24" id="24"/>
          <p:cNvGrpSpPr/>
          <p:nvPr/>
        </p:nvGrpSpPr>
        <p:grpSpPr>
          <a:xfrm rot="0">
            <a:off x="950595" y="4283583"/>
            <a:ext cx="16382238" cy="1047750"/>
            <a:chOff x="0" y="0"/>
            <a:chExt cx="21842984" cy="1397000"/>
          </a:xfrm>
        </p:grpSpPr>
        <p:sp>
          <p:nvSpPr>
            <p:cNvPr name="Freeform 25" id="25"/>
            <p:cNvSpPr/>
            <p:nvPr/>
          </p:nvSpPr>
          <p:spPr>
            <a:xfrm flipH="false" flipV="false" rot="0">
              <a:off x="0" y="0"/>
              <a:ext cx="21842983" cy="1397000"/>
            </a:xfrm>
            <a:custGeom>
              <a:avLst/>
              <a:gdLst/>
              <a:ahLst/>
              <a:cxnLst/>
              <a:rect r="r" b="b" t="t" l="l"/>
              <a:pathLst>
                <a:path h="1397000" w="21842983">
                  <a:moveTo>
                    <a:pt x="0" y="223520"/>
                  </a:moveTo>
                  <a:cubicBezTo>
                    <a:pt x="0" y="100076"/>
                    <a:pt x="100076" y="0"/>
                    <a:pt x="223520" y="0"/>
                  </a:cubicBezTo>
                  <a:lnTo>
                    <a:pt x="21619463" y="0"/>
                  </a:lnTo>
                  <a:cubicBezTo>
                    <a:pt x="21742907" y="0"/>
                    <a:pt x="21842983" y="100076"/>
                    <a:pt x="21842983" y="223520"/>
                  </a:cubicBezTo>
                  <a:lnTo>
                    <a:pt x="21842983" y="1173480"/>
                  </a:lnTo>
                  <a:cubicBezTo>
                    <a:pt x="21842983" y="1296924"/>
                    <a:pt x="21742907" y="1397000"/>
                    <a:pt x="21619463" y="1397000"/>
                  </a:cubicBezTo>
                  <a:lnTo>
                    <a:pt x="223520" y="1397000"/>
                  </a:lnTo>
                  <a:cubicBezTo>
                    <a:pt x="100076" y="1397000"/>
                    <a:pt x="0" y="1296924"/>
                    <a:pt x="0" y="1173480"/>
                  </a:cubicBezTo>
                  <a:close/>
                </a:path>
              </a:pathLst>
            </a:custGeom>
            <a:solidFill>
              <a:srgbClr val="FFFFFF"/>
            </a:solidFill>
            <a:ln w="19050" cap="sq">
              <a:solidFill>
                <a:srgbClr val="000000"/>
              </a:solidFill>
              <a:prstDash val="solid"/>
              <a:miter/>
            </a:ln>
          </p:spPr>
        </p:sp>
      </p:grpSp>
      <p:grpSp>
        <p:nvGrpSpPr>
          <p:cNvPr name="Group 26" id="26"/>
          <p:cNvGrpSpPr/>
          <p:nvPr/>
        </p:nvGrpSpPr>
        <p:grpSpPr>
          <a:xfrm rot="0">
            <a:off x="1110424" y="4402264"/>
            <a:ext cx="810387" cy="810387"/>
            <a:chOff x="0" y="0"/>
            <a:chExt cx="1080516" cy="1080516"/>
          </a:xfrm>
        </p:grpSpPr>
        <p:sp>
          <p:nvSpPr>
            <p:cNvPr name="Freeform 27" id="27"/>
            <p:cNvSpPr/>
            <p:nvPr/>
          </p:nvSpPr>
          <p:spPr>
            <a:xfrm flipH="false" flipV="false" rot="0">
              <a:off x="0" y="0"/>
              <a:ext cx="1080516" cy="1080516"/>
            </a:xfrm>
            <a:custGeom>
              <a:avLst/>
              <a:gdLst/>
              <a:ahLst/>
              <a:cxnLst/>
              <a:rect r="r" b="b" t="t" l="l"/>
              <a:pathLst>
                <a:path h="1080516" w="1080516">
                  <a:moveTo>
                    <a:pt x="0" y="540258"/>
                  </a:moveTo>
                  <a:cubicBezTo>
                    <a:pt x="0" y="241935"/>
                    <a:pt x="241935" y="0"/>
                    <a:pt x="540258" y="0"/>
                  </a:cubicBezTo>
                  <a:cubicBezTo>
                    <a:pt x="838581" y="0"/>
                    <a:pt x="1080516" y="241935"/>
                    <a:pt x="1080516" y="540258"/>
                  </a:cubicBezTo>
                  <a:cubicBezTo>
                    <a:pt x="1080516" y="838581"/>
                    <a:pt x="838581" y="1080516"/>
                    <a:pt x="540258" y="1080516"/>
                  </a:cubicBezTo>
                  <a:cubicBezTo>
                    <a:pt x="241935" y="1080516"/>
                    <a:pt x="0" y="838581"/>
                    <a:pt x="0" y="540258"/>
                  </a:cubicBezTo>
                  <a:close/>
                </a:path>
              </a:pathLst>
            </a:custGeom>
            <a:solidFill>
              <a:srgbClr val="FFFFFF"/>
            </a:solidFill>
            <a:ln w="28575" cap="sq">
              <a:solidFill>
                <a:srgbClr val="000000"/>
              </a:solidFill>
              <a:prstDash val="solid"/>
              <a:miter/>
            </a:ln>
          </p:spPr>
        </p:sp>
      </p:grpSp>
      <p:grpSp>
        <p:nvGrpSpPr>
          <p:cNvPr name="Group 28" id="28"/>
          <p:cNvGrpSpPr/>
          <p:nvPr/>
        </p:nvGrpSpPr>
        <p:grpSpPr>
          <a:xfrm rot="0">
            <a:off x="1124712" y="4416552"/>
            <a:ext cx="781812" cy="781812"/>
            <a:chOff x="0" y="0"/>
            <a:chExt cx="1042416" cy="1042416"/>
          </a:xfrm>
        </p:grpSpPr>
        <p:sp>
          <p:nvSpPr>
            <p:cNvPr name="Freeform 29" id="29"/>
            <p:cNvSpPr/>
            <p:nvPr/>
          </p:nvSpPr>
          <p:spPr>
            <a:xfrm flipH="false" flipV="false" rot="0">
              <a:off x="0" y="0"/>
              <a:ext cx="1042416" cy="1042416"/>
            </a:xfrm>
            <a:custGeom>
              <a:avLst/>
              <a:gdLst/>
              <a:ahLst/>
              <a:cxnLst/>
              <a:rect r="r" b="b" t="t" l="l"/>
              <a:pathLst>
                <a:path h="1042416" w="1042416">
                  <a:moveTo>
                    <a:pt x="0" y="0"/>
                  </a:moveTo>
                  <a:lnTo>
                    <a:pt x="1042416" y="0"/>
                  </a:lnTo>
                  <a:lnTo>
                    <a:pt x="1042416" y="1042416"/>
                  </a:lnTo>
                  <a:lnTo>
                    <a:pt x="0" y="1042416"/>
                  </a:lnTo>
                  <a:close/>
                </a:path>
              </a:pathLst>
            </a:custGeom>
            <a:blipFill>
              <a:blip r:embed="rId3">
                <a:alphaModFix amt="0"/>
              </a:blip>
              <a:stretch>
                <a:fillRect l="-78303" t="0" r="-78303" b="0"/>
              </a:stretch>
            </a:blipFill>
          </p:spPr>
        </p:sp>
        <p:sp>
          <p:nvSpPr>
            <p:cNvPr name="TextBox 30" id="30"/>
            <p:cNvSpPr txBox="true"/>
            <p:nvPr/>
          </p:nvSpPr>
          <p:spPr>
            <a:xfrm>
              <a:off x="0" y="-19050"/>
              <a:ext cx="1042416" cy="1061466"/>
            </a:xfrm>
            <a:prstGeom prst="rect">
              <a:avLst/>
            </a:prstGeom>
          </p:spPr>
          <p:txBody>
            <a:bodyPr anchor="ctr" rtlCol="false" tIns="0" lIns="0" bIns="0" rIns="0"/>
            <a:lstStyle/>
            <a:p>
              <a:pPr algn="ctr">
                <a:lnSpc>
                  <a:spcPts val="3240"/>
                </a:lnSpc>
              </a:pPr>
              <a:r>
                <a:rPr lang="en-US" sz="2700" b="true">
                  <a:solidFill>
                    <a:srgbClr val="000000"/>
                  </a:solidFill>
                  <a:latin typeface="Times New Roman Bold"/>
                  <a:ea typeface="Times New Roman Bold"/>
                  <a:cs typeface="Times New Roman Bold"/>
                  <a:sym typeface="Times New Roman Bold"/>
                </a:rPr>
                <a:t>Σ</a:t>
              </a:r>
            </a:p>
          </p:txBody>
        </p:sp>
      </p:grpSp>
      <p:grpSp>
        <p:nvGrpSpPr>
          <p:cNvPr name="Group 31" id="31"/>
          <p:cNvGrpSpPr/>
          <p:nvPr/>
        </p:nvGrpSpPr>
        <p:grpSpPr>
          <a:xfrm rot="0">
            <a:off x="2331720" y="4293108"/>
            <a:ext cx="6446520" cy="1028700"/>
            <a:chOff x="0" y="0"/>
            <a:chExt cx="8595360" cy="1371600"/>
          </a:xfrm>
        </p:grpSpPr>
        <p:sp>
          <p:nvSpPr>
            <p:cNvPr name="Freeform 32" id="32"/>
            <p:cNvSpPr/>
            <p:nvPr/>
          </p:nvSpPr>
          <p:spPr>
            <a:xfrm flipH="false" flipV="false" rot="0">
              <a:off x="0" y="0"/>
              <a:ext cx="8595360" cy="1371600"/>
            </a:xfrm>
            <a:custGeom>
              <a:avLst/>
              <a:gdLst/>
              <a:ahLst/>
              <a:cxnLst/>
              <a:rect r="r" b="b" t="t" l="l"/>
              <a:pathLst>
                <a:path h="1371600" w="8595360">
                  <a:moveTo>
                    <a:pt x="0" y="0"/>
                  </a:moveTo>
                  <a:lnTo>
                    <a:pt x="8595360" y="0"/>
                  </a:lnTo>
                  <a:lnTo>
                    <a:pt x="8595360" y="1371600"/>
                  </a:lnTo>
                  <a:lnTo>
                    <a:pt x="0" y="1371600"/>
                  </a:lnTo>
                  <a:close/>
                </a:path>
              </a:pathLst>
            </a:custGeom>
            <a:blipFill>
              <a:blip r:embed="rId3">
                <a:alphaModFix amt="0"/>
              </a:blip>
              <a:stretch>
                <a:fillRect l="0" t="-72106" r="0" b="-72106"/>
              </a:stretch>
            </a:blipFill>
          </p:spPr>
        </p:sp>
        <p:sp>
          <p:nvSpPr>
            <p:cNvPr name="TextBox 33" id="33"/>
            <p:cNvSpPr txBox="true"/>
            <p:nvPr/>
          </p:nvSpPr>
          <p:spPr>
            <a:xfrm>
              <a:off x="0" y="-9525"/>
              <a:ext cx="8595360" cy="1381125"/>
            </a:xfrm>
            <a:prstGeom prst="rect">
              <a:avLst/>
            </a:prstGeom>
          </p:spPr>
          <p:txBody>
            <a:bodyPr anchor="ctr" rtlCol="false" tIns="0" lIns="0" bIns="0" rIns="0"/>
            <a:lstStyle/>
            <a:p>
              <a:pPr algn="l">
                <a:lnSpc>
                  <a:spcPts val="2879"/>
                </a:lnSpc>
              </a:pPr>
              <a:r>
                <a:rPr lang="en-US" sz="2400" b="true">
                  <a:solidFill>
                    <a:srgbClr val="000000"/>
                  </a:solidFill>
                  <a:latin typeface="Times New Roman Bold"/>
                  <a:ea typeface="Times New Roman Bold"/>
                  <a:cs typeface="Times New Roman Bold"/>
                  <a:sym typeface="Times New Roman Bold"/>
                </a:rPr>
                <a:t>Input alphabet</a:t>
              </a:r>
            </a:p>
          </p:txBody>
        </p:sp>
      </p:grpSp>
      <p:grpSp>
        <p:nvGrpSpPr>
          <p:cNvPr name="Group 34" id="34"/>
          <p:cNvGrpSpPr/>
          <p:nvPr/>
        </p:nvGrpSpPr>
        <p:grpSpPr>
          <a:xfrm rot="0">
            <a:off x="9052560" y="4293108"/>
            <a:ext cx="7955280" cy="1028700"/>
            <a:chOff x="0" y="0"/>
            <a:chExt cx="10607040" cy="1371600"/>
          </a:xfrm>
        </p:grpSpPr>
        <p:sp>
          <p:nvSpPr>
            <p:cNvPr name="Freeform 35" id="35"/>
            <p:cNvSpPr/>
            <p:nvPr/>
          </p:nvSpPr>
          <p:spPr>
            <a:xfrm flipH="false" flipV="false" rot="0">
              <a:off x="0" y="0"/>
              <a:ext cx="10607040" cy="1371600"/>
            </a:xfrm>
            <a:custGeom>
              <a:avLst/>
              <a:gdLst/>
              <a:ahLst/>
              <a:cxnLst/>
              <a:rect r="r" b="b" t="t" l="l"/>
              <a:pathLst>
                <a:path h="1371600" w="10607040">
                  <a:moveTo>
                    <a:pt x="0" y="0"/>
                  </a:moveTo>
                  <a:lnTo>
                    <a:pt x="10607040" y="0"/>
                  </a:lnTo>
                  <a:lnTo>
                    <a:pt x="10607040" y="1371600"/>
                  </a:lnTo>
                  <a:lnTo>
                    <a:pt x="0" y="1371600"/>
                  </a:lnTo>
                  <a:close/>
                </a:path>
              </a:pathLst>
            </a:custGeom>
            <a:blipFill>
              <a:blip r:embed="rId3">
                <a:alphaModFix amt="0"/>
              </a:blip>
              <a:stretch>
                <a:fillRect l="0" t="-100684" r="0" b="-100684"/>
              </a:stretch>
            </a:blipFill>
          </p:spPr>
        </p:sp>
        <p:sp>
          <p:nvSpPr>
            <p:cNvPr name="TextBox 36" id="36"/>
            <p:cNvSpPr txBox="true"/>
            <p:nvPr/>
          </p:nvSpPr>
          <p:spPr>
            <a:xfrm>
              <a:off x="0" y="-19050"/>
              <a:ext cx="10607040" cy="1390650"/>
            </a:xfrm>
            <a:prstGeom prst="rect">
              <a:avLst/>
            </a:prstGeom>
          </p:spPr>
          <p:txBody>
            <a:bodyPr anchor="ctr" rtlCol="false" tIns="0" lIns="0" bIns="0" rIns="0"/>
            <a:lstStyle/>
            <a:p>
              <a:pPr algn="l">
                <a:lnSpc>
                  <a:spcPts val="2520"/>
                </a:lnSpc>
              </a:pPr>
              <a:r>
                <a:rPr lang="en-US" sz="2100">
                  <a:solidFill>
                    <a:srgbClr val="000000"/>
                  </a:solidFill>
                  <a:latin typeface="Times New Roman"/>
                  <a:ea typeface="Times New Roman"/>
                  <a:cs typeface="Times New Roman"/>
                  <a:sym typeface="Times New Roman"/>
                </a:rPr>
                <a:t>Characters, grouped into classes: letter, digit, _, other</a:t>
              </a:r>
            </a:p>
          </p:txBody>
        </p:sp>
      </p:grpSp>
      <p:grpSp>
        <p:nvGrpSpPr>
          <p:cNvPr name="Group 37" id="37"/>
          <p:cNvGrpSpPr/>
          <p:nvPr/>
        </p:nvGrpSpPr>
        <p:grpSpPr>
          <a:xfrm rot="0">
            <a:off x="950595" y="5490591"/>
            <a:ext cx="16382238" cy="1047750"/>
            <a:chOff x="0" y="0"/>
            <a:chExt cx="21842984" cy="1397000"/>
          </a:xfrm>
        </p:grpSpPr>
        <p:sp>
          <p:nvSpPr>
            <p:cNvPr name="Freeform 38" id="38"/>
            <p:cNvSpPr/>
            <p:nvPr/>
          </p:nvSpPr>
          <p:spPr>
            <a:xfrm flipH="false" flipV="false" rot="0">
              <a:off x="0" y="0"/>
              <a:ext cx="21842983" cy="1397000"/>
            </a:xfrm>
            <a:custGeom>
              <a:avLst/>
              <a:gdLst/>
              <a:ahLst/>
              <a:cxnLst/>
              <a:rect r="r" b="b" t="t" l="l"/>
              <a:pathLst>
                <a:path h="1397000" w="21842983">
                  <a:moveTo>
                    <a:pt x="0" y="223520"/>
                  </a:moveTo>
                  <a:cubicBezTo>
                    <a:pt x="0" y="100076"/>
                    <a:pt x="100076" y="0"/>
                    <a:pt x="223520" y="0"/>
                  </a:cubicBezTo>
                  <a:lnTo>
                    <a:pt x="21619463" y="0"/>
                  </a:lnTo>
                  <a:cubicBezTo>
                    <a:pt x="21742907" y="0"/>
                    <a:pt x="21842983" y="100076"/>
                    <a:pt x="21842983" y="223520"/>
                  </a:cubicBezTo>
                  <a:lnTo>
                    <a:pt x="21842983" y="1173480"/>
                  </a:lnTo>
                  <a:cubicBezTo>
                    <a:pt x="21842983" y="1296924"/>
                    <a:pt x="21742907" y="1397000"/>
                    <a:pt x="21619463" y="1397000"/>
                  </a:cubicBezTo>
                  <a:lnTo>
                    <a:pt x="223520" y="1397000"/>
                  </a:lnTo>
                  <a:cubicBezTo>
                    <a:pt x="100076" y="1397000"/>
                    <a:pt x="0" y="1296924"/>
                    <a:pt x="0" y="1173480"/>
                  </a:cubicBezTo>
                  <a:close/>
                </a:path>
              </a:pathLst>
            </a:custGeom>
            <a:solidFill>
              <a:srgbClr val="FFFFFF"/>
            </a:solidFill>
            <a:ln w="19050" cap="sq">
              <a:solidFill>
                <a:srgbClr val="000000"/>
              </a:solidFill>
              <a:prstDash val="solid"/>
              <a:miter/>
            </a:ln>
          </p:spPr>
        </p:sp>
      </p:grpSp>
      <p:grpSp>
        <p:nvGrpSpPr>
          <p:cNvPr name="Group 39" id="39"/>
          <p:cNvGrpSpPr/>
          <p:nvPr/>
        </p:nvGrpSpPr>
        <p:grpSpPr>
          <a:xfrm rot="0">
            <a:off x="1110424" y="5609272"/>
            <a:ext cx="810387" cy="810387"/>
            <a:chOff x="0" y="0"/>
            <a:chExt cx="1080516" cy="1080516"/>
          </a:xfrm>
        </p:grpSpPr>
        <p:sp>
          <p:nvSpPr>
            <p:cNvPr name="Freeform 40" id="40"/>
            <p:cNvSpPr/>
            <p:nvPr/>
          </p:nvSpPr>
          <p:spPr>
            <a:xfrm flipH="false" flipV="false" rot="0">
              <a:off x="0" y="0"/>
              <a:ext cx="1080516" cy="1080516"/>
            </a:xfrm>
            <a:custGeom>
              <a:avLst/>
              <a:gdLst/>
              <a:ahLst/>
              <a:cxnLst/>
              <a:rect r="r" b="b" t="t" l="l"/>
              <a:pathLst>
                <a:path h="1080516" w="1080516">
                  <a:moveTo>
                    <a:pt x="0" y="540258"/>
                  </a:moveTo>
                  <a:cubicBezTo>
                    <a:pt x="0" y="241935"/>
                    <a:pt x="241935" y="0"/>
                    <a:pt x="540258" y="0"/>
                  </a:cubicBezTo>
                  <a:cubicBezTo>
                    <a:pt x="838581" y="0"/>
                    <a:pt x="1080516" y="241935"/>
                    <a:pt x="1080516" y="540258"/>
                  </a:cubicBezTo>
                  <a:cubicBezTo>
                    <a:pt x="1080516" y="838581"/>
                    <a:pt x="838581" y="1080516"/>
                    <a:pt x="540258" y="1080516"/>
                  </a:cubicBezTo>
                  <a:cubicBezTo>
                    <a:pt x="241935" y="1080516"/>
                    <a:pt x="0" y="838581"/>
                    <a:pt x="0" y="540258"/>
                  </a:cubicBezTo>
                  <a:close/>
                </a:path>
              </a:pathLst>
            </a:custGeom>
            <a:solidFill>
              <a:srgbClr val="FFFFFF"/>
            </a:solidFill>
            <a:ln w="28575" cap="sq">
              <a:solidFill>
                <a:srgbClr val="000000"/>
              </a:solidFill>
              <a:prstDash val="solid"/>
              <a:miter/>
            </a:ln>
          </p:spPr>
        </p:sp>
      </p:grpSp>
      <p:grpSp>
        <p:nvGrpSpPr>
          <p:cNvPr name="Group 41" id="41"/>
          <p:cNvGrpSpPr/>
          <p:nvPr/>
        </p:nvGrpSpPr>
        <p:grpSpPr>
          <a:xfrm rot="0">
            <a:off x="1124712" y="5623560"/>
            <a:ext cx="781812" cy="781812"/>
            <a:chOff x="0" y="0"/>
            <a:chExt cx="1042416" cy="1042416"/>
          </a:xfrm>
        </p:grpSpPr>
        <p:sp>
          <p:nvSpPr>
            <p:cNvPr name="Freeform 42" id="42"/>
            <p:cNvSpPr/>
            <p:nvPr/>
          </p:nvSpPr>
          <p:spPr>
            <a:xfrm flipH="false" flipV="false" rot="0">
              <a:off x="0" y="0"/>
              <a:ext cx="1042416" cy="1042416"/>
            </a:xfrm>
            <a:custGeom>
              <a:avLst/>
              <a:gdLst/>
              <a:ahLst/>
              <a:cxnLst/>
              <a:rect r="r" b="b" t="t" l="l"/>
              <a:pathLst>
                <a:path h="1042416" w="1042416">
                  <a:moveTo>
                    <a:pt x="0" y="0"/>
                  </a:moveTo>
                  <a:lnTo>
                    <a:pt x="1042416" y="0"/>
                  </a:lnTo>
                  <a:lnTo>
                    <a:pt x="1042416" y="1042416"/>
                  </a:lnTo>
                  <a:lnTo>
                    <a:pt x="0" y="1042416"/>
                  </a:lnTo>
                  <a:close/>
                </a:path>
              </a:pathLst>
            </a:custGeom>
            <a:blipFill>
              <a:blip r:embed="rId3">
                <a:alphaModFix amt="0"/>
              </a:blip>
              <a:stretch>
                <a:fillRect l="-78303" t="0" r="-78303" b="0"/>
              </a:stretch>
            </a:blipFill>
          </p:spPr>
        </p:sp>
        <p:sp>
          <p:nvSpPr>
            <p:cNvPr name="TextBox 43" id="43"/>
            <p:cNvSpPr txBox="true"/>
            <p:nvPr/>
          </p:nvSpPr>
          <p:spPr>
            <a:xfrm>
              <a:off x="0" y="-19050"/>
              <a:ext cx="1042416" cy="1061466"/>
            </a:xfrm>
            <a:prstGeom prst="rect">
              <a:avLst/>
            </a:prstGeom>
          </p:spPr>
          <p:txBody>
            <a:bodyPr anchor="ctr" rtlCol="false" tIns="0" lIns="0" bIns="0" rIns="0"/>
            <a:lstStyle/>
            <a:p>
              <a:pPr algn="ctr">
                <a:lnSpc>
                  <a:spcPts val="3240"/>
                </a:lnSpc>
              </a:pPr>
              <a:r>
                <a:rPr lang="en-US" sz="2700" b="true">
                  <a:solidFill>
                    <a:srgbClr val="000000"/>
                  </a:solidFill>
                  <a:latin typeface="Times New Roman Bold"/>
                  <a:ea typeface="Times New Roman Bold"/>
                  <a:cs typeface="Times New Roman Bold"/>
                  <a:sym typeface="Times New Roman Bold"/>
                </a:rPr>
                <a:t>δ</a:t>
              </a:r>
            </a:p>
          </p:txBody>
        </p:sp>
      </p:grpSp>
      <p:grpSp>
        <p:nvGrpSpPr>
          <p:cNvPr name="Group 44" id="44"/>
          <p:cNvGrpSpPr/>
          <p:nvPr/>
        </p:nvGrpSpPr>
        <p:grpSpPr>
          <a:xfrm rot="0">
            <a:off x="2331720" y="5500116"/>
            <a:ext cx="6446520" cy="1028700"/>
            <a:chOff x="0" y="0"/>
            <a:chExt cx="8595360" cy="1371600"/>
          </a:xfrm>
        </p:grpSpPr>
        <p:sp>
          <p:nvSpPr>
            <p:cNvPr name="Freeform 45" id="45"/>
            <p:cNvSpPr/>
            <p:nvPr/>
          </p:nvSpPr>
          <p:spPr>
            <a:xfrm flipH="false" flipV="false" rot="0">
              <a:off x="0" y="0"/>
              <a:ext cx="8595360" cy="1371600"/>
            </a:xfrm>
            <a:custGeom>
              <a:avLst/>
              <a:gdLst/>
              <a:ahLst/>
              <a:cxnLst/>
              <a:rect r="r" b="b" t="t" l="l"/>
              <a:pathLst>
                <a:path h="1371600" w="8595360">
                  <a:moveTo>
                    <a:pt x="0" y="0"/>
                  </a:moveTo>
                  <a:lnTo>
                    <a:pt x="8595360" y="0"/>
                  </a:lnTo>
                  <a:lnTo>
                    <a:pt x="8595360" y="1371600"/>
                  </a:lnTo>
                  <a:lnTo>
                    <a:pt x="0" y="1371600"/>
                  </a:lnTo>
                  <a:close/>
                </a:path>
              </a:pathLst>
            </a:custGeom>
            <a:blipFill>
              <a:blip r:embed="rId3">
                <a:alphaModFix amt="0"/>
              </a:blip>
              <a:stretch>
                <a:fillRect l="0" t="-72106" r="0" b="-72106"/>
              </a:stretch>
            </a:blipFill>
          </p:spPr>
        </p:sp>
        <p:sp>
          <p:nvSpPr>
            <p:cNvPr name="TextBox 46" id="46"/>
            <p:cNvSpPr txBox="true"/>
            <p:nvPr/>
          </p:nvSpPr>
          <p:spPr>
            <a:xfrm>
              <a:off x="0" y="-9525"/>
              <a:ext cx="8595360" cy="1381125"/>
            </a:xfrm>
            <a:prstGeom prst="rect">
              <a:avLst/>
            </a:prstGeom>
          </p:spPr>
          <p:txBody>
            <a:bodyPr anchor="ctr" rtlCol="false" tIns="0" lIns="0" bIns="0" rIns="0"/>
            <a:lstStyle/>
            <a:p>
              <a:pPr algn="l">
                <a:lnSpc>
                  <a:spcPts val="2879"/>
                </a:lnSpc>
              </a:pPr>
              <a:r>
                <a:rPr lang="en-US" sz="2400" b="true">
                  <a:solidFill>
                    <a:srgbClr val="000000"/>
                  </a:solidFill>
                  <a:latin typeface="Times New Roman Bold"/>
                  <a:ea typeface="Times New Roman Bold"/>
                  <a:cs typeface="Times New Roman Bold"/>
                  <a:sym typeface="Times New Roman Bold"/>
                </a:rPr>
                <a:t>Transition function  Q × Σ → Q</a:t>
              </a:r>
            </a:p>
          </p:txBody>
        </p:sp>
      </p:grpSp>
      <p:grpSp>
        <p:nvGrpSpPr>
          <p:cNvPr name="Group 47" id="47"/>
          <p:cNvGrpSpPr/>
          <p:nvPr/>
        </p:nvGrpSpPr>
        <p:grpSpPr>
          <a:xfrm rot="0">
            <a:off x="9052560" y="5500116"/>
            <a:ext cx="7955280" cy="1028700"/>
            <a:chOff x="0" y="0"/>
            <a:chExt cx="10607040" cy="1371600"/>
          </a:xfrm>
        </p:grpSpPr>
        <p:sp>
          <p:nvSpPr>
            <p:cNvPr name="Freeform 48" id="48"/>
            <p:cNvSpPr/>
            <p:nvPr/>
          </p:nvSpPr>
          <p:spPr>
            <a:xfrm flipH="false" flipV="false" rot="0">
              <a:off x="0" y="0"/>
              <a:ext cx="10607040" cy="1371600"/>
            </a:xfrm>
            <a:custGeom>
              <a:avLst/>
              <a:gdLst/>
              <a:ahLst/>
              <a:cxnLst/>
              <a:rect r="r" b="b" t="t" l="l"/>
              <a:pathLst>
                <a:path h="1371600" w="10607040">
                  <a:moveTo>
                    <a:pt x="0" y="0"/>
                  </a:moveTo>
                  <a:lnTo>
                    <a:pt x="10607040" y="0"/>
                  </a:lnTo>
                  <a:lnTo>
                    <a:pt x="10607040" y="1371600"/>
                  </a:lnTo>
                  <a:lnTo>
                    <a:pt x="0" y="1371600"/>
                  </a:lnTo>
                  <a:close/>
                </a:path>
              </a:pathLst>
            </a:custGeom>
            <a:blipFill>
              <a:blip r:embed="rId3">
                <a:alphaModFix amt="0"/>
              </a:blip>
              <a:stretch>
                <a:fillRect l="0" t="-100684" r="0" b="-100684"/>
              </a:stretch>
            </a:blipFill>
          </p:spPr>
        </p:sp>
        <p:sp>
          <p:nvSpPr>
            <p:cNvPr name="TextBox 49" id="49"/>
            <p:cNvSpPr txBox="true"/>
            <p:nvPr/>
          </p:nvSpPr>
          <p:spPr>
            <a:xfrm>
              <a:off x="0" y="-19050"/>
              <a:ext cx="10607040" cy="1390650"/>
            </a:xfrm>
            <a:prstGeom prst="rect">
              <a:avLst/>
            </a:prstGeom>
          </p:spPr>
          <p:txBody>
            <a:bodyPr anchor="ctr" rtlCol="false" tIns="0" lIns="0" bIns="0" rIns="0"/>
            <a:lstStyle/>
            <a:p>
              <a:pPr algn="l">
                <a:lnSpc>
                  <a:spcPts val="2520"/>
                </a:lnSpc>
              </a:pPr>
              <a:r>
                <a:rPr lang="en-US" sz="2100">
                  <a:solidFill>
                    <a:srgbClr val="000000"/>
                  </a:solidFill>
                  <a:latin typeface="Times New Roman"/>
                  <a:ea typeface="Times New Roman"/>
                  <a:cs typeface="Times New Roman"/>
                  <a:sym typeface="Times New Roman"/>
                </a:rPr>
                <a:t>One table lookup for each character consumed</a:t>
              </a:r>
            </a:p>
          </p:txBody>
        </p:sp>
      </p:grpSp>
      <p:grpSp>
        <p:nvGrpSpPr>
          <p:cNvPr name="Group 50" id="50"/>
          <p:cNvGrpSpPr/>
          <p:nvPr/>
        </p:nvGrpSpPr>
        <p:grpSpPr>
          <a:xfrm rot="0">
            <a:off x="950595" y="6697599"/>
            <a:ext cx="16382238" cy="1047750"/>
            <a:chOff x="0" y="0"/>
            <a:chExt cx="21842984" cy="1397000"/>
          </a:xfrm>
        </p:grpSpPr>
        <p:sp>
          <p:nvSpPr>
            <p:cNvPr name="Freeform 51" id="51"/>
            <p:cNvSpPr/>
            <p:nvPr/>
          </p:nvSpPr>
          <p:spPr>
            <a:xfrm flipH="false" flipV="false" rot="0">
              <a:off x="0" y="0"/>
              <a:ext cx="21842983" cy="1397000"/>
            </a:xfrm>
            <a:custGeom>
              <a:avLst/>
              <a:gdLst/>
              <a:ahLst/>
              <a:cxnLst/>
              <a:rect r="r" b="b" t="t" l="l"/>
              <a:pathLst>
                <a:path h="1397000" w="21842983">
                  <a:moveTo>
                    <a:pt x="0" y="223520"/>
                  </a:moveTo>
                  <a:cubicBezTo>
                    <a:pt x="0" y="100076"/>
                    <a:pt x="100076" y="0"/>
                    <a:pt x="223520" y="0"/>
                  </a:cubicBezTo>
                  <a:lnTo>
                    <a:pt x="21619463" y="0"/>
                  </a:lnTo>
                  <a:cubicBezTo>
                    <a:pt x="21742907" y="0"/>
                    <a:pt x="21842983" y="100076"/>
                    <a:pt x="21842983" y="223520"/>
                  </a:cubicBezTo>
                  <a:lnTo>
                    <a:pt x="21842983" y="1173480"/>
                  </a:lnTo>
                  <a:cubicBezTo>
                    <a:pt x="21842983" y="1296924"/>
                    <a:pt x="21742907" y="1397000"/>
                    <a:pt x="21619463" y="1397000"/>
                  </a:cubicBezTo>
                  <a:lnTo>
                    <a:pt x="223520" y="1397000"/>
                  </a:lnTo>
                  <a:cubicBezTo>
                    <a:pt x="100076" y="1397000"/>
                    <a:pt x="0" y="1296924"/>
                    <a:pt x="0" y="1173480"/>
                  </a:cubicBezTo>
                  <a:close/>
                </a:path>
              </a:pathLst>
            </a:custGeom>
            <a:solidFill>
              <a:srgbClr val="FFFFFF"/>
            </a:solidFill>
            <a:ln w="19050" cap="sq">
              <a:solidFill>
                <a:srgbClr val="000000"/>
              </a:solidFill>
              <a:prstDash val="solid"/>
              <a:miter/>
            </a:ln>
          </p:spPr>
        </p:sp>
      </p:grpSp>
      <p:grpSp>
        <p:nvGrpSpPr>
          <p:cNvPr name="Group 52" id="52"/>
          <p:cNvGrpSpPr/>
          <p:nvPr/>
        </p:nvGrpSpPr>
        <p:grpSpPr>
          <a:xfrm rot="0">
            <a:off x="1110424" y="6816280"/>
            <a:ext cx="810387" cy="810387"/>
            <a:chOff x="0" y="0"/>
            <a:chExt cx="1080516" cy="1080516"/>
          </a:xfrm>
        </p:grpSpPr>
        <p:sp>
          <p:nvSpPr>
            <p:cNvPr name="Freeform 53" id="53"/>
            <p:cNvSpPr/>
            <p:nvPr/>
          </p:nvSpPr>
          <p:spPr>
            <a:xfrm flipH="false" flipV="false" rot="0">
              <a:off x="0" y="0"/>
              <a:ext cx="1080516" cy="1080516"/>
            </a:xfrm>
            <a:custGeom>
              <a:avLst/>
              <a:gdLst/>
              <a:ahLst/>
              <a:cxnLst/>
              <a:rect r="r" b="b" t="t" l="l"/>
              <a:pathLst>
                <a:path h="1080516" w="1080516">
                  <a:moveTo>
                    <a:pt x="0" y="540258"/>
                  </a:moveTo>
                  <a:cubicBezTo>
                    <a:pt x="0" y="241935"/>
                    <a:pt x="241935" y="0"/>
                    <a:pt x="540258" y="0"/>
                  </a:cubicBezTo>
                  <a:cubicBezTo>
                    <a:pt x="838581" y="0"/>
                    <a:pt x="1080516" y="241935"/>
                    <a:pt x="1080516" y="540258"/>
                  </a:cubicBezTo>
                  <a:cubicBezTo>
                    <a:pt x="1080516" y="838581"/>
                    <a:pt x="838581" y="1080516"/>
                    <a:pt x="540258" y="1080516"/>
                  </a:cubicBezTo>
                  <a:cubicBezTo>
                    <a:pt x="241935" y="1080516"/>
                    <a:pt x="0" y="838581"/>
                    <a:pt x="0" y="540258"/>
                  </a:cubicBezTo>
                  <a:close/>
                </a:path>
              </a:pathLst>
            </a:custGeom>
            <a:solidFill>
              <a:srgbClr val="FFFFFF"/>
            </a:solidFill>
            <a:ln w="28575" cap="sq">
              <a:solidFill>
                <a:srgbClr val="000000"/>
              </a:solidFill>
              <a:prstDash val="solid"/>
              <a:miter/>
            </a:ln>
          </p:spPr>
        </p:sp>
      </p:grpSp>
      <p:grpSp>
        <p:nvGrpSpPr>
          <p:cNvPr name="Group 54" id="54"/>
          <p:cNvGrpSpPr/>
          <p:nvPr/>
        </p:nvGrpSpPr>
        <p:grpSpPr>
          <a:xfrm rot="0">
            <a:off x="1124712" y="6830568"/>
            <a:ext cx="781812" cy="781812"/>
            <a:chOff x="0" y="0"/>
            <a:chExt cx="1042416" cy="1042416"/>
          </a:xfrm>
        </p:grpSpPr>
        <p:sp>
          <p:nvSpPr>
            <p:cNvPr name="Freeform 55" id="55"/>
            <p:cNvSpPr/>
            <p:nvPr/>
          </p:nvSpPr>
          <p:spPr>
            <a:xfrm flipH="false" flipV="false" rot="0">
              <a:off x="0" y="0"/>
              <a:ext cx="1042416" cy="1042416"/>
            </a:xfrm>
            <a:custGeom>
              <a:avLst/>
              <a:gdLst/>
              <a:ahLst/>
              <a:cxnLst/>
              <a:rect r="r" b="b" t="t" l="l"/>
              <a:pathLst>
                <a:path h="1042416" w="1042416">
                  <a:moveTo>
                    <a:pt x="0" y="0"/>
                  </a:moveTo>
                  <a:lnTo>
                    <a:pt x="1042416" y="0"/>
                  </a:lnTo>
                  <a:lnTo>
                    <a:pt x="1042416" y="1042416"/>
                  </a:lnTo>
                  <a:lnTo>
                    <a:pt x="0" y="1042416"/>
                  </a:lnTo>
                  <a:close/>
                </a:path>
              </a:pathLst>
            </a:custGeom>
            <a:blipFill>
              <a:blip r:embed="rId3">
                <a:alphaModFix amt="0"/>
              </a:blip>
              <a:stretch>
                <a:fillRect l="-78303" t="0" r="-78303" b="0"/>
              </a:stretch>
            </a:blipFill>
          </p:spPr>
        </p:sp>
        <p:sp>
          <p:nvSpPr>
            <p:cNvPr name="TextBox 56" id="56"/>
            <p:cNvSpPr txBox="true"/>
            <p:nvPr/>
          </p:nvSpPr>
          <p:spPr>
            <a:xfrm>
              <a:off x="0" y="-19050"/>
              <a:ext cx="1042416" cy="1061466"/>
            </a:xfrm>
            <a:prstGeom prst="rect">
              <a:avLst/>
            </a:prstGeom>
          </p:spPr>
          <p:txBody>
            <a:bodyPr anchor="ctr" rtlCol="false" tIns="0" lIns="0" bIns="0" rIns="0"/>
            <a:lstStyle/>
            <a:p>
              <a:pPr algn="ctr">
                <a:lnSpc>
                  <a:spcPts val="3240"/>
                </a:lnSpc>
              </a:pPr>
              <a:r>
                <a:rPr lang="en-US" sz="2700" b="true">
                  <a:solidFill>
                    <a:srgbClr val="000000"/>
                  </a:solidFill>
                  <a:latin typeface="Times New Roman Bold"/>
                  <a:ea typeface="Times New Roman Bold"/>
                  <a:cs typeface="Times New Roman Bold"/>
                  <a:sym typeface="Times New Roman Bold"/>
                </a:rPr>
                <a:t>q0</a:t>
              </a:r>
            </a:p>
          </p:txBody>
        </p:sp>
      </p:grpSp>
      <p:grpSp>
        <p:nvGrpSpPr>
          <p:cNvPr name="Group 57" id="57"/>
          <p:cNvGrpSpPr/>
          <p:nvPr/>
        </p:nvGrpSpPr>
        <p:grpSpPr>
          <a:xfrm rot="0">
            <a:off x="2331720" y="6707124"/>
            <a:ext cx="6446520" cy="1028700"/>
            <a:chOff x="0" y="0"/>
            <a:chExt cx="8595360" cy="1371600"/>
          </a:xfrm>
        </p:grpSpPr>
        <p:sp>
          <p:nvSpPr>
            <p:cNvPr name="Freeform 58" id="58"/>
            <p:cNvSpPr/>
            <p:nvPr/>
          </p:nvSpPr>
          <p:spPr>
            <a:xfrm flipH="false" flipV="false" rot="0">
              <a:off x="0" y="0"/>
              <a:ext cx="8595360" cy="1371600"/>
            </a:xfrm>
            <a:custGeom>
              <a:avLst/>
              <a:gdLst/>
              <a:ahLst/>
              <a:cxnLst/>
              <a:rect r="r" b="b" t="t" l="l"/>
              <a:pathLst>
                <a:path h="1371600" w="8595360">
                  <a:moveTo>
                    <a:pt x="0" y="0"/>
                  </a:moveTo>
                  <a:lnTo>
                    <a:pt x="8595360" y="0"/>
                  </a:lnTo>
                  <a:lnTo>
                    <a:pt x="8595360" y="1371600"/>
                  </a:lnTo>
                  <a:lnTo>
                    <a:pt x="0" y="1371600"/>
                  </a:lnTo>
                  <a:close/>
                </a:path>
              </a:pathLst>
            </a:custGeom>
            <a:blipFill>
              <a:blip r:embed="rId3">
                <a:alphaModFix amt="0"/>
              </a:blip>
              <a:stretch>
                <a:fillRect l="0" t="-72106" r="0" b="-72106"/>
              </a:stretch>
            </a:blipFill>
          </p:spPr>
        </p:sp>
        <p:sp>
          <p:nvSpPr>
            <p:cNvPr name="TextBox 59" id="59"/>
            <p:cNvSpPr txBox="true"/>
            <p:nvPr/>
          </p:nvSpPr>
          <p:spPr>
            <a:xfrm>
              <a:off x="0" y="-9525"/>
              <a:ext cx="8595360" cy="1381125"/>
            </a:xfrm>
            <a:prstGeom prst="rect">
              <a:avLst/>
            </a:prstGeom>
          </p:spPr>
          <p:txBody>
            <a:bodyPr anchor="ctr" rtlCol="false" tIns="0" lIns="0" bIns="0" rIns="0"/>
            <a:lstStyle/>
            <a:p>
              <a:pPr algn="l">
                <a:lnSpc>
                  <a:spcPts val="2879"/>
                </a:lnSpc>
              </a:pPr>
              <a:r>
                <a:rPr lang="en-US" sz="2400" b="true">
                  <a:solidFill>
                    <a:srgbClr val="000000"/>
                  </a:solidFill>
                  <a:latin typeface="Times New Roman Bold"/>
                  <a:ea typeface="Times New Roman Bold"/>
                  <a:cs typeface="Times New Roman Bold"/>
                  <a:sym typeface="Times New Roman Bold"/>
                </a:rPr>
                <a:t>Start state</a:t>
              </a:r>
            </a:p>
          </p:txBody>
        </p:sp>
      </p:grpSp>
      <p:grpSp>
        <p:nvGrpSpPr>
          <p:cNvPr name="Group 60" id="60"/>
          <p:cNvGrpSpPr/>
          <p:nvPr/>
        </p:nvGrpSpPr>
        <p:grpSpPr>
          <a:xfrm rot="0">
            <a:off x="9052560" y="6707124"/>
            <a:ext cx="7955280" cy="1028700"/>
            <a:chOff x="0" y="0"/>
            <a:chExt cx="10607040" cy="1371600"/>
          </a:xfrm>
        </p:grpSpPr>
        <p:sp>
          <p:nvSpPr>
            <p:cNvPr name="Freeform 61" id="61"/>
            <p:cNvSpPr/>
            <p:nvPr/>
          </p:nvSpPr>
          <p:spPr>
            <a:xfrm flipH="false" flipV="false" rot="0">
              <a:off x="0" y="0"/>
              <a:ext cx="10607040" cy="1371600"/>
            </a:xfrm>
            <a:custGeom>
              <a:avLst/>
              <a:gdLst/>
              <a:ahLst/>
              <a:cxnLst/>
              <a:rect r="r" b="b" t="t" l="l"/>
              <a:pathLst>
                <a:path h="1371600" w="10607040">
                  <a:moveTo>
                    <a:pt x="0" y="0"/>
                  </a:moveTo>
                  <a:lnTo>
                    <a:pt x="10607040" y="0"/>
                  </a:lnTo>
                  <a:lnTo>
                    <a:pt x="10607040" y="1371600"/>
                  </a:lnTo>
                  <a:lnTo>
                    <a:pt x="0" y="1371600"/>
                  </a:lnTo>
                  <a:close/>
                </a:path>
              </a:pathLst>
            </a:custGeom>
            <a:blipFill>
              <a:blip r:embed="rId3">
                <a:alphaModFix amt="0"/>
              </a:blip>
              <a:stretch>
                <a:fillRect l="0" t="-100684" r="0" b="-100684"/>
              </a:stretch>
            </a:blipFill>
          </p:spPr>
        </p:sp>
        <p:sp>
          <p:nvSpPr>
            <p:cNvPr name="TextBox 62" id="62"/>
            <p:cNvSpPr txBox="true"/>
            <p:nvPr/>
          </p:nvSpPr>
          <p:spPr>
            <a:xfrm>
              <a:off x="0" y="-19050"/>
              <a:ext cx="10607040" cy="1390650"/>
            </a:xfrm>
            <a:prstGeom prst="rect">
              <a:avLst/>
            </a:prstGeom>
          </p:spPr>
          <p:txBody>
            <a:bodyPr anchor="ctr" rtlCol="false" tIns="0" lIns="0" bIns="0" rIns="0"/>
            <a:lstStyle/>
            <a:p>
              <a:pPr algn="l">
                <a:lnSpc>
                  <a:spcPts val="2520"/>
                </a:lnSpc>
              </a:pPr>
              <a:r>
                <a:rPr lang="en-US" sz="2100">
                  <a:solidFill>
                    <a:srgbClr val="000000"/>
                  </a:solidFill>
                  <a:latin typeface="Times New Roman"/>
                  <a:ea typeface="Times New Roman"/>
                  <a:cs typeface="Times New Roman"/>
                  <a:sym typeface="Times New Roman"/>
                </a:rPr>
                <a:t>Where every new token attempt begins</a:t>
              </a:r>
            </a:p>
          </p:txBody>
        </p:sp>
      </p:grpSp>
      <p:grpSp>
        <p:nvGrpSpPr>
          <p:cNvPr name="Group 63" id="63"/>
          <p:cNvGrpSpPr/>
          <p:nvPr/>
        </p:nvGrpSpPr>
        <p:grpSpPr>
          <a:xfrm rot="0">
            <a:off x="950595" y="7904607"/>
            <a:ext cx="16382238" cy="1047750"/>
            <a:chOff x="0" y="0"/>
            <a:chExt cx="21842984" cy="1397000"/>
          </a:xfrm>
        </p:grpSpPr>
        <p:sp>
          <p:nvSpPr>
            <p:cNvPr name="Freeform 64" id="64"/>
            <p:cNvSpPr/>
            <p:nvPr/>
          </p:nvSpPr>
          <p:spPr>
            <a:xfrm flipH="false" flipV="false" rot="0">
              <a:off x="0" y="0"/>
              <a:ext cx="21842983" cy="1397000"/>
            </a:xfrm>
            <a:custGeom>
              <a:avLst/>
              <a:gdLst/>
              <a:ahLst/>
              <a:cxnLst/>
              <a:rect r="r" b="b" t="t" l="l"/>
              <a:pathLst>
                <a:path h="1397000" w="21842983">
                  <a:moveTo>
                    <a:pt x="0" y="223520"/>
                  </a:moveTo>
                  <a:cubicBezTo>
                    <a:pt x="0" y="100076"/>
                    <a:pt x="100076" y="0"/>
                    <a:pt x="223520" y="0"/>
                  </a:cubicBezTo>
                  <a:lnTo>
                    <a:pt x="21619463" y="0"/>
                  </a:lnTo>
                  <a:cubicBezTo>
                    <a:pt x="21742907" y="0"/>
                    <a:pt x="21842983" y="100076"/>
                    <a:pt x="21842983" y="223520"/>
                  </a:cubicBezTo>
                  <a:lnTo>
                    <a:pt x="21842983" y="1173480"/>
                  </a:lnTo>
                  <a:cubicBezTo>
                    <a:pt x="21842983" y="1296924"/>
                    <a:pt x="21742907" y="1397000"/>
                    <a:pt x="21619463" y="1397000"/>
                  </a:cubicBezTo>
                  <a:lnTo>
                    <a:pt x="223520" y="1397000"/>
                  </a:lnTo>
                  <a:cubicBezTo>
                    <a:pt x="100076" y="1397000"/>
                    <a:pt x="0" y="1296924"/>
                    <a:pt x="0" y="1173480"/>
                  </a:cubicBezTo>
                  <a:close/>
                </a:path>
              </a:pathLst>
            </a:custGeom>
            <a:solidFill>
              <a:srgbClr val="FFFFFF"/>
            </a:solidFill>
            <a:ln w="19050" cap="sq">
              <a:solidFill>
                <a:srgbClr val="000000"/>
              </a:solidFill>
              <a:prstDash val="solid"/>
              <a:miter/>
            </a:ln>
          </p:spPr>
        </p:sp>
      </p:grpSp>
      <p:grpSp>
        <p:nvGrpSpPr>
          <p:cNvPr name="Group 65" id="65"/>
          <p:cNvGrpSpPr/>
          <p:nvPr/>
        </p:nvGrpSpPr>
        <p:grpSpPr>
          <a:xfrm rot="0">
            <a:off x="1091374" y="8004238"/>
            <a:ext cx="848487" cy="848487"/>
            <a:chOff x="0" y="0"/>
            <a:chExt cx="1131316" cy="1131316"/>
          </a:xfrm>
        </p:grpSpPr>
        <p:sp>
          <p:nvSpPr>
            <p:cNvPr name="Freeform 66" id="66"/>
            <p:cNvSpPr/>
            <p:nvPr/>
          </p:nvSpPr>
          <p:spPr>
            <a:xfrm flipH="false" flipV="false" rot="0">
              <a:off x="0" y="0"/>
              <a:ext cx="1131316" cy="1131316"/>
            </a:xfrm>
            <a:custGeom>
              <a:avLst/>
              <a:gdLst/>
              <a:ahLst/>
              <a:cxnLst/>
              <a:rect r="r" b="b" t="t" l="l"/>
              <a:pathLst>
                <a:path h="1131316" w="1131316">
                  <a:moveTo>
                    <a:pt x="0" y="565658"/>
                  </a:moveTo>
                  <a:cubicBezTo>
                    <a:pt x="0" y="253238"/>
                    <a:pt x="253238" y="0"/>
                    <a:pt x="565658" y="0"/>
                  </a:cubicBezTo>
                  <a:cubicBezTo>
                    <a:pt x="878078" y="0"/>
                    <a:pt x="1131316" y="253238"/>
                    <a:pt x="1131316" y="565658"/>
                  </a:cubicBezTo>
                  <a:cubicBezTo>
                    <a:pt x="1131316" y="878078"/>
                    <a:pt x="878078" y="1131316"/>
                    <a:pt x="565658" y="1131316"/>
                  </a:cubicBezTo>
                  <a:cubicBezTo>
                    <a:pt x="253238" y="1131316"/>
                    <a:pt x="0" y="878078"/>
                    <a:pt x="0" y="565658"/>
                  </a:cubicBezTo>
                  <a:close/>
                </a:path>
              </a:pathLst>
            </a:custGeom>
            <a:solidFill>
              <a:srgbClr val="FFFFFF"/>
            </a:solidFill>
            <a:ln w="66675" cap="sq">
              <a:solidFill>
                <a:srgbClr val="000000"/>
              </a:solidFill>
              <a:prstDash val="solid"/>
              <a:miter/>
            </a:ln>
          </p:spPr>
        </p:sp>
      </p:grpSp>
      <p:grpSp>
        <p:nvGrpSpPr>
          <p:cNvPr name="Group 67" id="67"/>
          <p:cNvGrpSpPr/>
          <p:nvPr/>
        </p:nvGrpSpPr>
        <p:grpSpPr>
          <a:xfrm rot="0">
            <a:off x="1124712" y="8037576"/>
            <a:ext cx="781812" cy="781812"/>
            <a:chOff x="0" y="0"/>
            <a:chExt cx="1042416" cy="1042416"/>
          </a:xfrm>
        </p:grpSpPr>
        <p:sp>
          <p:nvSpPr>
            <p:cNvPr name="Freeform 68" id="68"/>
            <p:cNvSpPr/>
            <p:nvPr/>
          </p:nvSpPr>
          <p:spPr>
            <a:xfrm flipH="false" flipV="false" rot="0">
              <a:off x="0" y="0"/>
              <a:ext cx="1042416" cy="1042416"/>
            </a:xfrm>
            <a:custGeom>
              <a:avLst/>
              <a:gdLst/>
              <a:ahLst/>
              <a:cxnLst/>
              <a:rect r="r" b="b" t="t" l="l"/>
              <a:pathLst>
                <a:path h="1042416" w="1042416">
                  <a:moveTo>
                    <a:pt x="0" y="0"/>
                  </a:moveTo>
                  <a:lnTo>
                    <a:pt x="1042416" y="0"/>
                  </a:lnTo>
                  <a:lnTo>
                    <a:pt x="1042416" y="1042416"/>
                  </a:lnTo>
                  <a:lnTo>
                    <a:pt x="0" y="1042416"/>
                  </a:lnTo>
                  <a:close/>
                </a:path>
              </a:pathLst>
            </a:custGeom>
            <a:blipFill>
              <a:blip r:embed="rId3">
                <a:alphaModFix amt="0"/>
              </a:blip>
              <a:stretch>
                <a:fillRect l="-78303" t="0" r="-78303" b="0"/>
              </a:stretch>
            </a:blipFill>
          </p:spPr>
        </p:sp>
        <p:sp>
          <p:nvSpPr>
            <p:cNvPr name="TextBox 69" id="69"/>
            <p:cNvSpPr txBox="true"/>
            <p:nvPr/>
          </p:nvSpPr>
          <p:spPr>
            <a:xfrm>
              <a:off x="0" y="-19050"/>
              <a:ext cx="1042416" cy="1061466"/>
            </a:xfrm>
            <a:prstGeom prst="rect">
              <a:avLst/>
            </a:prstGeom>
          </p:spPr>
          <p:txBody>
            <a:bodyPr anchor="ctr" rtlCol="false" tIns="0" lIns="0" bIns="0" rIns="0"/>
            <a:lstStyle/>
            <a:p>
              <a:pPr algn="ctr">
                <a:lnSpc>
                  <a:spcPts val="3240"/>
                </a:lnSpc>
              </a:pPr>
              <a:r>
                <a:rPr lang="en-US" sz="2700" b="true">
                  <a:solidFill>
                    <a:srgbClr val="000000"/>
                  </a:solidFill>
                  <a:latin typeface="Times New Roman Bold"/>
                  <a:ea typeface="Times New Roman Bold"/>
                  <a:cs typeface="Times New Roman Bold"/>
                  <a:sym typeface="Times New Roman Bold"/>
                </a:rPr>
                <a:t>F</a:t>
              </a:r>
            </a:p>
          </p:txBody>
        </p:sp>
      </p:grpSp>
      <p:grpSp>
        <p:nvGrpSpPr>
          <p:cNvPr name="Group 70" id="70"/>
          <p:cNvGrpSpPr/>
          <p:nvPr/>
        </p:nvGrpSpPr>
        <p:grpSpPr>
          <a:xfrm rot="0">
            <a:off x="2331720" y="7914132"/>
            <a:ext cx="6446520" cy="1028700"/>
            <a:chOff x="0" y="0"/>
            <a:chExt cx="8595360" cy="1371600"/>
          </a:xfrm>
        </p:grpSpPr>
        <p:sp>
          <p:nvSpPr>
            <p:cNvPr name="Freeform 71" id="71"/>
            <p:cNvSpPr/>
            <p:nvPr/>
          </p:nvSpPr>
          <p:spPr>
            <a:xfrm flipH="false" flipV="false" rot="0">
              <a:off x="0" y="0"/>
              <a:ext cx="8595360" cy="1371600"/>
            </a:xfrm>
            <a:custGeom>
              <a:avLst/>
              <a:gdLst/>
              <a:ahLst/>
              <a:cxnLst/>
              <a:rect r="r" b="b" t="t" l="l"/>
              <a:pathLst>
                <a:path h="1371600" w="8595360">
                  <a:moveTo>
                    <a:pt x="0" y="0"/>
                  </a:moveTo>
                  <a:lnTo>
                    <a:pt x="8595360" y="0"/>
                  </a:lnTo>
                  <a:lnTo>
                    <a:pt x="8595360" y="1371600"/>
                  </a:lnTo>
                  <a:lnTo>
                    <a:pt x="0" y="1371600"/>
                  </a:lnTo>
                  <a:close/>
                </a:path>
              </a:pathLst>
            </a:custGeom>
            <a:blipFill>
              <a:blip r:embed="rId3">
                <a:alphaModFix amt="0"/>
              </a:blip>
              <a:stretch>
                <a:fillRect l="0" t="-72106" r="0" b="-72106"/>
              </a:stretch>
            </a:blipFill>
          </p:spPr>
        </p:sp>
        <p:sp>
          <p:nvSpPr>
            <p:cNvPr name="TextBox 72" id="72"/>
            <p:cNvSpPr txBox="true"/>
            <p:nvPr/>
          </p:nvSpPr>
          <p:spPr>
            <a:xfrm>
              <a:off x="0" y="-9525"/>
              <a:ext cx="8595360" cy="1381125"/>
            </a:xfrm>
            <a:prstGeom prst="rect">
              <a:avLst/>
            </a:prstGeom>
          </p:spPr>
          <p:txBody>
            <a:bodyPr anchor="ctr" rtlCol="false" tIns="0" lIns="0" bIns="0" rIns="0"/>
            <a:lstStyle/>
            <a:p>
              <a:pPr algn="l">
                <a:lnSpc>
                  <a:spcPts val="2879"/>
                </a:lnSpc>
              </a:pPr>
              <a:r>
                <a:rPr lang="en-US" sz="2400" b="true">
                  <a:solidFill>
                    <a:srgbClr val="000000"/>
                  </a:solidFill>
                  <a:latin typeface="Times New Roman Bold"/>
                  <a:ea typeface="Times New Roman Bold"/>
                  <a:cs typeface="Times New Roman Bold"/>
                  <a:sym typeface="Times New Roman Bold"/>
                </a:rPr>
                <a:t>Accepting states</a:t>
              </a:r>
            </a:p>
          </p:txBody>
        </p:sp>
      </p:grpSp>
      <p:grpSp>
        <p:nvGrpSpPr>
          <p:cNvPr name="Group 73" id="73"/>
          <p:cNvGrpSpPr/>
          <p:nvPr/>
        </p:nvGrpSpPr>
        <p:grpSpPr>
          <a:xfrm rot="0">
            <a:off x="9052560" y="7914132"/>
            <a:ext cx="7955280" cy="1028700"/>
            <a:chOff x="0" y="0"/>
            <a:chExt cx="10607040" cy="1371600"/>
          </a:xfrm>
        </p:grpSpPr>
        <p:sp>
          <p:nvSpPr>
            <p:cNvPr name="Freeform 74" id="74"/>
            <p:cNvSpPr/>
            <p:nvPr/>
          </p:nvSpPr>
          <p:spPr>
            <a:xfrm flipH="false" flipV="false" rot="0">
              <a:off x="0" y="0"/>
              <a:ext cx="10607040" cy="1371600"/>
            </a:xfrm>
            <a:custGeom>
              <a:avLst/>
              <a:gdLst/>
              <a:ahLst/>
              <a:cxnLst/>
              <a:rect r="r" b="b" t="t" l="l"/>
              <a:pathLst>
                <a:path h="1371600" w="10607040">
                  <a:moveTo>
                    <a:pt x="0" y="0"/>
                  </a:moveTo>
                  <a:lnTo>
                    <a:pt x="10607040" y="0"/>
                  </a:lnTo>
                  <a:lnTo>
                    <a:pt x="10607040" y="1371600"/>
                  </a:lnTo>
                  <a:lnTo>
                    <a:pt x="0" y="1371600"/>
                  </a:lnTo>
                  <a:close/>
                </a:path>
              </a:pathLst>
            </a:custGeom>
            <a:blipFill>
              <a:blip r:embed="rId3">
                <a:alphaModFix amt="0"/>
              </a:blip>
              <a:stretch>
                <a:fillRect l="0" t="-100684" r="0" b="-100684"/>
              </a:stretch>
            </a:blipFill>
          </p:spPr>
        </p:sp>
        <p:sp>
          <p:nvSpPr>
            <p:cNvPr name="TextBox 75" id="75"/>
            <p:cNvSpPr txBox="true"/>
            <p:nvPr/>
          </p:nvSpPr>
          <p:spPr>
            <a:xfrm>
              <a:off x="0" y="-19050"/>
              <a:ext cx="10607040" cy="1390650"/>
            </a:xfrm>
            <a:prstGeom prst="rect">
              <a:avLst/>
            </a:prstGeom>
          </p:spPr>
          <p:txBody>
            <a:bodyPr anchor="ctr" rtlCol="false" tIns="0" lIns="0" bIns="0" rIns="0"/>
            <a:lstStyle/>
            <a:p>
              <a:pPr algn="l">
                <a:lnSpc>
                  <a:spcPts val="2520"/>
                </a:lnSpc>
              </a:pPr>
              <a:r>
                <a:rPr lang="en-US" sz="2100">
                  <a:solidFill>
                    <a:srgbClr val="000000"/>
                  </a:solidFill>
                  <a:latin typeface="Times New Roman"/>
                  <a:ea typeface="Times New Roman"/>
                  <a:cs typeface="Times New Roman"/>
                  <a:sym typeface="Times New Roman"/>
                </a:rPr>
                <a:t>A complete, valid token has just been recognised</a:t>
              </a:r>
            </a:p>
          </p:txBody>
        </p:sp>
      </p:grpSp>
      <p:sp>
        <p:nvSpPr>
          <p:cNvPr name="TextBox 76" id="76"/>
          <p:cNvSpPr txBox="true"/>
          <p:nvPr/>
        </p:nvSpPr>
        <p:spPr>
          <a:xfrm rot="0">
            <a:off x="16454628" y="9627870"/>
            <a:ext cx="777240" cy="339090"/>
          </a:xfrm>
          <a:prstGeom prst="rect">
            <a:avLst/>
          </a:prstGeom>
        </p:spPr>
        <p:txBody>
          <a:bodyPr anchor="t" rtlCol="false" tIns="0" lIns="0" bIns="0" rIns="0">
            <a:spAutoFit/>
          </a:bodyPr>
          <a:lstStyle/>
          <a:p>
            <a:pPr algn="r">
              <a:lnSpc>
                <a:spcPts val="1800"/>
              </a:lnSpc>
            </a:pPr>
            <a:r>
              <a:rPr lang="en-US" sz="1500">
                <a:solidFill>
                  <a:srgbClr val="000000"/>
                </a:solidFill>
                <a:latin typeface="Times New Roman"/>
                <a:ea typeface="Times New Roman"/>
                <a:cs typeface="Times New Roman"/>
                <a:sym typeface="Times New Roman"/>
              </a:rPr>
              <a:t>5</a:t>
            </a:r>
          </a:p>
        </p:txBody>
      </p:sp>
      <p:sp>
        <p:nvSpPr>
          <p:cNvPr name="Freeform 77" id="77"/>
          <p:cNvSpPr/>
          <p:nvPr/>
        </p:nvSpPr>
        <p:spPr>
          <a:xfrm flipH="false" flipV="false" rot="0">
            <a:off x="15175541" y="55401"/>
            <a:ext cx="2083759" cy="2083759"/>
          </a:xfrm>
          <a:custGeom>
            <a:avLst/>
            <a:gdLst/>
            <a:ahLst/>
            <a:cxnLst/>
            <a:rect r="r" b="b" t="t" l="l"/>
            <a:pathLst>
              <a:path h="2083759" w="2083759">
                <a:moveTo>
                  <a:pt x="0" y="0"/>
                </a:moveTo>
                <a:lnTo>
                  <a:pt x="2083759" y="0"/>
                </a:lnTo>
                <a:lnTo>
                  <a:pt x="2083759" y="2083758"/>
                </a:lnTo>
                <a:lnTo>
                  <a:pt x="0" y="2083758"/>
                </a:lnTo>
                <a:lnTo>
                  <a:pt x="0" y="0"/>
                </a:lnTo>
                <a:close/>
              </a:path>
            </a:pathLst>
          </a:custGeom>
          <a:blipFill>
            <a:blip r:embed="rId4"/>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9601200"/>
            <a:ext cx="8229600" cy="411480"/>
            <a:chOff x="0" y="0"/>
            <a:chExt cx="10972800" cy="548640"/>
          </a:xfrm>
        </p:grpSpPr>
        <p:sp>
          <p:nvSpPr>
            <p:cNvPr name="Freeform 3" id="3"/>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700" r="0" b="-339700"/>
              </a:stretch>
            </a:blipFill>
          </p:spPr>
        </p:sp>
        <p:sp>
          <p:nvSpPr>
            <p:cNvPr name="TextBox 4" id="4"/>
            <p:cNvSpPr txBox="true"/>
            <p:nvPr/>
          </p:nvSpPr>
          <p:spPr>
            <a:xfrm>
              <a:off x="0" y="-19050"/>
              <a:ext cx="10972800" cy="567690"/>
            </a:xfrm>
            <a:prstGeom prst="rect">
              <a:avLst/>
            </a:prstGeom>
          </p:spPr>
          <p:txBody>
            <a:bodyPr anchor="ctr" rtlCol="false" tIns="0" lIns="0" bIns="0" rIns="0"/>
            <a:lstStyle/>
            <a:p>
              <a:pPr algn="l">
                <a:lnSpc>
                  <a:spcPts val="1800"/>
                </a:lnSpc>
              </a:pPr>
              <a:r>
                <a:rPr lang="en-US" sz="1500">
                  <a:solidFill>
                    <a:srgbClr val="000000"/>
                  </a:solidFill>
                  <a:latin typeface="Times New Roman"/>
                  <a:ea typeface="Times New Roman"/>
                  <a:cs typeface="Times New Roman"/>
                  <a:sym typeface="Times New Roman"/>
                </a:rPr>
                <a:t>Building an FSA for Token Recognition</a:t>
              </a:r>
            </a:p>
          </p:txBody>
        </p:sp>
      </p:grpSp>
      <p:grpSp>
        <p:nvGrpSpPr>
          <p:cNvPr name="Group 5" id="5"/>
          <p:cNvGrpSpPr/>
          <p:nvPr/>
        </p:nvGrpSpPr>
        <p:grpSpPr>
          <a:xfrm rot="0">
            <a:off x="960120" y="548640"/>
            <a:ext cx="15361920" cy="1097280"/>
            <a:chOff x="0" y="0"/>
            <a:chExt cx="20482560" cy="1463040"/>
          </a:xfrm>
        </p:grpSpPr>
        <p:sp>
          <p:nvSpPr>
            <p:cNvPr name="Freeform 6" id="6"/>
            <p:cNvSpPr/>
            <p:nvPr/>
          </p:nvSpPr>
          <p:spPr>
            <a:xfrm flipH="false" flipV="false" rot="0">
              <a:off x="0" y="0"/>
              <a:ext cx="20482561" cy="1463040"/>
            </a:xfrm>
            <a:custGeom>
              <a:avLst/>
              <a:gdLst/>
              <a:ahLst/>
              <a:cxnLst/>
              <a:rect r="r" b="b" t="t" l="l"/>
              <a:pathLst>
                <a:path h="1463040" w="20482561">
                  <a:moveTo>
                    <a:pt x="0" y="0"/>
                  </a:moveTo>
                  <a:lnTo>
                    <a:pt x="20482561" y="0"/>
                  </a:lnTo>
                  <a:lnTo>
                    <a:pt x="20482561" y="1463040"/>
                  </a:lnTo>
                  <a:lnTo>
                    <a:pt x="0" y="1463040"/>
                  </a:lnTo>
                  <a:close/>
                </a:path>
              </a:pathLst>
            </a:custGeom>
            <a:blipFill>
              <a:blip r:embed="rId3">
                <a:alphaModFix amt="0"/>
              </a:blip>
              <a:stretch>
                <a:fillRect l="0" t="-222790" r="0" b="-222790"/>
              </a:stretch>
            </a:blipFill>
          </p:spPr>
        </p:sp>
        <p:sp>
          <p:nvSpPr>
            <p:cNvPr name="TextBox 7" id="7"/>
            <p:cNvSpPr txBox="true"/>
            <p:nvPr/>
          </p:nvSpPr>
          <p:spPr>
            <a:xfrm>
              <a:off x="0" y="-28575"/>
              <a:ext cx="20482560" cy="1491615"/>
            </a:xfrm>
            <a:prstGeom prst="rect">
              <a:avLst/>
            </a:prstGeom>
          </p:spPr>
          <p:txBody>
            <a:bodyPr anchor="ctr" rtlCol="false" tIns="0" lIns="0" bIns="0" rIns="0"/>
            <a:lstStyle/>
            <a:p>
              <a:pPr algn="l">
                <a:lnSpc>
                  <a:spcPts val="6120"/>
                </a:lnSpc>
              </a:pPr>
              <a:r>
                <a:rPr lang="en-US" sz="5100" b="true">
                  <a:solidFill>
                    <a:srgbClr val="000000"/>
                  </a:solidFill>
                  <a:latin typeface="Times New Roman Bold"/>
                  <a:ea typeface="Times New Roman Bold"/>
                  <a:cs typeface="Times New Roman Bold"/>
                  <a:sym typeface="Times New Roman Bold"/>
                </a:rPr>
                <a:t>DFA for identifiers</a:t>
              </a:r>
            </a:p>
          </p:txBody>
        </p:sp>
      </p:grpSp>
      <p:sp>
        <p:nvSpPr>
          <p:cNvPr name="TextBox 8" id="8"/>
          <p:cNvSpPr txBox="true"/>
          <p:nvPr/>
        </p:nvSpPr>
        <p:spPr>
          <a:xfrm rot="0">
            <a:off x="960120" y="1773555"/>
            <a:ext cx="15361920" cy="558165"/>
          </a:xfrm>
          <a:prstGeom prst="rect">
            <a:avLst/>
          </a:prstGeom>
        </p:spPr>
        <p:txBody>
          <a:bodyPr anchor="t" rtlCol="false" tIns="0" lIns="0" bIns="0" rIns="0">
            <a:spAutoFit/>
          </a:bodyPr>
          <a:lstStyle/>
          <a:p>
            <a:pPr algn="l">
              <a:lnSpc>
                <a:spcPts val="2879"/>
              </a:lnSpc>
            </a:pPr>
            <a:r>
              <a:rPr lang="en-US" sz="2400">
                <a:solidFill>
                  <a:srgbClr val="000000"/>
                </a:solidFill>
                <a:latin typeface="Times New Roman"/>
                <a:ea typeface="Times New Roman"/>
                <a:cs typeface="Times New Roman"/>
                <a:sym typeface="Times New Roman"/>
              </a:rPr>
              <a:t>Start with a letter or underscore, then allow letters, digits and underscores.</a:t>
            </a:r>
          </a:p>
        </p:txBody>
      </p:sp>
      <p:sp>
        <p:nvSpPr>
          <p:cNvPr name="AutoShape 9" id="9"/>
          <p:cNvSpPr/>
          <p:nvPr/>
        </p:nvSpPr>
        <p:spPr>
          <a:xfrm rot="157560">
            <a:off x="1006773" y="5476875"/>
            <a:ext cx="935384" cy="0"/>
          </a:xfrm>
          <a:prstGeom prst="line">
            <a:avLst/>
          </a:prstGeom>
          <a:ln cap="rnd" w="19050">
            <a:solidFill>
              <a:srgbClr val="000000"/>
            </a:solidFill>
            <a:prstDash val="solid"/>
            <a:headEnd type="none" len="sm" w="sm"/>
            <a:tailEnd type="triangle" len="med" w="lg"/>
          </a:ln>
        </p:spPr>
      </p:sp>
      <p:grpSp>
        <p:nvGrpSpPr>
          <p:cNvPr name="Group 10" id="10"/>
          <p:cNvGrpSpPr/>
          <p:nvPr/>
        </p:nvGrpSpPr>
        <p:grpSpPr>
          <a:xfrm rot="0">
            <a:off x="1967389" y="4710589"/>
            <a:ext cx="1551623" cy="1551623"/>
            <a:chOff x="0" y="0"/>
            <a:chExt cx="2068830" cy="2068830"/>
          </a:xfrm>
        </p:grpSpPr>
        <p:sp>
          <p:nvSpPr>
            <p:cNvPr name="Freeform 11" id="11"/>
            <p:cNvSpPr/>
            <p:nvPr/>
          </p:nvSpPr>
          <p:spPr>
            <a:xfrm flipH="false" flipV="false" rot="0">
              <a:off x="0" y="0"/>
              <a:ext cx="2068830" cy="2068830"/>
            </a:xfrm>
            <a:custGeom>
              <a:avLst/>
              <a:gdLst/>
              <a:ahLst/>
              <a:cxnLst/>
              <a:rect r="r" b="b" t="t" l="l"/>
              <a:pathLst>
                <a:path h="2068830" w="2068830">
                  <a:moveTo>
                    <a:pt x="0" y="1034415"/>
                  </a:moveTo>
                  <a:cubicBezTo>
                    <a:pt x="0" y="463169"/>
                    <a:pt x="463169" y="0"/>
                    <a:pt x="1034415" y="0"/>
                  </a:cubicBezTo>
                  <a:cubicBezTo>
                    <a:pt x="1605661" y="0"/>
                    <a:pt x="2068830" y="463169"/>
                    <a:pt x="2068830" y="1034415"/>
                  </a:cubicBezTo>
                  <a:cubicBezTo>
                    <a:pt x="2068830" y="1605661"/>
                    <a:pt x="1605661" y="2068830"/>
                    <a:pt x="1034415" y="2068830"/>
                  </a:cubicBezTo>
                  <a:cubicBezTo>
                    <a:pt x="463169" y="2068830"/>
                    <a:pt x="0" y="1605661"/>
                    <a:pt x="0" y="1034415"/>
                  </a:cubicBezTo>
                  <a:close/>
                </a:path>
              </a:pathLst>
            </a:custGeom>
            <a:solidFill>
              <a:srgbClr val="FFFFFF"/>
            </a:solidFill>
            <a:ln w="42862" cap="sq">
              <a:solidFill>
                <a:srgbClr val="000000"/>
              </a:solidFill>
              <a:prstDash val="solid"/>
              <a:miter/>
            </a:ln>
          </p:spPr>
        </p:sp>
      </p:grpSp>
      <p:grpSp>
        <p:nvGrpSpPr>
          <p:cNvPr name="Group 12" id="12"/>
          <p:cNvGrpSpPr/>
          <p:nvPr/>
        </p:nvGrpSpPr>
        <p:grpSpPr>
          <a:xfrm rot="0">
            <a:off x="1988820" y="4732020"/>
            <a:ext cx="1508760" cy="1508760"/>
            <a:chOff x="0" y="0"/>
            <a:chExt cx="2011680" cy="2011680"/>
          </a:xfrm>
        </p:grpSpPr>
        <p:sp>
          <p:nvSpPr>
            <p:cNvPr name="Freeform 13" id="13"/>
            <p:cNvSpPr/>
            <p:nvPr/>
          </p:nvSpPr>
          <p:spPr>
            <a:xfrm flipH="false" flipV="false" rot="0">
              <a:off x="0" y="0"/>
              <a:ext cx="2011680" cy="2011680"/>
            </a:xfrm>
            <a:custGeom>
              <a:avLst/>
              <a:gdLst/>
              <a:ahLst/>
              <a:cxnLst/>
              <a:rect r="r" b="b" t="t" l="l"/>
              <a:pathLst>
                <a:path h="2011680" w="2011680">
                  <a:moveTo>
                    <a:pt x="0" y="0"/>
                  </a:moveTo>
                  <a:lnTo>
                    <a:pt x="2011680" y="0"/>
                  </a:lnTo>
                  <a:lnTo>
                    <a:pt x="2011680" y="2011680"/>
                  </a:lnTo>
                  <a:lnTo>
                    <a:pt x="0" y="2011680"/>
                  </a:lnTo>
                  <a:close/>
                </a:path>
              </a:pathLst>
            </a:custGeom>
            <a:blipFill>
              <a:blip r:embed="rId3">
                <a:alphaModFix amt="0"/>
              </a:blip>
              <a:stretch>
                <a:fillRect l="-78303" t="0" r="-78303" b="0"/>
              </a:stretch>
            </a:blipFill>
          </p:spPr>
        </p:sp>
        <p:sp>
          <p:nvSpPr>
            <p:cNvPr name="TextBox 14" id="14"/>
            <p:cNvSpPr txBox="true"/>
            <p:nvPr/>
          </p:nvSpPr>
          <p:spPr>
            <a:xfrm>
              <a:off x="0" y="-19050"/>
              <a:ext cx="2011680" cy="2030730"/>
            </a:xfrm>
            <a:prstGeom prst="rect">
              <a:avLst/>
            </a:prstGeom>
          </p:spPr>
          <p:txBody>
            <a:bodyPr anchor="ctr" rtlCol="false" tIns="0" lIns="0" bIns="0" rIns="0"/>
            <a:lstStyle/>
            <a:p>
              <a:pPr algn="ctr">
                <a:lnSpc>
                  <a:spcPts val="3240"/>
                </a:lnSpc>
              </a:pPr>
              <a:r>
                <a:rPr lang="en-US" sz="2700" b="true">
                  <a:solidFill>
                    <a:srgbClr val="000000"/>
                  </a:solidFill>
                  <a:latin typeface="Times New Roman Bold"/>
                  <a:ea typeface="Times New Roman Bold"/>
                  <a:cs typeface="Times New Roman Bold"/>
                  <a:sym typeface="Times New Roman Bold"/>
                </a:rPr>
                <a:t>q0</a:t>
              </a:r>
            </a:p>
          </p:txBody>
        </p:sp>
      </p:grpSp>
      <p:grpSp>
        <p:nvGrpSpPr>
          <p:cNvPr name="Group 15" id="15"/>
          <p:cNvGrpSpPr/>
          <p:nvPr/>
        </p:nvGrpSpPr>
        <p:grpSpPr>
          <a:xfrm rot="0">
            <a:off x="6902768" y="4571047"/>
            <a:ext cx="1830705" cy="1830705"/>
            <a:chOff x="0" y="0"/>
            <a:chExt cx="2440940" cy="2440940"/>
          </a:xfrm>
        </p:grpSpPr>
        <p:sp>
          <p:nvSpPr>
            <p:cNvPr name="Freeform 16" id="16"/>
            <p:cNvSpPr/>
            <p:nvPr/>
          </p:nvSpPr>
          <p:spPr>
            <a:xfrm flipH="false" flipV="false" rot="0">
              <a:off x="0" y="0"/>
              <a:ext cx="2440940" cy="2440940"/>
            </a:xfrm>
            <a:custGeom>
              <a:avLst/>
              <a:gdLst/>
              <a:ahLst/>
              <a:cxnLst/>
              <a:rect r="r" b="b" t="t" l="l"/>
              <a:pathLst>
                <a:path h="2440940" w="2440940">
                  <a:moveTo>
                    <a:pt x="0" y="1220470"/>
                  </a:moveTo>
                  <a:cubicBezTo>
                    <a:pt x="0" y="546481"/>
                    <a:pt x="546481" y="0"/>
                    <a:pt x="1220470" y="0"/>
                  </a:cubicBezTo>
                  <a:cubicBezTo>
                    <a:pt x="1894459" y="0"/>
                    <a:pt x="2440940" y="546481"/>
                    <a:pt x="2440940" y="1220470"/>
                  </a:cubicBezTo>
                  <a:cubicBezTo>
                    <a:pt x="2440940" y="1894459"/>
                    <a:pt x="1894459" y="2440940"/>
                    <a:pt x="1220470" y="2440940"/>
                  </a:cubicBezTo>
                  <a:cubicBezTo>
                    <a:pt x="546481" y="2440940"/>
                    <a:pt x="0" y="1894459"/>
                    <a:pt x="0" y="1220470"/>
                  </a:cubicBezTo>
                  <a:close/>
                </a:path>
              </a:pathLst>
            </a:custGeom>
            <a:blipFill>
              <a:blip r:embed="rId3">
                <a:alphaModFix amt="0"/>
              </a:blip>
              <a:stretch>
                <a:fillRect l="-78303" t="0" r="-78303" b="0"/>
              </a:stretch>
            </a:blipFill>
            <a:ln w="47625" cap="sq">
              <a:solidFill>
                <a:srgbClr val="000000"/>
              </a:solidFill>
              <a:prstDash val="solid"/>
              <a:miter/>
            </a:ln>
          </p:spPr>
        </p:sp>
      </p:grpSp>
      <p:grpSp>
        <p:nvGrpSpPr>
          <p:cNvPr name="Group 17" id="17"/>
          <p:cNvGrpSpPr/>
          <p:nvPr/>
        </p:nvGrpSpPr>
        <p:grpSpPr>
          <a:xfrm rot="0">
            <a:off x="7042309" y="4710589"/>
            <a:ext cx="1551623" cy="1551623"/>
            <a:chOff x="0" y="0"/>
            <a:chExt cx="2068830" cy="2068830"/>
          </a:xfrm>
        </p:grpSpPr>
        <p:sp>
          <p:nvSpPr>
            <p:cNvPr name="Freeform 18" id="18"/>
            <p:cNvSpPr/>
            <p:nvPr/>
          </p:nvSpPr>
          <p:spPr>
            <a:xfrm flipH="false" flipV="false" rot="0">
              <a:off x="0" y="0"/>
              <a:ext cx="2068830" cy="2068830"/>
            </a:xfrm>
            <a:custGeom>
              <a:avLst/>
              <a:gdLst/>
              <a:ahLst/>
              <a:cxnLst/>
              <a:rect r="r" b="b" t="t" l="l"/>
              <a:pathLst>
                <a:path h="2068830" w="2068830">
                  <a:moveTo>
                    <a:pt x="0" y="1034415"/>
                  </a:moveTo>
                  <a:cubicBezTo>
                    <a:pt x="0" y="463169"/>
                    <a:pt x="463169" y="0"/>
                    <a:pt x="1034415" y="0"/>
                  </a:cubicBezTo>
                  <a:cubicBezTo>
                    <a:pt x="1605661" y="0"/>
                    <a:pt x="2068830" y="463169"/>
                    <a:pt x="2068830" y="1034415"/>
                  </a:cubicBezTo>
                  <a:cubicBezTo>
                    <a:pt x="2068830" y="1605661"/>
                    <a:pt x="1605661" y="2068830"/>
                    <a:pt x="1034415" y="2068830"/>
                  </a:cubicBezTo>
                  <a:cubicBezTo>
                    <a:pt x="463169" y="2068830"/>
                    <a:pt x="0" y="1605661"/>
                    <a:pt x="0" y="1034415"/>
                  </a:cubicBezTo>
                  <a:close/>
                </a:path>
              </a:pathLst>
            </a:custGeom>
            <a:solidFill>
              <a:srgbClr val="FFFFFF"/>
            </a:solidFill>
            <a:ln w="42862" cap="sq">
              <a:solidFill>
                <a:srgbClr val="000000"/>
              </a:solidFill>
              <a:prstDash val="solid"/>
              <a:miter/>
            </a:ln>
          </p:spPr>
        </p:sp>
      </p:grpSp>
      <p:grpSp>
        <p:nvGrpSpPr>
          <p:cNvPr name="Group 19" id="19"/>
          <p:cNvGrpSpPr/>
          <p:nvPr/>
        </p:nvGrpSpPr>
        <p:grpSpPr>
          <a:xfrm rot="0">
            <a:off x="7063740" y="4732020"/>
            <a:ext cx="1508760" cy="1508760"/>
            <a:chOff x="0" y="0"/>
            <a:chExt cx="2011680" cy="2011680"/>
          </a:xfrm>
        </p:grpSpPr>
        <p:sp>
          <p:nvSpPr>
            <p:cNvPr name="Freeform 20" id="20"/>
            <p:cNvSpPr/>
            <p:nvPr/>
          </p:nvSpPr>
          <p:spPr>
            <a:xfrm flipH="false" flipV="false" rot="0">
              <a:off x="0" y="0"/>
              <a:ext cx="2011680" cy="2011680"/>
            </a:xfrm>
            <a:custGeom>
              <a:avLst/>
              <a:gdLst/>
              <a:ahLst/>
              <a:cxnLst/>
              <a:rect r="r" b="b" t="t" l="l"/>
              <a:pathLst>
                <a:path h="2011680" w="2011680">
                  <a:moveTo>
                    <a:pt x="0" y="0"/>
                  </a:moveTo>
                  <a:lnTo>
                    <a:pt x="2011680" y="0"/>
                  </a:lnTo>
                  <a:lnTo>
                    <a:pt x="2011680" y="2011680"/>
                  </a:lnTo>
                  <a:lnTo>
                    <a:pt x="0" y="2011680"/>
                  </a:lnTo>
                  <a:close/>
                </a:path>
              </a:pathLst>
            </a:custGeom>
            <a:blipFill>
              <a:blip r:embed="rId3">
                <a:alphaModFix amt="0"/>
              </a:blip>
              <a:stretch>
                <a:fillRect l="-78303" t="0" r="-78303" b="0"/>
              </a:stretch>
            </a:blipFill>
          </p:spPr>
        </p:sp>
        <p:sp>
          <p:nvSpPr>
            <p:cNvPr name="TextBox 21" id="21"/>
            <p:cNvSpPr txBox="true"/>
            <p:nvPr/>
          </p:nvSpPr>
          <p:spPr>
            <a:xfrm>
              <a:off x="0" y="-19050"/>
              <a:ext cx="2011680" cy="2030730"/>
            </a:xfrm>
            <a:prstGeom prst="rect">
              <a:avLst/>
            </a:prstGeom>
          </p:spPr>
          <p:txBody>
            <a:bodyPr anchor="ctr" rtlCol="false" tIns="0" lIns="0" bIns="0" rIns="0"/>
            <a:lstStyle/>
            <a:p>
              <a:pPr algn="ctr">
                <a:lnSpc>
                  <a:spcPts val="3240"/>
                </a:lnSpc>
              </a:pPr>
              <a:r>
                <a:rPr lang="en-US" sz="2700" b="true">
                  <a:solidFill>
                    <a:srgbClr val="000000"/>
                  </a:solidFill>
                  <a:latin typeface="Times New Roman Bold"/>
                  <a:ea typeface="Times New Roman Bold"/>
                  <a:cs typeface="Times New Roman Bold"/>
                  <a:sym typeface="Times New Roman Bold"/>
                </a:rPr>
                <a:t>q1</a:t>
              </a:r>
            </a:p>
          </p:txBody>
        </p:sp>
      </p:grpSp>
      <p:sp>
        <p:nvSpPr>
          <p:cNvPr name="AutoShape 22" id="22"/>
          <p:cNvSpPr/>
          <p:nvPr/>
        </p:nvSpPr>
        <p:spPr>
          <a:xfrm rot="44160">
            <a:off x="3544595" y="5476875"/>
            <a:ext cx="3334979" cy="0"/>
          </a:xfrm>
          <a:prstGeom prst="line">
            <a:avLst/>
          </a:prstGeom>
          <a:ln cap="rnd" w="19050">
            <a:solidFill>
              <a:srgbClr val="000000"/>
            </a:solidFill>
            <a:prstDash val="solid"/>
            <a:headEnd type="none" len="sm" w="sm"/>
            <a:tailEnd type="triangle" len="med" w="lg"/>
          </a:ln>
        </p:spPr>
      </p:sp>
      <p:sp>
        <p:nvSpPr>
          <p:cNvPr name="TextBox 23" id="23"/>
          <p:cNvSpPr txBox="true"/>
          <p:nvPr/>
        </p:nvSpPr>
        <p:spPr>
          <a:xfrm rot="0">
            <a:off x="3566160" y="5631942"/>
            <a:ext cx="3291840" cy="499110"/>
          </a:xfrm>
          <a:prstGeom prst="rect">
            <a:avLst/>
          </a:prstGeom>
        </p:spPr>
        <p:txBody>
          <a:bodyPr anchor="t" rtlCol="false" tIns="0" lIns="0" bIns="0" rIns="0">
            <a:spAutoFit/>
          </a:bodyPr>
          <a:lstStyle/>
          <a:p>
            <a:pPr algn="ctr">
              <a:lnSpc>
                <a:spcPts val="2520"/>
              </a:lnSpc>
            </a:pPr>
            <a:r>
              <a:rPr lang="en-US" sz="2100" b="true">
                <a:solidFill>
                  <a:srgbClr val="000000"/>
                </a:solidFill>
                <a:latin typeface="Times New Roman Bold"/>
                <a:ea typeface="Times New Roman Bold"/>
                <a:cs typeface="Times New Roman Bold"/>
                <a:sym typeface="Times New Roman Bold"/>
              </a:rPr>
              <a:t>letter | _</a:t>
            </a:r>
          </a:p>
        </p:txBody>
      </p:sp>
      <p:grpSp>
        <p:nvGrpSpPr>
          <p:cNvPr name="Group 24" id="24"/>
          <p:cNvGrpSpPr/>
          <p:nvPr/>
        </p:nvGrpSpPr>
        <p:grpSpPr>
          <a:xfrm rot="0">
            <a:off x="7316629" y="3215545"/>
            <a:ext cx="1002982" cy="1414462"/>
            <a:chOff x="0" y="0"/>
            <a:chExt cx="1337310" cy="1885950"/>
          </a:xfrm>
        </p:grpSpPr>
        <p:sp>
          <p:nvSpPr>
            <p:cNvPr name="Freeform 25" id="25"/>
            <p:cNvSpPr/>
            <p:nvPr/>
          </p:nvSpPr>
          <p:spPr>
            <a:xfrm flipH="false" flipV="false" rot="0">
              <a:off x="0" y="0"/>
              <a:ext cx="1337310" cy="942975"/>
            </a:xfrm>
            <a:custGeom>
              <a:avLst/>
              <a:gdLst/>
              <a:ahLst/>
              <a:cxnLst/>
              <a:rect r="r" b="b" t="t" l="l"/>
              <a:pathLst>
                <a:path h="942975" w="1337310">
                  <a:moveTo>
                    <a:pt x="0" y="942975"/>
                  </a:moveTo>
                  <a:cubicBezTo>
                    <a:pt x="0" y="422148"/>
                    <a:pt x="299339" y="0"/>
                    <a:pt x="668655" y="0"/>
                  </a:cubicBezTo>
                  <a:cubicBezTo>
                    <a:pt x="1037971" y="0"/>
                    <a:pt x="1337310" y="422148"/>
                    <a:pt x="1337310" y="942975"/>
                  </a:cubicBezTo>
                  <a:lnTo>
                    <a:pt x="668655" y="942975"/>
                  </a:lnTo>
                  <a:close/>
                </a:path>
              </a:pathLst>
            </a:custGeom>
            <a:blipFill>
              <a:blip r:embed="rId3">
                <a:alphaModFix amt="0"/>
              </a:blip>
              <a:stretch>
                <a:fillRect l="-130940" t="0" r="-130940" b="-100000"/>
              </a:stretch>
            </a:blipFill>
            <a:ln w="42862" cap="sq">
              <a:solidFill>
                <a:srgbClr val="000000"/>
              </a:solidFill>
              <a:prstDash val="solid"/>
              <a:miter/>
            </a:ln>
          </p:spPr>
        </p:sp>
        <p:sp>
          <p:nvSpPr>
            <p:cNvPr name="Freeform 26" id="26"/>
            <p:cNvSpPr/>
            <p:nvPr/>
          </p:nvSpPr>
          <p:spPr>
            <a:xfrm flipH="false" flipV="false" rot="0">
              <a:off x="0" y="0"/>
              <a:ext cx="1337310" cy="942975"/>
            </a:xfrm>
            <a:custGeom>
              <a:avLst/>
              <a:gdLst/>
              <a:ahLst/>
              <a:cxnLst/>
              <a:rect r="r" b="b" t="t" l="l"/>
              <a:pathLst>
                <a:path h="942975" w="1337310">
                  <a:moveTo>
                    <a:pt x="0" y="942975"/>
                  </a:moveTo>
                  <a:cubicBezTo>
                    <a:pt x="0" y="422148"/>
                    <a:pt x="299339" y="0"/>
                    <a:pt x="668655" y="0"/>
                  </a:cubicBezTo>
                  <a:cubicBezTo>
                    <a:pt x="1037971" y="0"/>
                    <a:pt x="1337310" y="422148"/>
                    <a:pt x="1337310" y="942975"/>
                  </a:cubicBezTo>
                </a:path>
              </a:pathLst>
            </a:custGeom>
            <a:blipFill>
              <a:blip r:embed="rId3">
                <a:alphaModFix amt="0"/>
              </a:blip>
              <a:stretch>
                <a:fillRect l="-130940" t="0" r="-130940" b="-100000"/>
              </a:stretch>
            </a:blipFill>
            <a:ln w="42862" cap="sq">
              <a:solidFill>
                <a:srgbClr val="000000"/>
              </a:solidFill>
              <a:prstDash val="solid"/>
              <a:miter/>
            </a:ln>
          </p:spPr>
        </p:sp>
      </p:grpSp>
      <p:sp>
        <p:nvSpPr>
          <p:cNvPr name="TextBox 27" id="27"/>
          <p:cNvSpPr txBox="true"/>
          <p:nvPr/>
        </p:nvSpPr>
        <p:spPr>
          <a:xfrm rot="0">
            <a:off x="6172200" y="2600706"/>
            <a:ext cx="3291840" cy="499110"/>
          </a:xfrm>
          <a:prstGeom prst="rect">
            <a:avLst/>
          </a:prstGeom>
        </p:spPr>
        <p:txBody>
          <a:bodyPr anchor="t" rtlCol="false" tIns="0" lIns="0" bIns="0" rIns="0">
            <a:spAutoFit/>
          </a:bodyPr>
          <a:lstStyle/>
          <a:p>
            <a:pPr algn="ctr">
              <a:lnSpc>
                <a:spcPts val="2520"/>
              </a:lnSpc>
            </a:pPr>
            <a:r>
              <a:rPr lang="en-US" sz="2100" b="true">
                <a:solidFill>
                  <a:srgbClr val="000000"/>
                </a:solidFill>
                <a:latin typeface="Times New Roman Bold"/>
                <a:ea typeface="Times New Roman Bold"/>
                <a:cs typeface="Times New Roman Bold"/>
                <a:sym typeface="Times New Roman Bold"/>
              </a:rPr>
              <a:t>letter | digit | _</a:t>
            </a:r>
          </a:p>
        </p:txBody>
      </p:sp>
      <p:sp>
        <p:nvSpPr>
          <p:cNvPr name="AutoShape 28" id="28"/>
          <p:cNvSpPr/>
          <p:nvPr/>
        </p:nvSpPr>
        <p:spPr>
          <a:xfrm rot="5253180">
            <a:off x="2241252" y="6779895"/>
            <a:ext cx="1003897" cy="0"/>
          </a:xfrm>
          <a:prstGeom prst="line">
            <a:avLst/>
          </a:prstGeom>
          <a:ln cap="rnd" w="19050">
            <a:solidFill>
              <a:srgbClr val="000000"/>
            </a:solidFill>
            <a:prstDash val="solid"/>
            <a:headEnd type="none" len="sm" w="sm"/>
            <a:tailEnd type="triangle" len="med" w="lg"/>
          </a:ln>
        </p:spPr>
      </p:sp>
      <p:sp>
        <p:nvSpPr>
          <p:cNvPr name="TextBox 29" id="29"/>
          <p:cNvSpPr txBox="true"/>
          <p:nvPr/>
        </p:nvSpPr>
        <p:spPr>
          <a:xfrm rot="0">
            <a:off x="2948940" y="6358890"/>
            <a:ext cx="3017520" cy="499110"/>
          </a:xfrm>
          <a:prstGeom prst="rect">
            <a:avLst/>
          </a:prstGeom>
        </p:spPr>
        <p:txBody>
          <a:bodyPr anchor="t" rtlCol="false" tIns="0" lIns="0" bIns="0" rIns="0">
            <a:spAutoFit/>
          </a:bodyPr>
          <a:lstStyle/>
          <a:p>
            <a:pPr algn="ctr">
              <a:lnSpc>
                <a:spcPts val="2520"/>
              </a:lnSpc>
            </a:pPr>
            <a:r>
              <a:rPr lang="en-US" sz="2100" b="true">
                <a:solidFill>
                  <a:srgbClr val="000000"/>
                </a:solidFill>
                <a:latin typeface="Times New Roman Bold"/>
                <a:ea typeface="Times New Roman Bold"/>
                <a:cs typeface="Times New Roman Bold"/>
                <a:sym typeface="Times New Roman Bold"/>
              </a:rPr>
              <a:t>digit | other</a:t>
            </a:r>
          </a:p>
        </p:txBody>
      </p:sp>
      <p:grpSp>
        <p:nvGrpSpPr>
          <p:cNvPr name="Group 30" id="30"/>
          <p:cNvGrpSpPr/>
          <p:nvPr/>
        </p:nvGrpSpPr>
        <p:grpSpPr>
          <a:xfrm rot="0">
            <a:off x="2035969" y="7316629"/>
            <a:ext cx="1414462" cy="1414462"/>
            <a:chOff x="0" y="0"/>
            <a:chExt cx="1885950" cy="1885950"/>
          </a:xfrm>
        </p:grpSpPr>
        <p:sp>
          <p:nvSpPr>
            <p:cNvPr name="Freeform 31" id="31"/>
            <p:cNvSpPr/>
            <p:nvPr/>
          </p:nvSpPr>
          <p:spPr>
            <a:xfrm flipH="false" flipV="false" rot="0">
              <a:off x="0" y="0"/>
              <a:ext cx="1885950" cy="1885950"/>
            </a:xfrm>
            <a:custGeom>
              <a:avLst/>
              <a:gdLst/>
              <a:ahLst/>
              <a:cxnLst/>
              <a:rect r="r" b="b" t="t" l="l"/>
              <a:pathLst>
                <a:path h="1885950" w="1885950">
                  <a:moveTo>
                    <a:pt x="0" y="942975"/>
                  </a:moveTo>
                  <a:cubicBezTo>
                    <a:pt x="0" y="422148"/>
                    <a:pt x="422148" y="0"/>
                    <a:pt x="942975" y="0"/>
                  </a:cubicBezTo>
                  <a:cubicBezTo>
                    <a:pt x="1463802" y="0"/>
                    <a:pt x="1885950" y="422148"/>
                    <a:pt x="1885950" y="942975"/>
                  </a:cubicBezTo>
                  <a:cubicBezTo>
                    <a:pt x="1885950" y="1463802"/>
                    <a:pt x="1463802" y="1885950"/>
                    <a:pt x="942975" y="1885950"/>
                  </a:cubicBezTo>
                  <a:cubicBezTo>
                    <a:pt x="422148" y="1885950"/>
                    <a:pt x="0" y="1463802"/>
                    <a:pt x="0" y="942975"/>
                  </a:cubicBezTo>
                  <a:close/>
                </a:path>
              </a:pathLst>
            </a:custGeom>
            <a:solidFill>
              <a:srgbClr val="FFFFFF"/>
            </a:solidFill>
            <a:ln w="42862" cap="sq">
              <a:solidFill>
                <a:srgbClr val="000000"/>
              </a:solidFill>
              <a:prstDash val="dash"/>
              <a:miter/>
            </a:ln>
          </p:spPr>
        </p:sp>
      </p:grpSp>
      <p:grpSp>
        <p:nvGrpSpPr>
          <p:cNvPr name="Group 32" id="32"/>
          <p:cNvGrpSpPr/>
          <p:nvPr/>
        </p:nvGrpSpPr>
        <p:grpSpPr>
          <a:xfrm rot="0">
            <a:off x="2057400" y="7338060"/>
            <a:ext cx="1371600" cy="1371600"/>
            <a:chOff x="0" y="0"/>
            <a:chExt cx="1828800" cy="1828800"/>
          </a:xfrm>
        </p:grpSpPr>
        <p:sp>
          <p:nvSpPr>
            <p:cNvPr name="Freeform 33" id="33"/>
            <p:cNvSpPr/>
            <p:nvPr/>
          </p:nvSpPr>
          <p:spPr>
            <a:xfrm flipH="false" flipV="false" rot="0">
              <a:off x="0" y="0"/>
              <a:ext cx="1828800" cy="1828800"/>
            </a:xfrm>
            <a:custGeom>
              <a:avLst/>
              <a:gdLst/>
              <a:ahLst/>
              <a:cxnLst/>
              <a:rect r="r" b="b" t="t" l="l"/>
              <a:pathLst>
                <a:path h="1828800" w="1828800">
                  <a:moveTo>
                    <a:pt x="0" y="0"/>
                  </a:moveTo>
                  <a:lnTo>
                    <a:pt x="1828800" y="0"/>
                  </a:lnTo>
                  <a:lnTo>
                    <a:pt x="1828800" y="1828800"/>
                  </a:lnTo>
                  <a:lnTo>
                    <a:pt x="0" y="1828800"/>
                  </a:lnTo>
                  <a:close/>
                </a:path>
              </a:pathLst>
            </a:custGeom>
            <a:blipFill>
              <a:blip r:embed="rId3">
                <a:alphaModFix amt="0"/>
              </a:blip>
              <a:stretch>
                <a:fillRect l="-78303" t="0" r="-78303" b="0"/>
              </a:stretch>
            </a:blipFill>
          </p:spPr>
        </p:sp>
        <p:sp>
          <p:nvSpPr>
            <p:cNvPr name="TextBox 34" id="34"/>
            <p:cNvSpPr txBox="true"/>
            <p:nvPr/>
          </p:nvSpPr>
          <p:spPr>
            <a:xfrm>
              <a:off x="0" y="-19050"/>
              <a:ext cx="1828800" cy="1847850"/>
            </a:xfrm>
            <a:prstGeom prst="rect">
              <a:avLst/>
            </a:prstGeom>
          </p:spPr>
          <p:txBody>
            <a:bodyPr anchor="ctr" rtlCol="false" tIns="0" lIns="0" bIns="0" rIns="0"/>
            <a:lstStyle/>
            <a:p>
              <a:pPr algn="ctr">
                <a:lnSpc>
                  <a:spcPts val="2520"/>
                </a:lnSpc>
              </a:pPr>
              <a:r>
                <a:rPr lang="en-US" sz="2100" b="true">
                  <a:solidFill>
                    <a:srgbClr val="000000"/>
                  </a:solidFill>
                  <a:latin typeface="Times New Roman Bold"/>
                  <a:ea typeface="Times New Roman Bold"/>
                  <a:cs typeface="Times New Roman Bold"/>
                  <a:sym typeface="Times New Roman Bold"/>
                </a:rPr>
                <a:t>ERR</a:t>
              </a:r>
            </a:p>
          </p:txBody>
        </p:sp>
      </p:grpSp>
      <p:sp>
        <p:nvSpPr>
          <p:cNvPr name="TextBox 35" id="35"/>
          <p:cNvSpPr txBox="true"/>
          <p:nvPr/>
        </p:nvSpPr>
        <p:spPr>
          <a:xfrm rot="0">
            <a:off x="5760720" y="7044690"/>
            <a:ext cx="4937760" cy="1116330"/>
          </a:xfrm>
          <a:prstGeom prst="rect">
            <a:avLst/>
          </a:prstGeom>
        </p:spPr>
        <p:txBody>
          <a:bodyPr anchor="t" rtlCol="false" tIns="0" lIns="0" bIns="0" rIns="0">
            <a:spAutoFit/>
          </a:bodyPr>
          <a:lstStyle/>
          <a:p>
            <a:pPr algn="l">
              <a:lnSpc>
                <a:spcPts val="2520"/>
              </a:lnSpc>
            </a:pPr>
            <a:r>
              <a:rPr lang="en-US" sz="2100">
                <a:solidFill>
                  <a:srgbClr val="000000"/>
                </a:solidFill>
                <a:latin typeface="Times New Roman"/>
                <a:ea typeface="Times New Roman"/>
                <a:cs typeface="Times New Roman"/>
                <a:sym typeface="Times New Roman"/>
              </a:rPr>
              <a:t>Any other character leaves q1 and emits an IDENTIFIER token.</a:t>
            </a:r>
          </a:p>
        </p:txBody>
      </p:sp>
      <p:grpSp>
        <p:nvGrpSpPr>
          <p:cNvPr name="Group 36" id="36"/>
          <p:cNvGrpSpPr/>
          <p:nvPr/>
        </p:nvGrpSpPr>
        <p:grpSpPr>
          <a:xfrm rot="0">
            <a:off x="11374755" y="2665095"/>
            <a:ext cx="5958078" cy="6534150"/>
            <a:chOff x="0" y="0"/>
            <a:chExt cx="7944104" cy="8712200"/>
          </a:xfrm>
        </p:grpSpPr>
        <p:sp>
          <p:nvSpPr>
            <p:cNvPr name="Freeform 37" id="37"/>
            <p:cNvSpPr/>
            <p:nvPr/>
          </p:nvSpPr>
          <p:spPr>
            <a:xfrm flipH="false" flipV="false" rot="0">
              <a:off x="0" y="0"/>
              <a:ext cx="7944104" cy="8712200"/>
            </a:xfrm>
            <a:custGeom>
              <a:avLst/>
              <a:gdLst/>
              <a:ahLst/>
              <a:cxnLst/>
              <a:rect r="r" b="b" t="t" l="l"/>
              <a:pathLst>
                <a:path h="8712200" w="7944104">
                  <a:moveTo>
                    <a:pt x="0" y="220091"/>
                  </a:moveTo>
                  <a:cubicBezTo>
                    <a:pt x="0" y="98552"/>
                    <a:pt x="98552" y="0"/>
                    <a:pt x="220091" y="0"/>
                  </a:cubicBezTo>
                  <a:lnTo>
                    <a:pt x="7724013" y="0"/>
                  </a:lnTo>
                  <a:cubicBezTo>
                    <a:pt x="7845552" y="0"/>
                    <a:pt x="7944104" y="98552"/>
                    <a:pt x="7944104" y="220091"/>
                  </a:cubicBezTo>
                  <a:lnTo>
                    <a:pt x="7944104" y="8492109"/>
                  </a:lnTo>
                  <a:cubicBezTo>
                    <a:pt x="7944104" y="8613648"/>
                    <a:pt x="7845552" y="8712200"/>
                    <a:pt x="7724013" y="8712200"/>
                  </a:cubicBezTo>
                  <a:lnTo>
                    <a:pt x="220091" y="8712200"/>
                  </a:lnTo>
                  <a:cubicBezTo>
                    <a:pt x="98552" y="8712200"/>
                    <a:pt x="0" y="8613648"/>
                    <a:pt x="0" y="8492109"/>
                  </a:cubicBezTo>
                  <a:close/>
                </a:path>
              </a:pathLst>
            </a:custGeom>
            <a:solidFill>
              <a:srgbClr val="FFFFFF"/>
            </a:solidFill>
            <a:ln w="19050" cap="sq">
              <a:solidFill>
                <a:srgbClr val="000000"/>
              </a:solidFill>
              <a:prstDash val="solid"/>
              <a:miter/>
            </a:ln>
          </p:spPr>
        </p:sp>
      </p:grpSp>
      <p:sp>
        <p:nvSpPr>
          <p:cNvPr name="TextBox 38" id="38"/>
          <p:cNvSpPr txBox="true"/>
          <p:nvPr/>
        </p:nvSpPr>
        <p:spPr>
          <a:xfrm rot="0">
            <a:off x="11795760" y="2929890"/>
            <a:ext cx="5074920" cy="430530"/>
          </a:xfrm>
          <a:prstGeom prst="rect">
            <a:avLst/>
          </a:prstGeom>
        </p:spPr>
        <p:txBody>
          <a:bodyPr anchor="t" rtlCol="false" tIns="0" lIns="0" bIns="0" rIns="0">
            <a:spAutoFit/>
          </a:bodyPr>
          <a:lstStyle/>
          <a:p>
            <a:pPr algn="l">
              <a:lnSpc>
                <a:spcPts val="2160"/>
              </a:lnSpc>
            </a:pPr>
            <a:r>
              <a:rPr lang="en-US" b="true" sz="1800" spc="300">
                <a:solidFill>
                  <a:srgbClr val="000000"/>
                </a:solidFill>
                <a:latin typeface="Times New Roman Bold"/>
                <a:ea typeface="Times New Roman Bold"/>
                <a:cs typeface="Times New Roman Bold"/>
                <a:sym typeface="Times New Roman Bold"/>
              </a:rPr>
              <a:t>TRACE IT</a:t>
            </a:r>
          </a:p>
        </p:txBody>
      </p:sp>
      <p:sp>
        <p:nvSpPr>
          <p:cNvPr name="TextBox 39" id="39"/>
          <p:cNvSpPr txBox="true"/>
          <p:nvPr/>
        </p:nvSpPr>
        <p:spPr>
          <a:xfrm rot="0">
            <a:off x="11795760" y="3478530"/>
            <a:ext cx="5074920" cy="636270"/>
          </a:xfrm>
          <a:prstGeom prst="rect">
            <a:avLst/>
          </a:prstGeom>
        </p:spPr>
        <p:txBody>
          <a:bodyPr anchor="t" rtlCol="false" tIns="0" lIns="0" bIns="0" rIns="0">
            <a:spAutoFit/>
          </a:bodyPr>
          <a:lstStyle/>
          <a:p>
            <a:pPr algn="l">
              <a:lnSpc>
                <a:spcPts val="3960"/>
              </a:lnSpc>
            </a:pPr>
            <a:r>
              <a:rPr lang="en-US" sz="3300" b="true">
                <a:solidFill>
                  <a:srgbClr val="000000"/>
                </a:solidFill>
                <a:latin typeface="Times New Roman Bold"/>
                <a:ea typeface="Times New Roman Bold"/>
                <a:cs typeface="Times New Roman Bold"/>
                <a:sym typeface="Times New Roman Bold"/>
              </a:rPr>
              <a:t>count2</a:t>
            </a:r>
          </a:p>
        </p:txBody>
      </p:sp>
      <p:sp>
        <p:nvSpPr>
          <p:cNvPr name="TextBox 40" id="40"/>
          <p:cNvSpPr txBox="true"/>
          <p:nvPr/>
        </p:nvSpPr>
        <p:spPr>
          <a:xfrm rot="0">
            <a:off x="11795760" y="4164330"/>
            <a:ext cx="5212080" cy="842010"/>
          </a:xfrm>
          <a:prstGeom prst="rect">
            <a:avLst/>
          </a:prstGeom>
        </p:spPr>
        <p:txBody>
          <a:bodyPr anchor="t" rtlCol="false" tIns="0" lIns="0" bIns="0" rIns="0">
            <a:spAutoFit/>
          </a:bodyPr>
          <a:lstStyle/>
          <a:p>
            <a:pPr algn="l">
              <a:lnSpc>
                <a:spcPts val="2160"/>
              </a:lnSpc>
            </a:pPr>
            <a:r>
              <a:rPr lang="en-US" sz="1800">
                <a:solidFill>
                  <a:srgbClr val="000000"/>
                </a:solidFill>
                <a:latin typeface="Times New Roman"/>
                <a:ea typeface="Times New Roman"/>
                <a:cs typeface="Times New Roman"/>
                <a:sym typeface="Times New Roman"/>
              </a:rPr>
              <a:t>q0 → q1 → q1 → q1 → q1 → q1 → q1</a:t>
            </a:r>
          </a:p>
        </p:txBody>
      </p:sp>
      <p:grpSp>
        <p:nvGrpSpPr>
          <p:cNvPr name="Group 41" id="41"/>
          <p:cNvGrpSpPr/>
          <p:nvPr/>
        </p:nvGrpSpPr>
        <p:grpSpPr>
          <a:xfrm rot="0">
            <a:off x="11781472" y="5129212"/>
            <a:ext cx="2223135" cy="494919"/>
            <a:chOff x="0" y="0"/>
            <a:chExt cx="2964180" cy="659892"/>
          </a:xfrm>
        </p:grpSpPr>
        <p:sp>
          <p:nvSpPr>
            <p:cNvPr name="Freeform 42" id="42"/>
            <p:cNvSpPr/>
            <p:nvPr/>
          </p:nvSpPr>
          <p:spPr>
            <a:xfrm flipH="false" flipV="false" rot="0">
              <a:off x="0" y="0"/>
              <a:ext cx="2964180" cy="659892"/>
            </a:xfrm>
            <a:custGeom>
              <a:avLst/>
              <a:gdLst/>
              <a:ahLst/>
              <a:cxnLst/>
              <a:rect r="r" b="b" t="t" l="l"/>
              <a:pathLst>
                <a:path h="659892" w="2964180">
                  <a:moveTo>
                    <a:pt x="0" y="329946"/>
                  </a:moveTo>
                  <a:cubicBezTo>
                    <a:pt x="0" y="147701"/>
                    <a:pt x="147701" y="0"/>
                    <a:pt x="329946" y="0"/>
                  </a:cubicBezTo>
                  <a:lnTo>
                    <a:pt x="2634234" y="0"/>
                  </a:lnTo>
                  <a:cubicBezTo>
                    <a:pt x="2816479" y="0"/>
                    <a:pt x="2964180" y="147701"/>
                    <a:pt x="2964180" y="329946"/>
                  </a:cubicBezTo>
                  <a:cubicBezTo>
                    <a:pt x="2964180" y="512191"/>
                    <a:pt x="2816479" y="659892"/>
                    <a:pt x="2634234" y="659892"/>
                  </a:cubicBezTo>
                  <a:lnTo>
                    <a:pt x="329946" y="659892"/>
                  </a:lnTo>
                  <a:cubicBezTo>
                    <a:pt x="147701" y="659892"/>
                    <a:pt x="0" y="512191"/>
                    <a:pt x="0" y="329946"/>
                  </a:cubicBezTo>
                  <a:close/>
                </a:path>
              </a:pathLst>
            </a:custGeom>
            <a:solidFill>
              <a:srgbClr val="FFFFFF"/>
            </a:solidFill>
            <a:ln w="28575" cap="sq">
              <a:solidFill>
                <a:srgbClr val="000000"/>
              </a:solidFill>
              <a:prstDash val="solid"/>
              <a:miter/>
            </a:ln>
          </p:spPr>
        </p:sp>
      </p:grpSp>
      <p:grpSp>
        <p:nvGrpSpPr>
          <p:cNvPr name="Group 43" id="43"/>
          <p:cNvGrpSpPr/>
          <p:nvPr/>
        </p:nvGrpSpPr>
        <p:grpSpPr>
          <a:xfrm rot="0">
            <a:off x="11795760" y="5143500"/>
            <a:ext cx="2194560" cy="466344"/>
            <a:chOff x="0" y="0"/>
            <a:chExt cx="2926080" cy="621792"/>
          </a:xfrm>
        </p:grpSpPr>
        <p:sp>
          <p:nvSpPr>
            <p:cNvPr name="Freeform 44" id="44"/>
            <p:cNvSpPr/>
            <p:nvPr/>
          </p:nvSpPr>
          <p:spPr>
            <a:xfrm flipH="false" flipV="false" rot="0">
              <a:off x="0" y="0"/>
              <a:ext cx="2926080" cy="621792"/>
            </a:xfrm>
            <a:custGeom>
              <a:avLst/>
              <a:gdLst/>
              <a:ahLst/>
              <a:cxnLst/>
              <a:rect r="r" b="b" t="t" l="l"/>
              <a:pathLst>
                <a:path h="621792" w="2926080">
                  <a:moveTo>
                    <a:pt x="0" y="0"/>
                  </a:moveTo>
                  <a:lnTo>
                    <a:pt x="2926080" y="0"/>
                  </a:lnTo>
                  <a:lnTo>
                    <a:pt x="2926080" y="621792"/>
                  </a:lnTo>
                  <a:lnTo>
                    <a:pt x="0" y="621792"/>
                  </a:lnTo>
                  <a:close/>
                </a:path>
              </a:pathLst>
            </a:custGeom>
            <a:blipFill>
              <a:blip r:embed="rId3">
                <a:alphaModFix amt="0"/>
              </a:blip>
              <a:stretch>
                <a:fillRect l="0" t="-41694" r="0" b="-41694"/>
              </a:stretch>
            </a:blipFill>
          </p:spPr>
        </p:sp>
        <p:sp>
          <p:nvSpPr>
            <p:cNvPr name="TextBox 45" id="45"/>
            <p:cNvSpPr txBox="true"/>
            <p:nvPr/>
          </p:nvSpPr>
          <p:spPr>
            <a:xfrm>
              <a:off x="0" y="-19050"/>
              <a:ext cx="2926080" cy="640842"/>
            </a:xfrm>
            <a:prstGeom prst="rect">
              <a:avLst/>
            </a:prstGeom>
          </p:spPr>
          <p:txBody>
            <a:bodyPr anchor="ctr" rtlCol="false" tIns="0" lIns="0" bIns="0" rIns="0"/>
            <a:lstStyle/>
            <a:p>
              <a:pPr algn="ctr">
                <a:lnSpc>
                  <a:spcPts val="2160"/>
                </a:lnSpc>
              </a:pPr>
              <a:r>
                <a:rPr lang="en-US" sz="1800" b="true">
                  <a:solidFill>
                    <a:srgbClr val="000000"/>
                  </a:solidFill>
                  <a:latin typeface="Times New Roman Bold"/>
                  <a:ea typeface="Times New Roman Bold"/>
                  <a:cs typeface="Times New Roman Bold"/>
                  <a:sym typeface="Times New Roman Bold"/>
                </a:rPr>
                <a:t>ACCEPTED</a:t>
              </a:r>
            </a:p>
          </p:txBody>
        </p:sp>
      </p:grpSp>
      <p:grpSp>
        <p:nvGrpSpPr>
          <p:cNvPr name="Group 46" id="46"/>
          <p:cNvGrpSpPr/>
          <p:nvPr/>
        </p:nvGrpSpPr>
        <p:grpSpPr>
          <a:xfrm rot="0">
            <a:off x="14264640" y="5143500"/>
            <a:ext cx="2743200" cy="466344"/>
            <a:chOff x="0" y="0"/>
            <a:chExt cx="3657600" cy="621792"/>
          </a:xfrm>
        </p:grpSpPr>
        <p:sp>
          <p:nvSpPr>
            <p:cNvPr name="Freeform 47" id="47"/>
            <p:cNvSpPr/>
            <p:nvPr/>
          </p:nvSpPr>
          <p:spPr>
            <a:xfrm flipH="false" flipV="false" rot="0">
              <a:off x="0" y="0"/>
              <a:ext cx="3657600" cy="621792"/>
            </a:xfrm>
            <a:custGeom>
              <a:avLst/>
              <a:gdLst/>
              <a:ahLst/>
              <a:cxnLst/>
              <a:rect r="r" b="b" t="t" l="l"/>
              <a:pathLst>
                <a:path h="621792" w="3657600">
                  <a:moveTo>
                    <a:pt x="0" y="0"/>
                  </a:moveTo>
                  <a:lnTo>
                    <a:pt x="3657600" y="0"/>
                  </a:lnTo>
                  <a:lnTo>
                    <a:pt x="3657600" y="621792"/>
                  </a:lnTo>
                  <a:lnTo>
                    <a:pt x="0" y="621792"/>
                  </a:lnTo>
                  <a:close/>
                </a:path>
              </a:pathLst>
            </a:custGeom>
            <a:blipFill>
              <a:blip r:embed="rId3">
                <a:alphaModFix amt="0"/>
              </a:blip>
              <a:stretch>
                <a:fillRect l="0" t="-64617" r="0" b="-64617"/>
              </a:stretch>
            </a:blipFill>
          </p:spPr>
        </p:sp>
        <p:sp>
          <p:nvSpPr>
            <p:cNvPr name="TextBox 48" id="48"/>
            <p:cNvSpPr txBox="true"/>
            <p:nvPr/>
          </p:nvSpPr>
          <p:spPr>
            <a:xfrm>
              <a:off x="0" y="-19050"/>
              <a:ext cx="3657600" cy="640842"/>
            </a:xfrm>
            <a:prstGeom prst="rect">
              <a:avLst/>
            </a:prstGeom>
          </p:spPr>
          <p:txBody>
            <a:bodyPr anchor="ctr" rtlCol="false" tIns="0" lIns="0" bIns="0" rIns="0"/>
            <a:lstStyle/>
            <a:p>
              <a:pPr algn="l">
                <a:lnSpc>
                  <a:spcPts val="2520"/>
                </a:lnSpc>
              </a:pPr>
              <a:r>
                <a:rPr lang="en-US" sz="2100" b="true">
                  <a:solidFill>
                    <a:srgbClr val="000000"/>
                  </a:solidFill>
                  <a:latin typeface="Times New Roman Bold"/>
                  <a:ea typeface="Times New Roman Bold"/>
                  <a:cs typeface="Times New Roman Bold"/>
                  <a:sym typeface="Times New Roman Bold"/>
                </a:rPr>
                <a:t>IDENTIFIER</a:t>
              </a:r>
            </a:p>
          </p:txBody>
        </p:sp>
      </p:grpSp>
      <p:sp>
        <p:nvSpPr>
          <p:cNvPr name="TextBox 49" id="49"/>
          <p:cNvSpPr txBox="true"/>
          <p:nvPr/>
        </p:nvSpPr>
        <p:spPr>
          <a:xfrm rot="0">
            <a:off x="11795760" y="6221730"/>
            <a:ext cx="5074920" cy="636270"/>
          </a:xfrm>
          <a:prstGeom prst="rect">
            <a:avLst/>
          </a:prstGeom>
        </p:spPr>
        <p:txBody>
          <a:bodyPr anchor="t" rtlCol="false" tIns="0" lIns="0" bIns="0" rIns="0">
            <a:spAutoFit/>
          </a:bodyPr>
          <a:lstStyle/>
          <a:p>
            <a:pPr algn="l">
              <a:lnSpc>
                <a:spcPts val="3960"/>
              </a:lnSpc>
            </a:pPr>
            <a:r>
              <a:rPr lang="en-US" sz="3300" b="true">
                <a:solidFill>
                  <a:srgbClr val="000000"/>
                </a:solidFill>
                <a:latin typeface="Times New Roman Bold"/>
                <a:ea typeface="Times New Roman Bold"/>
                <a:cs typeface="Times New Roman Bold"/>
                <a:sym typeface="Times New Roman Bold"/>
              </a:rPr>
              <a:t>2count</a:t>
            </a:r>
          </a:p>
        </p:txBody>
      </p:sp>
      <p:sp>
        <p:nvSpPr>
          <p:cNvPr name="TextBox 50" id="50"/>
          <p:cNvSpPr txBox="true"/>
          <p:nvPr/>
        </p:nvSpPr>
        <p:spPr>
          <a:xfrm rot="0">
            <a:off x="11795760" y="6907530"/>
            <a:ext cx="5212080" cy="567690"/>
          </a:xfrm>
          <a:prstGeom prst="rect">
            <a:avLst/>
          </a:prstGeom>
        </p:spPr>
        <p:txBody>
          <a:bodyPr anchor="t" rtlCol="false" tIns="0" lIns="0" bIns="0" rIns="0">
            <a:spAutoFit/>
          </a:bodyPr>
          <a:lstStyle/>
          <a:p>
            <a:pPr algn="l">
              <a:lnSpc>
                <a:spcPts val="2160"/>
              </a:lnSpc>
            </a:pPr>
            <a:r>
              <a:rPr lang="en-US" sz="1800">
                <a:solidFill>
                  <a:srgbClr val="000000"/>
                </a:solidFill>
                <a:latin typeface="Times New Roman"/>
                <a:ea typeface="Times New Roman"/>
                <a:cs typeface="Times New Roman"/>
                <a:sym typeface="Times New Roman"/>
              </a:rPr>
              <a:t>q0 –digit→ ERR</a:t>
            </a:r>
          </a:p>
        </p:txBody>
      </p:sp>
      <p:grpSp>
        <p:nvGrpSpPr>
          <p:cNvPr name="Group 51" id="51"/>
          <p:cNvGrpSpPr/>
          <p:nvPr/>
        </p:nvGrpSpPr>
        <p:grpSpPr>
          <a:xfrm rot="0">
            <a:off x="11781472" y="7735253"/>
            <a:ext cx="2223135" cy="494919"/>
            <a:chOff x="0" y="0"/>
            <a:chExt cx="2964180" cy="659892"/>
          </a:xfrm>
        </p:grpSpPr>
        <p:sp>
          <p:nvSpPr>
            <p:cNvPr name="Freeform 52" id="52"/>
            <p:cNvSpPr/>
            <p:nvPr/>
          </p:nvSpPr>
          <p:spPr>
            <a:xfrm flipH="false" flipV="false" rot="0">
              <a:off x="0" y="0"/>
              <a:ext cx="2964180" cy="659892"/>
            </a:xfrm>
            <a:custGeom>
              <a:avLst/>
              <a:gdLst/>
              <a:ahLst/>
              <a:cxnLst/>
              <a:rect r="r" b="b" t="t" l="l"/>
              <a:pathLst>
                <a:path h="659892" w="2964180">
                  <a:moveTo>
                    <a:pt x="0" y="329946"/>
                  </a:moveTo>
                  <a:cubicBezTo>
                    <a:pt x="0" y="147701"/>
                    <a:pt x="147701" y="0"/>
                    <a:pt x="329946" y="0"/>
                  </a:cubicBezTo>
                  <a:lnTo>
                    <a:pt x="2634234" y="0"/>
                  </a:lnTo>
                  <a:cubicBezTo>
                    <a:pt x="2816479" y="0"/>
                    <a:pt x="2964180" y="147701"/>
                    <a:pt x="2964180" y="329946"/>
                  </a:cubicBezTo>
                  <a:cubicBezTo>
                    <a:pt x="2964180" y="512191"/>
                    <a:pt x="2816479" y="659892"/>
                    <a:pt x="2634234" y="659892"/>
                  </a:cubicBezTo>
                  <a:lnTo>
                    <a:pt x="329946" y="659892"/>
                  </a:lnTo>
                  <a:cubicBezTo>
                    <a:pt x="147701" y="659892"/>
                    <a:pt x="0" y="512191"/>
                    <a:pt x="0" y="329946"/>
                  </a:cubicBezTo>
                  <a:close/>
                </a:path>
              </a:pathLst>
            </a:custGeom>
            <a:solidFill>
              <a:srgbClr val="FFFFFF"/>
            </a:solidFill>
            <a:ln w="28575" cap="sq">
              <a:solidFill>
                <a:srgbClr val="000000"/>
              </a:solidFill>
              <a:prstDash val="solid"/>
              <a:miter/>
            </a:ln>
          </p:spPr>
        </p:sp>
      </p:grpSp>
      <p:grpSp>
        <p:nvGrpSpPr>
          <p:cNvPr name="Group 53" id="53"/>
          <p:cNvGrpSpPr/>
          <p:nvPr/>
        </p:nvGrpSpPr>
        <p:grpSpPr>
          <a:xfrm rot="0">
            <a:off x="11795760" y="7749540"/>
            <a:ext cx="2194560" cy="466344"/>
            <a:chOff x="0" y="0"/>
            <a:chExt cx="2926080" cy="621792"/>
          </a:xfrm>
        </p:grpSpPr>
        <p:sp>
          <p:nvSpPr>
            <p:cNvPr name="Freeform 54" id="54"/>
            <p:cNvSpPr/>
            <p:nvPr/>
          </p:nvSpPr>
          <p:spPr>
            <a:xfrm flipH="false" flipV="false" rot="0">
              <a:off x="0" y="0"/>
              <a:ext cx="2926080" cy="621792"/>
            </a:xfrm>
            <a:custGeom>
              <a:avLst/>
              <a:gdLst/>
              <a:ahLst/>
              <a:cxnLst/>
              <a:rect r="r" b="b" t="t" l="l"/>
              <a:pathLst>
                <a:path h="621792" w="2926080">
                  <a:moveTo>
                    <a:pt x="0" y="0"/>
                  </a:moveTo>
                  <a:lnTo>
                    <a:pt x="2926080" y="0"/>
                  </a:lnTo>
                  <a:lnTo>
                    <a:pt x="2926080" y="621792"/>
                  </a:lnTo>
                  <a:lnTo>
                    <a:pt x="0" y="621792"/>
                  </a:lnTo>
                  <a:close/>
                </a:path>
              </a:pathLst>
            </a:custGeom>
            <a:blipFill>
              <a:blip r:embed="rId3">
                <a:alphaModFix amt="0"/>
              </a:blip>
              <a:stretch>
                <a:fillRect l="0" t="-41694" r="0" b="-41694"/>
              </a:stretch>
            </a:blipFill>
          </p:spPr>
        </p:sp>
        <p:sp>
          <p:nvSpPr>
            <p:cNvPr name="TextBox 55" id="55"/>
            <p:cNvSpPr txBox="true"/>
            <p:nvPr/>
          </p:nvSpPr>
          <p:spPr>
            <a:xfrm>
              <a:off x="0" y="-19050"/>
              <a:ext cx="2926080" cy="640842"/>
            </a:xfrm>
            <a:prstGeom prst="rect">
              <a:avLst/>
            </a:prstGeom>
          </p:spPr>
          <p:txBody>
            <a:bodyPr anchor="ctr" rtlCol="false" tIns="0" lIns="0" bIns="0" rIns="0"/>
            <a:lstStyle/>
            <a:p>
              <a:pPr algn="ctr">
                <a:lnSpc>
                  <a:spcPts val="2160"/>
                </a:lnSpc>
              </a:pPr>
              <a:r>
                <a:rPr lang="en-US" sz="1800" b="true">
                  <a:solidFill>
                    <a:srgbClr val="000000"/>
                  </a:solidFill>
                  <a:latin typeface="Times New Roman Bold"/>
                  <a:ea typeface="Times New Roman Bold"/>
                  <a:cs typeface="Times New Roman Bold"/>
                  <a:sym typeface="Times New Roman Bold"/>
                </a:rPr>
                <a:t>REJECTED</a:t>
              </a:r>
            </a:p>
          </p:txBody>
        </p:sp>
      </p:grpSp>
      <p:grpSp>
        <p:nvGrpSpPr>
          <p:cNvPr name="Group 56" id="56"/>
          <p:cNvGrpSpPr/>
          <p:nvPr/>
        </p:nvGrpSpPr>
        <p:grpSpPr>
          <a:xfrm rot="0">
            <a:off x="14264640" y="7749540"/>
            <a:ext cx="2743200" cy="466344"/>
            <a:chOff x="0" y="0"/>
            <a:chExt cx="3657600" cy="621792"/>
          </a:xfrm>
        </p:grpSpPr>
        <p:sp>
          <p:nvSpPr>
            <p:cNvPr name="Freeform 57" id="57"/>
            <p:cNvSpPr/>
            <p:nvPr/>
          </p:nvSpPr>
          <p:spPr>
            <a:xfrm flipH="false" flipV="false" rot="0">
              <a:off x="0" y="0"/>
              <a:ext cx="3657600" cy="621792"/>
            </a:xfrm>
            <a:custGeom>
              <a:avLst/>
              <a:gdLst/>
              <a:ahLst/>
              <a:cxnLst/>
              <a:rect r="r" b="b" t="t" l="l"/>
              <a:pathLst>
                <a:path h="621792" w="3657600">
                  <a:moveTo>
                    <a:pt x="0" y="0"/>
                  </a:moveTo>
                  <a:lnTo>
                    <a:pt x="3657600" y="0"/>
                  </a:lnTo>
                  <a:lnTo>
                    <a:pt x="3657600" y="621792"/>
                  </a:lnTo>
                  <a:lnTo>
                    <a:pt x="0" y="621792"/>
                  </a:lnTo>
                  <a:close/>
                </a:path>
              </a:pathLst>
            </a:custGeom>
            <a:blipFill>
              <a:blip r:embed="rId3">
                <a:alphaModFix amt="0"/>
              </a:blip>
              <a:stretch>
                <a:fillRect l="0" t="-64617" r="0" b="-64617"/>
              </a:stretch>
            </a:blipFill>
          </p:spPr>
        </p:sp>
        <p:sp>
          <p:nvSpPr>
            <p:cNvPr name="TextBox 58" id="58"/>
            <p:cNvSpPr txBox="true"/>
            <p:nvPr/>
          </p:nvSpPr>
          <p:spPr>
            <a:xfrm>
              <a:off x="0" y="-19050"/>
              <a:ext cx="3657600" cy="640842"/>
            </a:xfrm>
            <a:prstGeom prst="rect">
              <a:avLst/>
            </a:prstGeom>
          </p:spPr>
          <p:txBody>
            <a:bodyPr anchor="ctr" rtlCol="false" tIns="0" lIns="0" bIns="0" rIns="0"/>
            <a:lstStyle/>
            <a:p>
              <a:pPr algn="l">
                <a:lnSpc>
                  <a:spcPts val="2520"/>
                </a:lnSpc>
              </a:pPr>
              <a:r>
                <a:rPr lang="en-US" sz="2100" b="true">
                  <a:solidFill>
                    <a:srgbClr val="000000"/>
                  </a:solidFill>
                  <a:latin typeface="Times New Roman Bold"/>
                  <a:ea typeface="Times New Roman Bold"/>
                  <a:cs typeface="Times New Roman Bold"/>
                  <a:sym typeface="Times New Roman Bold"/>
                </a:rPr>
                <a:t>lexical error</a:t>
              </a:r>
            </a:p>
          </p:txBody>
        </p:sp>
      </p:grpSp>
      <p:sp>
        <p:nvSpPr>
          <p:cNvPr name="TextBox 59" id="59"/>
          <p:cNvSpPr txBox="true"/>
          <p:nvPr/>
        </p:nvSpPr>
        <p:spPr>
          <a:xfrm rot="0">
            <a:off x="16454628" y="9627870"/>
            <a:ext cx="777240" cy="339090"/>
          </a:xfrm>
          <a:prstGeom prst="rect">
            <a:avLst/>
          </a:prstGeom>
        </p:spPr>
        <p:txBody>
          <a:bodyPr anchor="t" rtlCol="false" tIns="0" lIns="0" bIns="0" rIns="0">
            <a:spAutoFit/>
          </a:bodyPr>
          <a:lstStyle/>
          <a:p>
            <a:pPr algn="r">
              <a:lnSpc>
                <a:spcPts val="1800"/>
              </a:lnSpc>
            </a:pPr>
            <a:r>
              <a:rPr lang="en-US" sz="1500">
                <a:solidFill>
                  <a:srgbClr val="000000"/>
                </a:solidFill>
                <a:latin typeface="Times New Roman"/>
                <a:ea typeface="Times New Roman"/>
                <a:cs typeface="Times New Roman"/>
                <a:sym typeface="Times New Roman"/>
              </a:rPr>
              <a:t>6</a:t>
            </a:r>
          </a:p>
        </p:txBody>
      </p:sp>
      <p:sp>
        <p:nvSpPr>
          <p:cNvPr name="Freeform 60" id="60"/>
          <p:cNvSpPr/>
          <p:nvPr/>
        </p:nvSpPr>
        <p:spPr>
          <a:xfrm flipH="false" flipV="false" rot="0">
            <a:off x="15175541" y="55401"/>
            <a:ext cx="2083759" cy="2083759"/>
          </a:xfrm>
          <a:custGeom>
            <a:avLst/>
            <a:gdLst/>
            <a:ahLst/>
            <a:cxnLst/>
            <a:rect r="r" b="b" t="t" l="l"/>
            <a:pathLst>
              <a:path h="2083759" w="2083759">
                <a:moveTo>
                  <a:pt x="0" y="0"/>
                </a:moveTo>
                <a:lnTo>
                  <a:pt x="2083759" y="0"/>
                </a:lnTo>
                <a:lnTo>
                  <a:pt x="2083759" y="2083758"/>
                </a:lnTo>
                <a:lnTo>
                  <a:pt x="0" y="2083758"/>
                </a:lnTo>
                <a:lnTo>
                  <a:pt x="0" y="0"/>
                </a:lnTo>
                <a:close/>
              </a:path>
            </a:pathLst>
          </a:custGeom>
          <a:blipFill>
            <a:blip r:embed="rId4"/>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9601200"/>
            <a:ext cx="8229600" cy="411480"/>
            <a:chOff x="0" y="0"/>
            <a:chExt cx="10972800" cy="548640"/>
          </a:xfrm>
        </p:grpSpPr>
        <p:sp>
          <p:nvSpPr>
            <p:cNvPr name="Freeform 3" id="3"/>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700" r="0" b="-339700"/>
              </a:stretch>
            </a:blipFill>
          </p:spPr>
        </p:sp>
        <p:sp>
          <p:nvSpPr>
            <p:cNvPr name="TextBox 4" id="4"/>
            <p:cNvSpPr txBox="true"/>
            <p:nvPr/>
          </p:nvSpPr>
          <p:spPr>
            <a:xfrm>
              <a:off x="0" y="-19050"/>
              <a:ext cx="10972800" cy="567690"/>
            </a:xfrm>
            <a:prstGeom prst="rect">
              <a:avLst/>
            </a:prstGeom>
          </p:spPr>
          <p:txBody>
            <a:bodyPr anchor="ctr" rtlCol="false" tIns="0" lIns="0" bIns="0" rIns="0"/>
            <a:lstStyle/>
            <a:p>
              <a:pPr algn="l">
                <a:lnSpc>
                  <a:spcPts val="1800"/>
                </a:lnSpc>
              </a:pPr>
              <a:r>
                <a:rPr lang="en-US" sz="1500">
                  <a:solidFill>
                    <a:srgbClr val="000000"/>
                  </a:solidFill>
                  <a:latin typeface="Times New Roman"/>
                  <a:ea typeface="Times New Roman"/>
                  <a:cs typeface="Times New Roman"/>
                  <a:sym typeface="Times New Roman"/>
                </a:rPr>
                <a:t>Building an FSA for Token Recognition</a:t>
              </a:r>
            </a:p>
          </p:txBody>
        </p:sp>
      </p:grpSp>
      <p:grpSp>
        <p:nvGrpSpPr>
          <p:cNvPr name="Group 5" id="5"/>
          <p:cNvGrpSpPr/>
          <p:nvPr/>
        </p:nvGrpSpPr>
        <p:grpSpPr>
          <a:xfrm rot="0">
            <a:off x="960120" y="548640"/>
            <a:ext cx="15361920" cy="1097280"/>
            <a:chOff x="0" y="0"/>
            <a:chExt cx="20482560" cy="1463040"/>
          </a:xfrm>
        </p:grpSpPr>
        <p:sp>
          <p:nvSpPr>
            <p:cNvPr name="Freeform 6" id="6"/>
            <p:cNvSpPr/>
            <p:nvPr/>
          </p:nvSpPr>
          <p:spPr>
            <a:xfrm flipH="false" flipV="false" rot="0">
              <a:off x="0" y="0"/>
              <a:ext cx="20482561" cy="1463040"/>
            </a:xfrm>
            <a:custGeom>
              <a:avLst/>
              <a:gdLst/>
              <a:ahLst/>
              <a:cxnLst/>
              <a:rect r="r" b="b" t="t" l="l"/>
              <a:pathLst>
                <a:path h="1463040" w="20482561">
                  <a:moveTo>
                    <a:pt x="0" y="0"/>
                  </a:moveTo>
                  <a:lnTo>
                    <a:pt x="20482561" y="0"/>
                  </a:lnTo>
                  <a:lnTo>
                    <a:pt x="20482561" y="1463040"/>
                  </a:lnTo>
                  <a:lnTo>
                    <a:pt x="0" y="1463040"/>
                  </a:lnTo>
                  <a:close/>
                </a:path>
              </a:pathLst>
            </a:custGeom>
            <a:blipFill>
              <a:blip r:embed="rId3">
                <a:alphaModFix amt="0"/>
              </a:blip>
              <a:stretch>
                <a:fillRect l="0" t="-222790" r="0" b="-222790"/>
              </a:stretch>
            </a:blipFill>
          </p:spPr>
        </p:sp>
        <p:sp>
          <p:nvSpPr>
            <p:cNvPr name="TextBox 7" id="7"/>
            <p:cNvSpPr txBox="true"/>
            <p:nvPr/>
          </p:nvSpPr>
          <p:spPr>
            <a:xfrm>
              <a:off x="0" y="-28575"/>
              <a:ext cx="20482560" cy="1491615"/>
            </a:xfrm>
            <a:prstGeom prst="rect">
              <a:avLst/>
            </a:prstGeom>
          </p:spPr>
          <p:txBody>
            <a:bodyPr anchor="ctr" rtlCol="false" tIns="0" lIns="0" bIns="0" rIns="0"/>
            <a:lstStyle/>
            <a:p>
              <a:pPr algn="l">
                <a:lnSpc>
                  <a:spcPts val="6120"/>
                </a:lnSpc>
              </a:pPr>
              <a:r>
                <a:rPr lang="en-US" sz="5100" b="true">
                  <a:solidFill>
                    <a:srgbClr val="000000"/>
                  </a:solidFill>
                  <a:latin typeface="Times New Roman Bold"/>
                  <a:ea typeface="Times New Roman Bold"/>
                  <a:cs typeface="Times New Roman Bold"/>
                  <a:sym typeface="Times New Roman Bold"/>
                </a:rPr>
                <a:t>DFA for integers and floats</a:t>
              </a:r>
            </a:p>
          </p:txBody>
        </p:sp>
      </p:grpSp>
      <p:sp>
        <p:nvSpPr>
          <p:cNvPr name="TextBox 8" id="8"/>
          <p:cNvSpPr txBox="true"/>
          <p:nvPr/>
        </p:nvSpPr>
        <p:spPr>
          <a:xfrm rot="0">
            <a:off x="960120" y="1773555"/>
            <a:ext cx="15361920" cy="558165"/>
          </a:xfrm>
          <a:prstGeom prst="rect">
            <a:avLst/>
          </a:prstGeom>
        </p:spPr>
        <p:txBody>
          <a:bodyPr anchor="t" rtlCol="false" tIns="0" lIns="0" bIns="0" rIns="0">
            <a:spAutoFit/>
          </a:bodyPr>
          <a:lstStyle/>
          <a:p>
            <a:pPr algn="l">
              <a:lnSpc>
                <a:spcPts val="2879"/>
              </a:lnSpc>
            </a:pPr>
            <a:r>
              <a:rPr lang="en-US" sz="2400">
                <a:solidFill>
                  <a:srgbClr val="000000"/>
                </a:solidFill>
                <a:latin typeface="Times New Roman"/>
                <a:ea typeface="Times New Roman"/>
                <a:cs typeface="Times New Roman"/>
                <a:sym typeface="Times New Roman"/>
              </a:rPr>
              <a:t>One automaton, two token types. Which accepting state you end in decides the token.</a:t>
            </a:r>
          </a:p>
        </p:txBody>
      </p:sp>
      <p:sp>
        <p:nvSpPr>
          <p:cNvPr name="AutoShape 9" id="9"/>
          <p:cNvSpPr/>
          <p:nvPr/>
        </p:nvSpPr>
        <p:spPr>
          <a:xfrm rot="184620">
            <a:off x="1006697" y="5271135"/>
            <a:ext cx="798395" cy="0"/>
          </a:xfrm>
          <a:prstGeom prst="line">
            <a:avLst/>
          </a:prstGeom>
          <a:ln cap="rnd" w="19050">
            <a:solidFill>
              <a:srgbClr val="000000"/>
            </a:solidFill>
            <a:prstDash val="solid"/>
            <a:headEnd type="none" len="sm" w="sm"/>
            <a:tailEnd type="triangle" len="med" w="lg"/>
          </a:ln>
        </p:spPr>
      </p:sp>
      <p:grpSp>
        <p:nvGrpSpPr>
          <p:cNvPr name="Group 10" id="10"/>
          <p:cNvGrpSpPr/>
          <p:nvPr/>
        </p:nvGrpSpPr>
        <p:grpSpPr>
          <a:xfrm rot="0">
            <a:off x="1830229" y="4504849"/>
            <a:ext cx="1551623" cy="1551623"/>
            <a:chOff x="0" y="0"/>
            <a:chExt cx="2068830" cy="2068830"/>
          </a:xfrm>
        </p:grpSpPr>
        <p:sp>
          <p:nvSpPr>
            <p:cNvPr name="Freeform 11" id="11"/>
            <p:cNvSpPr/>
            <p:nvPr/>
          </p:nvSpPr>
          <p:spPr>
            <a:xfrm flipH="false" flipV="false" rot="0">
              <a:off x="0" y="0"/>
              <a:ext cx="2068830" cy="2068830"/>
            </a:xfrm>
            <a:custGeom>
              <a:avLst/>
              <a:gdLst/>
              <a:ahLst/>
              <a:cxnLst/>
              <a:rect r="r" b="b" t="t" l="l"/>
              <a:pathLst>
                <a:path h="2068830" w="2068830">
                  <a:moveTo>
                    <a:pt x="0" y="1034415"/>
                  </a:moveTo>
                  <a:cubicBezTo>
                    <a:pt x="0" y="463169"/>
                    <a:pt x="463169" y="0"/>
                    <a:pt x="1034415" y="0"/>
                  </a:cubicBezTo>
                  <a:cubicBezTo>
                    <a:pt x="1605661" y="0"/>
                    <a:pt x="2068830" y="463169"/>
                    <a:pt x="2068830" y="1034415"/>
                  </a:cubicBezTo>
                  <a:cubicBezTo>
                    <a:pt x="2068830" y="1605661"/>
                    <a:pt x="1605661" y="2068830"/>
                    <a:pt x="1034415" y="2068830"/>
                  </a:cubicBezTo>
                  <a:cubicBezTo>
                    <a:pt x="463169" y="2068830"/>
                    <a:pt x="0" y="1605661"/>
                    <a:pt x="0" y="1034415"/>
                  </a:cubicBezTo>
                  <a:close/>
                </a:path>
              </a:pathLst>
            </a:custGeom>
            <a:solidFill>
              <a:srgbClr val="FFFFFF"/>
            </a:solidFill>
            <a:ln w="42862" cap="sq">
              <a:solidFill>
                <a:srgbClr val="000000"/>
              </a:solidFill>
              <a:prstDash val="solid"/>
              <a:miter/>
            </a:ln>
          </p:spPr>
        </p:sp>
      </p:grpSp>
      <p:grpSp>
        <p:nvGrpSpPr>
          <p:cNvPr name="Group 12" id="12"/>
          <p:cNvGrpSpPr/>
          <p:nvPr/>
        </p:nvGrpSpPr>
        <p:grpSpPr>
          <a:xfrm rot="0">
            <a:off x="1851660" y="4526280"/>
            <a:ext cx="1508760" cy="1508760"/>
            <a:chOff x="0" y="0"/>
            <a:chExt cx="2011680" cy="2011680"/>
          </a:xfrm>
        </p:grpSpPr>
        <p:sp>
          <p:nvSpPr>
            <p:cNvPr name="Freeform 13" id="13"/>
            <p:cNvSpPr/>
            <p:nvPr/>
          </p:nvSpPr>
          <p:spPr>
            <a:xfrm flipH="false" flipV="false" rot="0">
              <a:off x="0" y="0"/>
              <a:ext cx="2011680" cy="2011680"/>
            </a:xfrm>
            <a:custGeom>
              <a:avLst/>
              <a:gdLst/>
              <a:ahLst/>
              <a:cxnLst/>
              <a:rect r="r" b="b" t="t" l="l"/>
              <a:pathLst>
                <a:path h="2011680" w="2011680">
                  <a:moveTo>
                    <a:pt x="0" y="0"/>
                  </a:moveTo>
                  <a:lnTo>
                    <a:pt x="2011680" y="0"/>
                  </a:lnTo>
                  <a:lnTo>
                    <a:pt x="2011680" y="2011680"/>
                  </a:lnTo>
                  <a:lnTo>
                    <a:pt x="0" y="2011680"/>
                  </a:lnTo>
                  <a:close/>
                </a:path>
              </a:pathLst>
            </a:custGeom>
            <a:blipFill>
              <a:blip r:embed="rId3">
                <a:alphaModFix amt="0"/>
              </a:blip>
              <a:stretch>
                <a:fillRect l="-78303" t="0" r="-78303" b="0"/>
              </a:stretch>
            </a:blipFill>
          </p:spPr>
        </p:sp>
        <p:sp>
          <p:nvSpPr>
            <p:cNvPr name="TextBox 14" id="14"/>
            <p:cNvSpPr txBox="true"/>
            <p:nvPr/>
          </p:nvSpPr>
          <p:spPr>
            <a:xfrm>
              <a:off x="0" y="-19050"/>
              <a:ext cx="2011680" cy="2030730"/>
            </a:xfrm>
            <a:prstGeom prst="rect">
              <a:avLst/>
            </a:prstGeom>
          </p:spPr>
          <p:txBody>
            <a:bodyPr anchor="ctr" rtlCol="false" tIns="0" lIns="0" bIns="0" rIns="0"/>
            <a:lstStyle/>
            <a:p>
              <a:pPr algn="ctr">
                <a:lnSpc>
                  <a:spcPts val="3240"/>
                </a:lnSpc>
              </a:pPr>
              <a:r>
                <a:rPr lang="en-US" sz="2700" b="true">
                  <a:solidFill>
                    <a:srgbClr val="000000"/>
                  </a:solidFill>
                  <a:latin typeface="Times New Roman Bold"/>
                  <a:ea typeface="Times New Roman Bold"/>
                  <a:cs typeface="Times New Roman Bold"/>
                  <a:sym typeface="Times New Roman Bold"/>
                </a:rPr>
                <a:t>q0</a:t>
              </a:r>
            </a:p>
          </p:txBody>
        </p:sp>
      </p:grpSp>
      <p:grpSp>
        <p:nvGrpSpPr>
          <p:cNvPr name="Group 15" id="15"/>
          <p:cNvGrpSpPr/>
          <p:nvPr/>
        </p:nvGrpSpPr>
        <p:grpSpPr>
          <a:xfrm rot="0">
            <a:off x="5942647" y="4365308"/>
            <a:ext cx="1830705" cy="1830705"/>
            <a:chOff x="0" y="0"/>
            <a:chExt cx="2440940" cy="2440940"/>
          </a:xfrm>
        </p:grpSpPr>
        <p:sp>
          <p:nvSpPr>
            <p:cNvPr name="Freeform 16" id="16"/>
            <p:cNvSpPr/>
            <p:nvPr/>
          </p:nvSpPr>
          <p:spPr>
            <a:xfrm flipH="false" flipV="false" rot="0">
              <a:off x="0" y="0"/>
              <a:ext cx="2440940" cy="2440940"/>
            </a:xfrm>
            <a:custGeom>
              <a:avLst/>
              <a:gdLst/>
              <a:ahLst/>
              <a:cxnLst/>
              <a:rect r="r" b="b" t="t" l="l"/>
              <a:pathLst>
                <a:path h="2440940" w="2440940">
                  <a:moveTo>
                    <a:pt x="0" y="1220470"/>
                  </a:moveTo>
                  <a:cubicBezTo>
                    <a:pt x="0" y="546481"/>
                    <a:pt x="546481" y="0"/>
                    <a:pt x="1220470" y="0"/>
                  </a:cubicBezTo>
                  <a:cubicBezTo>
                    <a:pt x="1894459" y="0"/>
                    <a:pt x="2440940" y="546481"/>
                    <a:pt x="2440940" y="1220470"/>
                  </a:cubicBezTo>
                  <a:cubicBezTo>
                    <a:pt x="2440940" y="1894459"/>
                    <a:pt x="1894459" y="2440940"/>
                    <a:pt x="1220470" y="2440940"/>
                  </a:cubicBezTo>
                  <a:cubicBezTo>
                    <a:pt x="546481" y="2440940"/>
                    <a:pt x="0" y="1894459"/>
                    <a:pt x="0" y="1220470"/>
                  </a:cubicBezTo>
                  <a:close/>
                </a:path>
              </a:pathLst>
            </a:custGeom>
            <a:blipFill>
              <a:blip r:embed="rId3">
                <a:alphaModFix amt="0"/>
              </a:blip>
              <a:stretch>
                <a:fillRect l="-78303" t="0" r="-78303" b="0"/>
              </a:stretch>
            </a:blipFill>
            <a:ln w="47625" cap="sq">
              <a:solidFill>
                <a:srgbClr val="000000"/>
              </a:solidFill>
              <a:prstDash val="solid"/>
              <a:miter/>
            </a:ln>
          </p:spPr>
        </p:sp>
      </p:grpSp>
      <p:grpSp>
        <p:nvGrpSpPr>
          <p:cNvPr name="Group 17" id="17"/>
          <p:cNvGrpSpPr/>
          <p:nvPr/>
        </p:nvGrpSpPr>
        <p:grpSpPr>
          <a:xfrm rot="0">
            <a:off x="6082189" y="4504849"/>
            <a:ext cx="1551623" cy="1551623"/>
            <a:chOff x="0" y="0"/>
            <a:chExt cx="2068830" cy="2068830"/>
          </a:xfrm>
        </p:grpSpPr>
        <p:sp>
          <p:nvSpPr>
            <p:cNvPr name="Freeform 18" id="18"/>
            <p:cNvSpPr/>
            <p:nvPr/>
          </p:nvSpPr>
          <p:spPr>
            <a:xfrm flipH="false" flipV="false" rot="0">
              <a:off x="0" y="0"/>
              <a:ext cx="2068830" cy="2068830"/>
            </a:xfrm>
            <a:custGeom>
              <a:avLst/>
              <a:gdLst/>
              <a:ahLst/>
              <a:cxnLst/>
              <a:rect r="r" b="b" t="t" l="l"/>
              <a:pathLst>
                <a:path h="2068830" w="2068830">
                  <a:moveTo>
                    <a:pt x="0" y="1034415"/>
                  </a:moveTo>
                  <a:cubicBezTo>
                    <a:pt x="0" y="463169"/>
                    <a:pt x="463169" y="0"/>
                    <a:pt x="1034415" y="0"/>
                  </a:cubicBezTo>
                  <a:cubicBezTo>
                    <a:pt x="1605661" y="0"/>
                    <a:pt x="2068830" y="463169"/>
                    <a:pt x="2068830" y="1034415"/>
                  </a:cubicBezTo>
                  <a:cubicBezTo>
                    <a:pt x="2068830" y="1605661"/>
                    <a:pt x="1605661" y="2068830"/>
                    <a:pt x="1034415" y="2068830"/>
                  </a:cubicBezTo>
                  <a:cubicBezTo>
                    <a:pt x="463169" y="2068830"/>
                    <a:pt x="0" y="1605661"/>
                    <a:pt x="0" y="1034415"/>
                  </a:cubicBezTo>
                  <a:close/>
                </a:path>
              </a:pathLst>
            </a:custGeom>
            <a:solidFill>
              <a:srgbClr val="FFFFFF"/>
            </a:solidFill>
            <a:ln w="42862" cap="sq">
              <a:solidFill>
                <a:srgbClr val="000000"/>
              </a:solidFill>
              <a:prstDash val="solid"/>
              <a:miter/>
            </a:ln>
          </p:spPr>
        </p:sp>
      </p:grpSp>
      <p:grpSp>
        <p:nvGrpSpPr>
          <p:cNvPr name="Group 19" id="19"/>
          <p:cNvGrpSpPr/>
          <p:nvPr/>
        </p:nvGrpSpPr>
        <p:grpSpPr>
          <a:xfrm rot="0">
            <a:off x="6103620" y="4526280"/>
            <a:ext cx="1508760" cy="1508760"/>
            <a:chOff x="0" y="0"/>
            <a:chExt cx="2011680" cy="2011680"/>
          </a:xfrm>
        </p:grpSpPr>
        <p:sp>
          <p:nvSpPr>
            <p:cNvPr name="Freeform 20" id="20"/>
            <p:cNvSpPr/>
            <p:nvPr/>
          </p:nvSpPr>
          <p:spPr>
            <a:xfrm flipH="false" flipV="false" rot="0">
              <a:off x="0" y="0"/>
              <a:ext cx="2011680" cy="2011680"/>
            </a:xfrm>
            <a:custGeom>
              <a:avLst/>
              <a:gdLst/>
              <a:ahLst/>
              <a:cxnLst/>
              <a:rect r="r" b="b" t="t" l="l"/>
              <a:pathLst>
                <a:path h="2011680" w="2011680">
                  <a:moveTo>
                    <a:pt x="0" y="0"/>
                  </a:moveTo>
                  <a:lnTo>
                    <a:pt x="2011680" y="0"/>
                  </a:lnTo>
                  <a:lnTo>
                    <a:pt x="2011680" y="2011680"/>
                  </a:lnTo>
                  <a:lnTo>
                    <a:pt x="0" y="2011680"/>
                  </a:lnTo>
                  <a:close/>
                </a:path>
              </a:pathLst>
            </a:custGeom>
            <a:blipFill>
              <a:blip r:embed="rId3">
                <a:alphaModFix amt="0"/>
              </a:blip>
              <a:stretch>
                <a:fillRect l="-78303" t="0" r="-78303" b="0"/>
              </a:stretch>
            </a:blipFill>
          </p:spPr>
        </p:sp>
        <p:sp>
          <p:nvSpPr>
            <p:cNvPr name="TextBox 21" id="21"/>
            <p:cNvSpPr txBox="true"/>
            <p:nvPr/>
          </p:nvSpPr>
          <p:spPr>
            <a:xfrm>
              <a:off x="0" y="-19050"/>
              <a:ext cx="2011680" cy="2030730"/>
            </a:xfrm>
            <a:prstGeom prst="rect">
              <a:avLst/>
            </a:prstGeom>
          </p:spPr>
          <p:txBody>
            <a:bodyPr anchor="ctr" rtlCol="false" tIns="0" lIns="0" bIns="0" rIns="0"/>
            <a:lstStyle/>
            <a:p>
              <a:pPr algn="ctr">
                <a:lnSpc>
                  <a:spcPts val="3240"/>
                </a:lnSpc>
              </a:pPr>
              <a:r>
                <a:rPr lang="en-US" sz="2700" b="true">
                  <a:solidFill>
                    <a:srgbClr val="000000"/>
                  </a:solidFill>
                  <a:latin typeface="Times New Roman Bold"/>
                  <a:ea typeface="Times New Roman Bold"/>
                  <a:cs typeface="Times New Roman Bold"/>
                  <a:sym typeface="Times New Roman Bold"/>
                </a:rPr>
                <a:t>q1</a:t>
              </a:r>
            </a:p>
          </p:txBody>
        </p:sp>
      </p:grpSp>
      <p:grpSp>
        <p:nvGrpSpPr>
          <p:cNvPr name="Group 22" id="22"/>
          <p:cNvGrpSpPr/>
          <p:nvPr/>
        </p:nvGrpSpPr>
        <p:grpSpPr>
          <a:xfrm rot="0">
            <a:off x="10334149" y="4504849"/>
            <a:ext cx="1551623" cy="1551623"/>
            <a:chOff x="0" y="0"/>
            <a:chExt cx="2068830" cy="2068830"/>
          </a:xfrm>
        </p:grpSpPr>
        <p:sp>
          <p:nvSpPr>
            <p:cNvPr name="Freeform 23" id="23"/>
            <p:cNvSpPr/>
            <p:nvPr/>
          </p:nvSpPr>
          <p:spPr>
            <a:xfrm flipH="false" flipV="false" rot="0">
              <a:off x="0" y="0"/>
              <a:ext cx="2068830" cy="2068830"/>
            </a:xfrm>
            <a:custGeom>
              <a:avLst/>
              <a:gdLst/>
              <a:ahLst/>
              <a:cxnLst/>
              <a:rect r="r" b="b" t="t" l="l"/>
              <a:pathLst>
                <a:path h="2068830" w="2068830">
                  <a:moveTo>
                    <a:pt x="0" y="1034415"/>
                  </a:moveTo>
                  <a:cubicBezTo>
                    <a:pt x="0" y="463169"/>
                    <a:pt x="463169" y="0"/>
                    <a:pt x="1034415" y="0"/>
                  </a:cubicBezTo>
                  <a:cubicBezTo>
                    <a:pt x="1605661" y="0"/>
                    <a:pt x="2068830" y="463169"/>
                    <a:pt x="2068830" y="1034415"/>
                  </a:cubicBezTo>
                  <a:cubicBezTo>
                    <a:pt x="2068830" y="1605661"/>
                    <a:pt x="1605661" y="2068830"/>
                    <a:pt x="1034415" y="2068830"/>
                  </a:cubicBezTo>
                  <a:cubicBezTo>
                    <a:pt x="463169" y="2068830"/>
                    <a:pt x="0" y="1605661"/>
                    <a:pt x="0" y="1034415"/>
                  </a:cubicBezTo>
                  <a:close/>
                </a:path>
              </a:pathLst>
            </a:custGeom>
            <a:solidFill>
              <a:srgbClr val="FFFFFF"/>
            </a:solidFill>
            <a:ln w="42862" cap="sq">
              <a:solidFill>
                <a:srgbClr val="000000"/>
              </a:solidFill>
              <a:prstDash val="solid"/>
              <a:miter/>
            </a:ln>
          </p:spPr>
        </p:sp>
      </p:grpSp>
      <p:grpSp>
        <p:nvGrpSpPr>
          <p:cNvPr name="Group 24" id="24"/>
          <p:cNvGrpSpPr/>
          <p:nvPr/>
        </p:nvGrpSpPr>
        <p:grpSpPr>
          <a:xfrm rot="0">
            <a:off x="10355580" y="4526280"/>
            <a:ext cx="1508760" cy="1508760"/>
            <a:chOff x="0" y="0"/>
            <a:chExt cx="2011680" cy="2011680"/>
          </a:xfrm>
        </p:grpSpPr>
        <p:sp>
          <p:nvSpPr>
            <p:cNvPr name="Freeform 25" id="25"/>
            <p:cNvSpPr/>
            <p:nvPr/>
          </p:nvSpPr>
          <p:spPr>
            <a:xfrm flipH="false" flipV="false" rot="0">
              <a:off x="0" y="0"/>
              <a:ext cx="2011680" cy="2011680"/>
            </a:xfrm>
            <a:custGeom>
              <a:avLst/>
              <a:gdLst/>
              <a:ahLst/>
              <a:cxnLst/>
              <a:rect r="r" b="b" t="t" l="l"/>
              <a:pathLst>
                <a:path h="2011680" w="2011680">
                  <a:moveTo>
                    <a:pt x="0" y="0"/>
                  </a:moveTo>
                  <a:lnTo>
                    <a:pt x="2011680" y="0"/>
                  </a:lnTo>
                  <a:lnTo>
                    <a:pt x="2011680" y="2011680"/>
                  </a:lnTo>
                  <a:lnTo>
                    <a:pt x="0" y="2011680"/>
                  </a:lnTo>
                  <a:close/>
                </a:path>
              </a:pathLst>
            </a:custGeom>
            <a:blipFill>
              <a:blip r:embed="rId3">
                <a:alphaModFix amt="0"/>
              </a:blip>
              <a:stretch>
                <a:fillRect l="-78303" t="0" r="-78303" b="0"/>
              </a:stretch>
            </a:blipFill>
          </p:spPr>
        </p:sp>
        <p:sp>
          <p:nvSpPr>
            <p:cNvPr name="TextBox 26" id="26"/>
            <p:cNvSpPr txBox="true"/>
            <p:nvPr/>
          </p:nvSpPr>
          <p:spPr>
            <a:xfrm>
              <a:off x="0" y="-19050"/>
              <a:ext cx="2011680" cy="2030730"/>
            </a:xfrm>
            <a:prstGeom prst="rect">
              <a:avLst/>
            </a:prstGeom>
          </p:spPr>
          <p:txBody>
            <a:bodyPr anchor="ctr" rtlCol="false" tIns="0" lIns="0" bIns="0" rIns="0"/>
            <a:lstStyle/>
            <a:p>
              <a:pPr algn="ctr">
                <a:lnSpc>
                  <a:spcPts val="3240"/>
                </a:lnSpc>
              </a:pPr>
              <a:r>
                <a:rPr lang="en-US" sz="2700" b="true">
                  <a:solidFill>
                    <a:srgbClr val="000000"/>
                  </a:solidFill>
                  <a:latin typeface="Times New Roman Bold"/>
                  <a:ea typeface="Times New Roman Bold"/>
                  <a:cs typeface="Times New Roman Bold"/>
                  <a:sym typeface="Times New Roman Bold"/>
                </a:rPr>
                <a:t>q2</a:t>
              </a:r>
            </a:p>
          </p:txBody>
        </p:sp>
      </p:grpSp>
      <p:grpSp>
        <p:nvGrpSpPr>
          <p:cNvPr name="Group 27" id="27"/>
          <p:cNvGrpSpPr/>
          <p:nvPr/>
        </p:nvGrpSpPr>
        <p:grpSpPr>
          <a:xfrm rot="0">
            <a:off x="14446568" y="4365308"/>
            <a:ext cx="1830705" cy="1830705"/>
            <a:chOff x="0" y="0"/>
            <a:chExt cx="2440940" cy="2440940"/>
          </a:xfrm>
        </p:grpSpPr>
        <p:sp>
          <p:nvSpPr>
            <p:cNvPr name="Freeform 28" id="28"/>
            <p:cNvSpPr/>
            <p:nvPr/>
          </p:nvSpPr>
          <p:spPr>
            <a:xfrm flipH="false" flipV="false" rot="0">
              <a:off x="0" y="0"/>
              <a:ext cx="2440940" cy="2440940"/>
            </a:xfrm>
            <a:custGeom>
              <a:avLst/>
              <a:gdLst/>
              <a:ahLst/>
              <a:cxnLst/>
              <a:rect r="r" b="b" t="t" l="l"/>
              <a:pathLst>
                <a:path h="2440940" w="2440940">
                  <a:moveTo>
                    <a:pt x="0" y="1220470"/>
                  </a:moveTo>
                  <a:cubicBezTo>
                    <a:pt x="0" y="546481"/>
                    <a:pt x="546481" y="0"/>
                    <a:pt x="1220470" y="0"/>
                  </a:cubicBezTo>
                  <a:cubicBezTo>
                    <a:pt x="1894459" y="0"/>
                    <a:pt x="2440940" y="546481"/>
                    <a:pt x="2440940" y="1220470"/>
                  </a:cubicBezTo>
                  <a:cubicBezTo>
                    <a:pt x="2440940" y="1894459"/>
                    <a:pt x="1894459" y="2440940"/>
                    <a:pt x="1220470" y="2440940"/>
                  </a:cubicBezTo>
                  <a:cubicBezTo>
                    <a:pt x="546481" y="2440940"/>
                    <a:pt x="0" y="1894459"/>
                    <a:pt x="0" y="1220470"/>
                  </a:cubicBezTo>
                  <a:close/>
                </a:path>
              </a:pathLst>
            </a:custGeom>
            <a:blipFill>
              <a:blip r:embed="rId3">
                <a:alphaModFix amt="0"/>
              </a:blip>
              <a:stretch>
                <a:fillRect l="-78303" t="0" r="-78303" b="0"/>
              </a:stretch>
            </a:blipFill>
            <a:ln w="47625" cap="sq">
              <a:solidFill>
                <a:srgbClr val="000000"/>
              </a:solidFill>
              <a:prstDash val="solid"/>
              <a:miter/>
            </a:ln>
          </p:spPr>
        </p:sp>
      </p:grpSp>
      <p:grpSp>
        <p:nvGrpSpPr>
          <p:cNvPr name="Group 29" id="29"/>
          <p:cNvGrpSpPr/>
          <p:nvPr/>
        </p:nvGrpSpPr>
        <p:grpSpPr>
          <a:xfrm rot="0">
            <a:off x="14586109" y="4504849"/>
            <a:ext cx="1551623" cy="1551623"/>
            <a:chOff x="0" y="0"/>
            <a:chExt cx="2068830" cy="2068830"/>
          </a:xfrm>
        </p:grpSpPr>
        <p:sp>
          <p:nvSpPr>
            <p:cNvPr name="Freeform 30" id="30"/>
            <p:cNvSpPr/>
            <p:nvPr/>
          </p:nvSpPr>
          <p:spPr>
            <a:xfrm flipH="false" flipV="false" rot="0">
              <a:off x="0" y="0"/>
              <a:ext cx="2068830" cy="2068830"/>
            </a:xfrm>
            <a:custGeom>
              <a:avLst/>
              <a:gdLst/>
              <a:ahLst/>
              <a:cxnLst/>
              <a:rect r="r" b="b" t="t" l="l"/>
              <a:pathLst>
                <a:path h="2068830" w="2068830">
                  <a:moveTo>
                    <a:pt x="0" y="1034415"/>
                  </a:moveTo>
                  <a:cubicBezTo>
                    <a:pt x="0" y="463169"/>
                    <a:pt x="463169" y="0"/>
                    <a:pt x="1034415" y="0"/>
                  </a:cubicBezTo>
                  <a:cubicBezTo>
                    <a:pt x="1605661" y="0"/>
                    <a:pt x="2068830" y="463169"/>
                    <a:pt x="2068830" y="1034415"/>
                  </a:cubicBezTo>
                  <a:cubicBezTo>
                    <a:pt x="2068830" y="1605661"/>
                    <a:pt x="1605661" y="2068830"/>
                    <a:pt x="1034415" y="2068830"/>
                  </a:cubicBezTo>
                  <a:cubicBezTo>
                    <a:pt x="463169" y="2068830"/>
                    <a:pt x="0" y="1605661"/>
                    <a:pt x="0" y="1034415"/>
                  </a:cubicBezTo>
                  <a:close/>
                </a:path>
              </a:pathLst>
            </a:custGeom>
            <a:solidFill>
              <a:srgbClr val="FFFFFF"/>
            </a:solidFill>
            <a:ln w="42862" cap="sq">
              <a:solidFill>
                <a:srgbClr val="000000"/>
              </a:solidFill>
              <a:prstDash val="solid"/>
              <a:miter/>
            </a:ln>
          </p:spPr>
        </p:sp>
      </p:grpSp>
      <p:grpSp>
        <p:nvGrpSpPr>
          <p:cNvPr name="Group 31" id="31"/>
          <p:cNvGrpSpPr/>
          <p:nvPr/>
        </p:nvGrpSpPr>
        <p:grpSpPr>
          <a:xfrm rot="0">
            <a:off x="14607540" y="4526280"/>
            <a:ext cx="1508760" cy="1508760"/>
            <a:chOff x="0" y="0"/>
            <a:chExt cx="2011680" cy="2011680"/>
          </a:xfrm>
        </p:grpSpPr>
        <p:sp>
          <p:nvSpPr>
            <p:cNvPr name="Freeform 32" id="32"/>
            <p:cNvSpPr/>
            <p:nvPr/>
          </p:nvSpPr>
          <p:spPr>
            <a:xfrm flipH="false" flipV="false" rot="0">
              <a:off x="0" y="0"/>
              <a:ext cx="2011680" cy="2011680"/>
            </a:xfrm>
            <a:custGeom>
              <a:avLst/>
              <a:gdLst/>
              <a:ahLst/>
              <a:cxnLst/>
              <a:rect r="r" b="b" t="t" l="l"/>
              <a:pathLst>
                <a:path h="2011680" w="2011680">
                  <a:moveTo>
                    <a:pt x="0" y="0"/>
                  </a:moveTo>
                  <a:lnTo>
                    <a:pt x="2011680" y="0"/>
                  </a:lnTo>
                  <a:lnTo>
                    <a:pt x="2011680" y="2011680"/>
                  </a:lnTo>
                  <a:lnTo>
                    <a:pt x="0" y="2011680"/>
                  </a:lnTo>
                  <a:close/>
                </a:path>
              </a:pathLst>
            </a:custGeom>
            <a:blipFill>
              <a:blip r:embed="rId3">
                <a:alphaModFix amt="0"/>
              </a:blip>
              <a:stretch>
                <a:fillRect l="-78303" t="0" r="-78303" b="0"/>
              </a:stretch>
            </a:blipFill>
          </p:spPr>
        </p:sp>
        <p:sp>
          <p:nvSpPr>
            <p:cNvPr name="TextBox 33" id="33"/>
            <p:cNvSpPr txBox="true"/>
            <p:nvPr/>
          </p:nvSpPr>
          <p:spPr>
            <a:xfrm>
              <a:off x="0" y="-19050"/>
              <a:ext cx="2011680" cy="2030730"/>
            </a:xfrm>
            <a:prstGeom prst="rect">
              <a:avLst/>
            </a:prstGeom>
          </p:spPr>
          <p:txBody>
            <a:bodyPr anchor="ctr" rtlCol="false" tIns="0" lIns="0" bIns="0" rIns="0"/>
            <a:lstStyle/>
            <a:p>
              <a:pPr algn="ctr">
                <a:lnSpc>
                  <a:spcPts val="3240"/>
                </a:lnSpc>
              </a:pPr>
              <a:r>
                <a:rPr lang="en-US" sz="2700" b="true">
                  <a:solidFill>
                    <a:srgbClr val="000000"/>
                  </a:solidFill>
                  <a:latin typeface="Times New Roman Bold"/>
                  <a:ea typeface="Times New Roman Bold"/>
                  <a:cs typeface="Times New Roman Bold"/>
                  <a:sym typeface="Times New Roman Bold"/>
                </a:rPr>
                <a:t>q3</a:t>
              </a:r>
            </a:p>
          </p:txBody>
        </p:sp>
      </p:grpSp>
      <p:sp>
        <p:nvSpPr>
          <p:cNvPr name="AutoShape 34" id="34"/>
          <p:cNvSpPr/>
          <p:nvPr/>
        </p:nvSpPr>
        <p:spPr>
          <a:xfrm rot="58680">
            <a:off x="3407388" y="5271135"/>
            <a:ext cx="2512104" cy="0"/>
          </a:xfrm>
          <a:prstGeom prst="line">
            <a:avLst/>
          </a:prstGeom>
          <a:ln cap="rnd" w="19050">
            <a:solidFill>
              <a:srgbClr val="000000"/>
            </a:solidFill>
            <a:prstDash val="solid"/>
            <a:headEnd type="none" len="sm" w="sm"/>
            <a:tailEnd type="triangle" len="med" w="lg"/>
          </a:ln>
        </p:spPr>
      </p:sp>
      <p:sp>
        <p:nvSpPr>
          <p:cNvPr name="TextBox 35" id="35"/>
          <p:cNvSpPr txBox="true"/>
          <p:nvPr/>
        </p:nvSpPr>
        <p:spPr>
          <a:xfrm rot="0">
            <a:off x="3429000" y="5426202"/>
            <a:ext cx="2468880" cy="499110"/>
          </a:xfrm>
          <a:prstGeom prst="rect">
            <a:avLst/>
          </a:prstGeom>
        </p:spPr>
        <p:txBody>
          <a:bodyPr anchor="t" rtlCol="false" tIns="0" lIns="0" bIns="0" rIns="0">
            <a:spAutoFit/>
          </a:bodyPr>
          <a:lstStyle/>
          <a:p>
            <a:pPr algn="ctr">
              <a:lnSpc>
                <a:spcPts val="2520"/>
              </a:lnSpc>
            </a:pPr>
            <a:r>
              <a:rPr lang="en-US" sz="2100" b="true">
                <a:solidFill>
                  <a:srgbClr val="000000"/>
                </a:solidFill>
                <a:latin typeface="Times New Roman Bold"/>
                <a:ea typeface="Times New Roman Bold"/>
                <a:cs typeface="Times New Roman Bold"/>
                <a:sym typeface="Times New Roman Bold"/>
              </a:rPr>
              <a:t>digit</a:t>
            </a:r>
          </a:p>
        </p:txBody>
      </p:sp>
      <p:sp>
        <p:nvSpPr>
          <p:cNvPr name="AutoShape 36" id="36"/>
          <p:cNvSpPr/>
          <p:nvPr/>
        </p:nvSpPr>
        <p:spPr>
          <a:xfrm rot="58680">
            <a:off x="7796508" y="5271135"/>
            <a:ext cx="2512104" cy="0"/>
          </a:xfrm>
          <a:prstGeom prst="line">
            <a:avLst/>
          </a:prstGeom>
          <a:ln cap="rnd" w="19050">
            <a:solidFill>
              <a:srgbClr val="000000"/>
            </a:solidFill>
            <a:prstDash val="solid"/>
            <a:headEnd type="none" len="sm" w="sm"/>
            <a:tailEnd type="triangle" len="med" w="lg"/>
          </a:ln>
        </p:spPr>
      </p:sp>
      <p:sp>
        <p:nvSpPr>
          <p:cNvPr name="TextBox 37" id="37"/>
          <p:cNvSpPr txBox="true"/>
          <p:nvPr/>
        </p:nvSpPr>
        <p:spPr>
          <a:xfrm rot="0">
            <a:off x="7818120" y="5426202"/>
            <a:ext cx="2468880" cy="499110"/>
          </a:xfrm>
          <a:prstGeom prst="rect">
            <a:avLst/>
          </a:prstGeom>
        </p:spPr>
        <p:txBody>
          <a:bodyPr anchor="t" rtlCol="false" tIns="0" lIns="0" bIns="0" rIns="0">
            <a:spAutoFit/>
          </a:bodyPr>
          <a:lstStyle/>
          <a:p>
            <a:pPr algn="ctr">
              <a:lnSpc>
                <a:spcPts val="2520"/>
              </a:lnSpc>
            </a:pPr>
            <a:r>
              <a:rPr lang="en-US" sz="2100" b="true">
                <a:solidFill>
                  <a:srgbClr val="000000"/>
                </a:solidFill>
                <a:latin typeface="Times New Roman Bold"/>
                <a:ea typeface="Times New Roman Bold"/>
                <a:cs typeface="Times New Roman Bold"/>
                <a:sym typeface="Times New Roman Bold"/>
              </a:rPr>
              <a:t>.</a:t>
            </a:r>
          </a:p>
        </p:txBody>
      </p:sp>
      <p:sp>
        <p:nvSpPr>
          <p:cNvPr name="AutoShape 38" id="38"/>
          <p:cNvSpPr/>
          <p:nvPr/>
        </p:nvSpPr>
        <p:spPr>
          <a:xfrm rot="58680">
            <a:off x="11911308" y="5271135"/>
            <a:ext cx="2512104" cy="0"/>
          </a:xfrm>
          <a:prstGeom prst="line">
            <a:avLst/>
          </a:prstGeom>
          <a:ln cap="rnd" w="19050">
            <a:solidFill>
              <a:srgbClr val="000000"/>
            </a:solidFill>
            <a:prstDash val="solid"/>
            <a:headEnd type="none" len="sm" w="sm"/>
            <a:tailEnd type="triangle" len="med" w="lg"/>
          </a:ln>
        </p:spPr>
      </p:sp>
      <p:sp>
        <p:nvSpPr>
          <p:cNvPr name="TextBox 39" id="39"/>
          <p:cNvSpPr txBox="true"/>
          <p:nvPr/>
        </p:nvSpPr>
        <p:spPr>
          <a:xfrm rot="0">
            <a:off x="11932920" y="5426202"/>
            <a:ext cx="2468880" cy="499110"/>
          </a:xfrm>
          <a:prstGeom prst="rect">
            <a:avLst/>
          </a:prstGeom>
        </p:spPr>
        <p:txBody>
          <a:bodyPr anchor="t" rtlCol="false" tIns="0" lIns="0" bIns="0" rIns="0">
            <a:spAutoFit/>
          </a:bodyPr>
          <a:lstStyle/>
          <a:p>
            <a:pPr algn="ctr">
              <a:lnSpc>
                <a:spcPts val="2520"/>
              </a:lnSpc>
            </a:pPr>
            <a:r>
              <a:rPr lang="en-US" sz="2100" b="true">
                <a:solidFill>
                  <a:srgbClr val="000000"/>
                </a:solidFill>
                <a:latin typeface="Times New Roman Bold"/>
                <a:ea typeface="Times New Roman Bold"/>
                <a:cs typeface="Times New Roman Bold"/>
                <a:sym typeface="Times New Roman Bold"/>
              </a:rPr>
              <a:t>digit</a:t>
            </a:r>
          </a:p>
        </p:txBody>
      </p:sp>
      <p:grpSp>
        <p:nvGrpSpPr>
          <p:cNvPr name="Group 40" id="40"/>
          <p:cNvGrpSpPr/>
          <p:nvPr/>
        </p:nvGrpSpPr>
        <p:grpSpPr>
          <a:xfrm rot="0">
            <a:off x="6356509" y="3009805"/>
            <a:ext cx="1002982" cy="1414462"/>
            <a:chOff x="0" y="0"/>
            <a:chExt cx="1337310" cy="1885950"/>
          </a:xfrm>
        </p:grpSpPr>
        <p:sp>
          <p:nvSpPr>
            <p:cNvPr name="Freeform 41" id="41"/>
            <p:cNvSpPr/>
            <p:nvPr/>
          </p:nvSpPr>
          <p:spPr>
            <a:xfrm flipH="false" flipV="false" rot="0">
              <a:off x="0" y="0"/>
              <a:ext cx="1337310" cy="942975"/>
            </a:xfrm>
            <a:custGeom>
              <a:avLst/>
              <a:gdLst/>
              <a:ahLst/>
              <a:cxnLst/>
              <a:rect r="r" b="b" t="t" l="l"/>
              <a:pathLst>
                <a:path h="942975" w="1337310">
                  <a:moveTo>
                    <a:pt x="0" y="942975"/>
                  </a:moveTo>
                  <a:cubicBezTo>
                    <a:pt x="0" y="422148"/>
                    <a:pt x="299339" y="0"/>
                    <a:pt x="668655" y="0"/>
                  </a:cubicBezTo>
                  <a:cubicBezTo>
                    <a:pt x="1037971" y="0"/>
                    <a:pt x="1337310" y="422148"/>
                    <a:pt x="1337310" y="942975"/>
                  </a:cubicBezTo>
                  <a:lnTo>
                    <a:pt x="668655" y="942975"/>
                  </a:lnTo>
                  <a:close/>
                </a:path>
              </a:pathLst>
            </a:custGeom>
            <a:blipFill>
              <a:blip r:embed="rId3">
                <a:alphaModFix amt="0"/>
              </a:blip>
              <a:stretch>
                <a:fillRect l="-130940" t="0" r="-130940" b="-100000"/>
              </a:stretch>
            </a:blipFill>
            <a:ln w="42862" cap="sq">
              <a:solidFill>
                <a:srgbClr val="000000"/>
              </a:solidFill>
              <a:prstDash val="solid"/>
              <a:miter/>
            </a:ln>
          </p:spPr>
        </p:sp>
        <p:sp>
          <p:nvSpPr>
            <p:cNvPr name="Freeform 42" id="42"/>
            <p:cNvSpPr/>
            <p:nvPr/>
          </p:nvSpPr>
          <p:spPr>
            <a:xfrm flipH="false" flipV="false" rot="0">
              <a:off x="0" y="0"/>
              <a:ext cx="1337310" cy="942975"/>
            </a:xfrm>
            <a:custGeom>
              <a:avLst/>
              <a:gdLst/>
              <a:ahLst/>
              <a:cxnLst/>
              <a:rect r="r" b="b" t="t" l="l"/>
              <a:pathLst>
                <a:path h="942975" w="1337310">
                  <a:moveTo>
                    <a:pt x="0" y="942975"/>
                  </a:moveTo>
                  <a:cubicBezTo>
                    <a:pt x="0" y="422148"/>
                    <a:pt x="299339" y="0"/>
                    <a:pt x="668655" y="0"/>
                  </a:cubicBezTo>
                  <a:cubicBezTo>
                    <a:pt x="1037971" y="0"/>
                    <a:pt x="1337310" y="422148"/>
                    <a:pt x="1337310" y="942975"/>
                  </a:cubicBezTo>
                </a:path>
              </a:pathLst>
            </a:custGeom>
            <a:blipFill>
              <a:blip r:embed="rId3">
                <a:alphaModFix amt="0"/>
              </a:blip>
              <a:stretch>
                <a:fillRect l="-130940" t="0" r="-130940" b="-100000"/>
              </a:stretch>
            </a:blipFill>
            <a:ln w="42862" cap="sq">
              <a:solidFill>
                <a:srgbClr val="000000"/>
              </a:solidFill>
              <a:prstDash val="solid"/>
              <a:miter/>
            </a:ln>
          </p:spPr>
        </p:sp>
      </p:grpSp>
      <p:sp>
        <p:nvSpPr>
          <p:cNvPr name="TextBox 43" id="43"/>
          <p:cNvSpPr txBox="true"/>
          <p:nvPr/>
        </p:nvSpPr>
        <p:spPr>
          <a:xfrm rot="0">
            <a:off x="5897880" y="2394966"/>
            <a:ext cx="1920240" cy="499110"/>
          </a:xfrm>
          <a:prstGeom prst="rect">
            <a:avLst/>
          </a:prstGeom>
        </p:spPr>
        <p:txBody>
          <a:bodyPr anchor="t" rtlCol="false" tIns="0" lIns="0" bIns="0" rIns="0">
            <a:spAutoFit/>
          </a:bodyPr>
          <a:lstStyle/>
          <a:p>
            <a:pPr algn="ctr">
              <a:lnSpc>
                <a:spcPts val="2520"/>
              </a:lnSpc>
            </a:pPr>
            <a:r>
              <a:rPr lang="en-US" sz="2100" b="true">
                <a:solidFill>
                  <a:srgbClr val="000000"/>
                </a:solidFill>
                <a:latin typeface="Times New Roman Bold"/>
                <a:ea typeface="Times New Roman Bold"/>
                <a:cs typeface="Times New Roman Bold"/>
                <a:sym typeface="Times New Roman Bold"/>
              </a:rPr>
              <a:t>digit</a:t>
            </a:r>
          </a:p>
        </p:txBody>
      </p:sp>
      <p:grpSp>
        <p:nvGrpSpPr>
          <p:cNvPr name="Group 44" id="44"/>
          <p:cNvGrpSpPr/>
          <p:nvPr/>
        </p:nvGrpSpPr>
        <p:grpSpPr>
          <a:xfrm rot="0">
            <a:off x="14860429" y="3009805"/>
            <a:ext cx="1002982" cy="1414462"/>
            <a:chOff x="0" y="0"/>
            <a:chExt cx="1337310" cy="1885950"/>
          </a:xfrm>
        </p:grpSpPr>
        <p:sp>
          <p:nvSpPr>
            <p:cNvPr name="Freeform 45" id="45"/>
            <p:cNvSpPr/>
            <p:nvPr/>
          </p:nvSpPr>
          <p:spPr>
            <a:xfrm flipH="false" flipV="false" rot="0">
              <a:off x="0" y="0"/>
              <a:ext cx="1337310" cy="942975"/>
            </a:xfrm>
            <a:custGeom>
              <a:avLst/>
              <a:gdLst/>
              <a:ahLst/>
              <a:cxnLst/>
              <a:rect r="r" b="b" t="t" l="l"/>
              <a:pathLst>
                <a:path h="942975" w="1337310">
                  <a:moveTo>
                    <a:pt x="0" y="942975"/>
                  </a:moveTo>
                  <a:cubicBezTo>
                    <a:pt x="0" y="422148"/>
                    <a:pt x="299339" y="0"/>
                    <a:pt x="668655" y="0"/>
                  </a:cubicBezTo>
                  <a:cubicBezTo>
                    <a:pt x="1037971" y="0"/>
                    <a:pt x="1337310" y="422148"/>
                    <a:pt x="1337310" y="942975"/>
                  </a:cubicBezTo>
                  <a:lnTo>
                    <a:pt x="668655" y="942975"/>
                  </a:lnTo>
                  <a:close/>
                </a:path>
              </a:pathLst>
            </a:custGeom>
            <a:blipFill>
              <a:blip r:embed="rId3">
                <a:alphaModFix amt="0"/>
              </a:blip>
              <a:stretch>
                <a:fillRect l="-130940" t="0" r="-130940" b="-100000"/>
              </a:stretch>
            </a:blipFill>
            <a:ln w="42862" cap="sq">
              <a:solidFill>
                <a:srgbClr val="000000"/>
              </a:solidFill>
              <a:prstDash val="solid"/>
              <a:miter/>
            </a:ln>
          </p:spPr>
        </p:sp>
        <p:sp>
          <p:nvSpPr>
            <p:cNvPr name="Freeform 46" id="46"/>
            <p:cNvSpPr/>
            <p:nvPr/>
          </p:nvSpPr>
          <p:spPr>
            <a:xfrm flipH="false" flipV="false" rot="0">
              <a:off x="0" y="0"/>
              <a:ext cx="1337310" cy="942975"/>
            </a:xfrm>
            <a:custGeom>
              <a:avLst/>
              <a:gdLst/>
              <a:ahLst/>
              <a:cxnLst/>
              <a:rect r="r" b="b" t="t" l="l"/>
              <a:pathLst>
                <a:path h="942975" w="1337310">
                  <a:moveTo>
                    <a:pt x="0" y="942975"/>
                  </a:moveTo>
                  <a:cubicBezTo>
                    <a:pt x="0" y="422148"/>
                    <a:pt x="299339" y="0"/>
                    <a:pt x="668655" y="0"/>
                  </a:cubicBezTo>
                  <a:cubicBezTo>
                    <a:pt x="1037971" y="0"/>
                    <a:pt x="1337310" y="422148"/>
                    <a:pt x="1337310" y="942975"/>
                  </a:cubicBezTo>
                </a:path>
              </a:pathLst>
            </a:custGeom>
            <a:blipFill>
              <a:blip r:embed="rId3">
                <a:alphaModFix amt="0"/>
              </a:blip>
              <a:stretch>
                <a:fillRect l="-130940" t="0" r="-130940" b="-100000"/>
              </a:stretch>
            </a:blipFill>
            <a:ln w="42862" cap="sq">
              <a:solidFill>
                <a:srgbClr val="000000"/>
              </a:solidFill>
              <a:prstDash val="solid"/>
              <a:miter/>
            </a:ln>
          </p:spPr>
        </p:sp>
      </p:grpSp>
      <p:sp>
        <p:nvSpPr>
          <p:cNvPr name="TextBox 47" id="47"/>
          <p:cNvSpPr txBox="true"/>
          <p:nvPr/>
        </p:nvSpPr>
        <p:spPr>
          <a:xfrm rot="0">
            <a:off x="14401800" y="2394966"/>
            <a:ext cx="1920240" cy="499110"/>
          </a:xfrm>
          <a:prstGeom prst="rect">
            <a:avLst/>
          </a:prstGeom>
        </p:spPr>
        <p:txBody>
          <a:bodyPr anchor="t" rtlCol="false" tIns="0" lIns="0" bIns="0" rIns="0">
            <a:spAutoFit/>
          </a:bodyPr>
          <a:lstStyle/>
          <a:p>
            <a:pPr algn="ctr">
              <a:lnSpc>
                <a:spcPts val="2520"/>
              </a:lnSpc>
            </a:pPr>
            <a:r>
              <a:rPr lang="en-US" sz="2100" b="true">
                <a:solidFill>
                  <a:srgbClr val="000000"/>
                </a:solidFill>
                <a:latin typeface="Times New Roman Bold"/>
                <a:ea typeface="Times New Roman Bold"/>
                <a:cs typeface="Times New Roman Bold"/>
                <a:sym typeface="Times New Roman Bold"/>
              </a:rPr>
              <a:t>digit</a:t>
            </a:r>
          </a:p>
        </p:txBody>
      </p:sp>
      <p:grpSp>
        <p:nvGrpSpPr>
          <p:cNvPr name="Group 48" id="48"/>
          <p:cNvGrpSpPr/>
          <p:nvPr/>
        </p:nvGrpSpPr>
        <p:grpSpPr>
          <a:xfrm rot="0">
            <a:off x="950595" y="6985635"/>
            <a:ext cx="5199126" cy="2145030"/>
            <a:chOff x="0" y="0"/>
            <a:chExt cx="6932168" cy="2860040"/>
          </a:xfrm>
        </p:grpSpPr>
        <p:sp>
          <p:nvSpPr>
            <p:cNvPr name="Freeform 49" id="49"/>
            <p:cNvSpPr/>
            <p:nvPr/>
          </p:nvSpPr>
          <p:spPr>
            <a:xfrm flipH="false" flipV="false" rot="0">
              <a:off x="0" y="0"/>
              <a:ext cx="6932168" cy="2860040"/>
            </a:xfrm>
            <a:custGeom>
              <a:avLst/>
              <a:gdLst/>
              <a:ahLst/>
              <a:cxnLst/>
              <a:rect r="r" b="b" t="t" l="l"/>
              <a:pathLst>
                <a:path h="2860040" w="6932168">
                  <a:moveTo>
                    <a:pt x="0" y="221361"/>
                  </a:moveTo>
                  <a:cubicBezTo>
                    <a:pt x="0" y="99187"/>
                    <a:pt x="99187" y="0"/>
                    <a:pt x="221361" y="0"/>
                  </a:cubicBezTo>
                  <a:lnTo>
                    <a:pt x="6710807" y="0"/>
                  </a:lnTo>
                  <a:cubicBezTo>
                    <a:pt x="6833108" y="0"/>
                    <a:pt x="6932168" y="99187"/>
                    <a:pt x="6932168" y="221361"/>
                  </a:cubicBezTo>
                  <a:lnTo>
                    <a:pt x="6932168" y="2638679"/>
                  </a:lnTo>
                  <a:cubicBezTo>
                    <a:pt x="6932168" y="2760980"/>
                    <a:pt x="6832981" y="2860040"/>
                    <a:pt x="6710807" y="2860040"/>
                  </a:cubicBezTo>
                  <a:lnTo>
                    <a:pt x="221361" y="2860040"/>
                  </a:lnTo>
                  <a:cubicBezTo>
                    <a:pt x="99187" y="2860040"/>
                    <a:pt x="0" y="2760853"/>
                    <a:pt x="0" y="2638679"/>
                  </a:cubicBezTo>
                  <a:close/>
                </a:path>
              </a:pathLst>
            </a:custGeom>
            <a:solidFill>
              <a:srgbClr val="FFFFFF"/>
            </a:solidFill>
            <a:ln w="19050" cap="sq">
              <a:solidFill>
                <a:srgbClr val="000000"/>
              </a:solidFill>
              <a:prstDash val="solid"/>
              <a:miter/>
            </a:ln>
          </p:spPr>
        </p:sp>
      </p:grpSp>
      <p:sp>
        <p:nvSpPr>
          <p:cNvPr name="TextBox 50" id="50"/>
          <p:cNvSpPr txBox="true"/>
          <p:nvPr/>
        </p:nvSpPr>
        <p:spPr>
          <a:xfrm rot="0">
            <a:off x="1371600" y="7250430"/>
            <a:ext cx="4357116" cy="430530"/>
          </a:xfrm>
          <a:prstGeom prst="rect">
            <a:avLst/>
          </a:prstGeom>
        </p:spPr>
        <p:txBody>
          <a:bodyPr anchor="t" rtlCol="false" tIns="0" lIns="0" bIns="0" rIns="0">
            <a:spAutoFit/>
          </a:bodyPr>
          <a:lstStyle/>
          <a:p>
            <a:pPr algn="l">
              <a:lnSpc>
                <a:spcPts val="2160"/>
              </a:lnSpc>
            </a:pPr>
            <a:r>
              <a:rPr lang="en-US" b="true" sz="1800" spc="149">
                <a:solidFill>
                  <a:srgbClr val="000000"/>
                </a:solidFill>
                <a:latin typeface="Times New Roman Bold"/>
                <a:ea typeface="Times New Roman Bold"/>
                <a:cs typeface="Times New Roman Bold"/>
                <a:sym typeface="Times New Roman Bold"/>
              </a:rPr>
              <a:t>q1 accepts</a:t>
            </a:r>
          </a:p>
        </p:txBody>
      </p:sp>
      <p:sp>
        <p:nvSpPr>
          <p:cNvPr name="TextBox 51" id="51"/>
          <p:cNvSpPr txBox="true"/>
          <p:nvPr/>
        </p:nvSpPr>
        <p:spPr>
          <a:xfrm rot="0">
            <a:off x="1371600" y="7789545"/>
            <a:ext cx="1920240" cy="851535"/>
          </a:xfrm>
          <a:prstGeom prst="rect">
            <a:avLst/>
          </a:prstGeom>
        </p:spPr>
        <p:txBody>
          <a:bodyPr anchor="t" rtlCol="false" tIns="0" lIns="0" bIns="0" rIns="0">
            <a:spAutoFit/>
          </a:bodyPr>
          <a:lstStyle/>
          <a:p>
            <a:pPr algn="l">
              <a:lnSpc>
                <a:spcPts val="4680"/>
              </a:lnSpc>
            </a:pPr>
            <a:r>
              <a:rPr lang="en-US" sz="3900" b="true">
                <a:solidFill>
                  <a:srgbClr val="000000"/>
                </a:solidFill>
                <a:latin typeface="Times New Roman Bold"/>
                <a:ea typeface="Times New Roman Bold"/>
                <a:cs typeface="Times New Roman Bold"/>
                <a:sym typeface="Times New Roman Bold"/>
              </a:rPr>
              <a:t>42</a:t>
            </a:r>
          </a:p>
        </p:txBody>
      </p:sp>
      <p:grpSp>
        <p:nvGrpSpPr>
          <p:cNvPr name="Group 52" id="52"/>
          <p:cNvGrpSpPr/>
          <p:nvPr/>
        </p:nvGrpSpPr>
        <p:grpSpPr>
          <a:xfrm rot="0">
            <a:off x="3794188" y="8009572"/>
            <a:ext cx="1948815" cy="494919"/>
            <a:chOff x="0" y="0"/>
            <a:chExt cx="2598420" cy="659892"/>
          </a:xfrm>
        </p:grpSpPr>
        <p:sp>
          <p:nvSpPr>
            <p:cNvPr name="Freeform 53" id="53"/>
            <p:cNvSpPr/>
            <p:nvPr/>
          </p:nvSpPr>
          <p:spPr>
            <a:xfrm flipH="false" flipV="false" rot="0">
              <a:off x="0" y="0"/>
              <a:ext cx="2598420" cy="659892"/>
            </a:xfrm>
            <a:custGeom>
              <a:avLst/>
              <a:gdLst/>
              <a:ahLst/>
              <a:cxnLst/>
              <a:rect r="r" b="b" t="t" l="l"/>
              <a:pathLst>
                <a:path h="659892" w="2598420">
                  <a:moveTo>
                    <a:pt x="0" y="329946"/>
                  </a:moveTo>
                  <a:cubicBezTo>
                    <a:pt x="0" y="147701"/>
                    <a:pt x="147701" y="0"/>
                    <a:pt x="329946" y="0"/>
                  </a:cubicBezTo>
                  <a:lnTo>
                    <a:pt x="2268474" y="0"/>
                  </a:lnTo>
                  <a:cubicBezTo>
                    <a:pt x="2450719" y="0"/>
                    <a:pt x="2598420" y="147701"/>
                    <a:pt x="2598420" y="329946"/>
                  </a:cubicBezTo>
                  <a:cubicBezTo>
                    <a:pt x="2598420" y="512191"/>
                    <a:pt x="2450719" y="659892"/>
                    <a:pt x="2268474" y="659892"/>
                  </a:cubicBezTo>
                  <a:lnTo>
                    <a:pt x="329946" y="659892"/>
                  </a:lnTo>
                  <a:cubicBezTo>
                    <a:pt x="147701" y="659892"/>
                    <a:pt x="0" y="512191"/>
                    <a:pt x="0" y="329946"/>
                  </a:cubicBezTo>
                  <a:close/>
                </a:path>
              </a:pathLst>
            </a:custGeom>
            <a:solidFill>
              <a:srgbClr val="FFFFFF"/>
            </a:solidFill>
            <a:ln w="28575" cap="sq">
              <a:solidFill>
                <a:srgbClr val="000000"/>
              </a:solidFill>
              <a:prstDash val="solid"/>
              <a:miter/>
            </a:ln>
          </p:spPr>
        </p:sp>
      </p:grpSp>
      <p:grpSp>
        <p:nvGrpSpPr>
          <p:cNvPr name="Group 54" id="54"/>
          <p:cNvGrpSpPr/>
          <p:nvPr/>
        </p:nvGrpSpPr>
        <p:grpSpPr>
          <a:xfrm rot="0">
            <a:off x="3808476" y="8023860"/>
            <a:ext cx="1920240" cy="466344"/>
            <a:chOff x="0" y="0"/>
            <a:chExt cx="2560320" cy="621792"/>
          </a:xfrm>
        </p:grpSpPr>
        <p:sp>
          <p:nvSpPr>
            <p:cNvPr name="Freeform 55" id="55"/>
            <p:cNvSpPr/>
            <p:nvPr/>
          </p:nvSpPr>
          <p:spPr>
            <a:xfrm flipH="false" flipV="false" rot="0">
              <a:off x="0" y="0"/>
              <a:ext cx="2560320" cy="621792"/>
            </a:xfrm>
            <a:custGeom>
              <a:avLst/>
              <a:gdLst/>
              <a:ahLst/>
              <a:cxnLst/>
              <a:rect r="r" b="b" t="t" l="l"/>
              <a:pathLst>
                <a:path h="621792" w="2560320">
                  <a:moveTo>
                    <a:pt x="0" y="0"/>
                  </a:moveTo>
                  <a:lnTo>
                    <a:pt x="2560320" y="0"/>
                  </a:lnTo>
                  <a:lnTo>
                    <a:pt x="2560320" y="621792"/>
                  </a:lnTo>
                  <a:lnTo>
                    <a:pt x="0" y="621792"/>
                  </a:lnTo>
                  <a:close/>
                </a:path>
              </a:pathLst>
            </a:custGeom>
            <a:blipFill>
              <a:blip r:embed="rId3">
                <a:alphaModFix amt="0"/>
              </a:blip>
              <a:stretch>
                <a:fillRect l="0" t="-30232" r="0" b="-30232"/>
              </a:stretch>
            </a:blipFill>
          </p:spPr>
        </p:sp>
        <p:sp>
          <p:nvSpPr>
            <p:cNvPr name="TextBox 56" id="56"/>
            <p:cNvSpPr txBox="true"/>
            <p:nvPr/>
          </p:nvSpPr>
          <p:spPr>
            <a:xfrm>
              <a:off x="0" y="-19050"/>
              <a:ext cx="2560320" cy="640842"/>
            </a:xfrm>
            <a:prstGeom prst="rect">
              <a:avLst/>
            </a:prstGeom>
          </p:spPr>
          <p:txBody>
            <a:bodyPr anchor="ctr" rtlCol="false" tIns="0" lIns="0" bIns="0" rIns="0"/>
            <a:lstStyle/>
            <a:p>
              <a:pPr algn="ctr">
                <a:lnSpc>
                  <a:spcPts val="2160"/>
                </a:lnSpc>
              </a:pPr>
              <a:r>
                <a:rPr lang="en-US" sz="1800" b="true">
                  <a:solidFill>
                    <a:srgbClr val="000000"/>
                  </a:solidFill>
                  <a:latin typeface="Times New Roman Bold"/>
                  <a:ea typeface="Times New Roman Bold"/>
                  <a:cs typeface="Times New Roman Bold"/>
                  <a:sym typeface="Times New Roman Bold"/>
                </a:rPr>
                <a:t>INTEGER</a:t>
              </a:r>
            </a:p>
          </p:txBody>
        </p:sp>
      </p:grpSp>
      <p:grpSp>
        <p:nvGrpSpPr>
          <p:cNvPr name="Group 57" id="57"/>
          <p:cNvGrpSpPr/>
          <p:nvPr/>
        </p:nvGrpSpPr>
        <p:grpSpPr>
          <a:xfrm rot="0">
            <a:off x="6542151" y="6985635"/>
            <a:ext cx="5199126" cy="2145030"/>
            <a:chOff x="0" y="0"/>
            <a:chExt cx="6932168" cy="2860040"/>
          </a:xfrm>
        </p:grpSpPr>
        <p:sp>
          <p:nvSpPr>
            <p:cNvPr name="Freeform 58" id="58"/>
            <p:cNvSpPr/>
            <p:nvPr/>
          </p:nvSpPr>
          <p:spPr>
            <a:xfrm flipH="false" flipV="false" rot="0">
              <a:off x="0" y="0"/>
              <a:ext cx="6932168" cy="2860040"/>
            </a:xfrm>
            <a:custGeom>
              <a:avLst/>
              <a:gdLst/>
              <a:ahLst/>
              <a:cxnLst/>
              <a:rect r="r" b="b" t="t" l="l"/>
              <a:pathLst>
                <a:path h="2860040" w="6932168">
                  <a:moveTo>
                    <a:pt x="0" y="221361"/>
                  </a:moveTo>
                  <a:cubicBezTo>
                    <a:pt x="0" y="99187"/>
                    <a:pt x="99187" y="0"/>
                    <a:pt x="221361" y="0"/>
                  </a:cubicBezTo>
                  <a:lnTo>
                    <a:pt x="6710807" y="0"/>
                  </a:lnTo>
                  <a:cubicBezTo>
                    <a:pt x="6833108" y="0"/>
                    <a:pt x="6932168" y="99187"/>
                    <a:pt x="6932168" y="221361"/>
                  </a:cubicBezTo>
                  <a:lnTo>
                    <a:pt x="6932168" y="2638679"/>
                  </a:lnTo>
                  <a:cubicBezTo>
                    <a:pt x="6932168" y="2760980"/>
                    <a:pt x="6832981" y="2860040"/>
                    <a:pt x="6710807" y="2860040"/>
                  </a:cubicBezTo>
                  <a:lnTo>
                    <a:pt x="221361" y="2860040"/>
                  </a:lnTo>
                  <a:cubicBezTo>
                    <a:pt x="99187" y="2860040"/>
                    <a:pt x="0" y="2760853"/>
                    <a:pt x="0" y="2638679"/>
                  </a:cubicBezTo>
                  <a:close/>
                </a:path>
              </a:pathLst>
            </a:custGeom>
            <a:solidFill>
              <a:srgbClr val="FFFFFF"/>
            </a:solidFill>
            <a:ln w="19050" cap="sq">
              <a:solidFill>
                <a:srgbClr val="000000"/>
              </a:solidFill>
              <a:prstDash val="solid"/>
              <a:miter/>
            </a:ln>
          </p:spPr>
        </p:sp>
      </p:grpSp>
      <p:sp>
        <p:nvSpPr>
          <p:cNvPr name="TextBox 59" id="59"/>
          <p:cNvSpPr txBox="true"/>
          <p:nvPr/>
        </p:nvSpPr>
        <p:spPr>
          <a:xfrm rot="0">
            <a:off x="6963156" y="7250430"/>
            <a:ext cx="4357116" cy="430530"/>
          </a:xfrm>
          <a:prstGeom prst="rect">
            <a:avLst/>
          </a:prstGeom>
        </p:spPr>
        <p:txBody>
          <a:bodyPr anchor="t" rtlCol="false" tIns="0" lIns="0" bIns="0" rIns="0">
            <a:spAutoFit/>
          </a:bodyPr>
          <a:lstStyle/>
          <a:p>
            <a:pPr algn="l">
              <a:lnSpc>
                <a:spcPts val="2160"/>
              </a:lnSpc>
            </a:pPr>
            <a:r>
              <a:rPr lang="en-US" b="true" sz="1800" spc="149">
                <a:solidFill>
                  <a:srgbClr val="000000"/>
                </a:solidFill>
                <a:latin typeface="Times New Roman Bold"/>
                <a:ea typeface="Times New Roman Bold"/>
                <a:cs typeface="Times New Roman Bold"/>
                <a:sym typeface="Times New Roman Bold"/>
              </a:rPr>
              <a:t>q3 accepts</a:t>
            </a:r>
          </a:p>
        </p:txBody>
      </p:sp>
      <p:sp>
        <p:nvSpPr>
          <p:cNvPr name="TextBox 60" id="60"/>
          <p:cNvSpPr txBox="true"/>
          <p:nvPr/>
        </p:nvSpPr>
        <p:spPr>
          <a:xfrm rot="0">
            <a:off x="6963156" y="7789545"/>
            <a:ext cx="1920240" cy="851535"/>
          </a:xfrm>
          <a:prstGeom prst="rect">
            <a:avLst/>
          </a:prstGeom>
        </p:spPr>
        <p:txBody>
          <a:bodyPr anchor="t" rtlCol="false" tIns="0" lIns="0" bIns="0" rIns="0">
            <a:spAutoFit/>
          </a:bodyPr>
          <a:lstStyle/>
          <a:p>
            <a:pPr algn="l">
              <a:lnSpc>
                <a:spcPts val="4680"/>
              </a:lnSpc>
            </a:pPr>
            <a:r>
              <a:rPr lang="en-US" sz="3900" b="true">
                <a:solidFill>
                  <a:srgbClr val="000000"/>
                </a:solidFill>
                <a:latin typeface="Times New Roman Bold"/>
                <a:ea typeface="Times New Roman Bold"/>
                <a:cs typeface="Times New Roman Bold"/>
                <a:sym typeface="Times New Roman Bold"/>
              </a:rPr>
              <a:t>3.14</a:t>
            </a:r>
          </a:p>
        </p:txBody>
      </p:sp>
      <p:grpSp>
        <p:nvGrpSpPr>
          <p:cNvPr name="Group 61" id="61"/>
          <p:cNvGrpSpPr/>
          <p:nvPr/>
        </p:nvGrpSpPr>
        <p:grpSpPr>
          <a:xfrm rot="0">
            <a:off x="9385744" y="8009572"/>
            <a:ext cx="1948815" cy="494919"/>
            <a:chOff x="0" y="0"/>
            <a:chExt cx="2598420" cy="659892"/>
          </a:xfrm>
        </p:grpSpPr>
        <p:sp>
          <p:nvSpPr>
            <p:cNvPr name="Freeform 62" id="62"/>
            <p:cNvSpPr/>
            <p:nvPr/>
          </p:nvSpPr>
          <p:spPr>
            <a:xfrm flipH="false" flipV="false" rot="0">
              <a:off x="0" y="0"/>
              <a:ext cx="2598420" cy="659892"/>
            </a:xfrm>
            <a:custGeom>
              <a:avLst/>
              <a:gdLst/>
              <a:ahLst/>
              <a:cxnLst/>
              <a:rect r="r" b="b" t="t" l="l"/>
              <a:pathLst>
                <a:path h="659892" w="2598420">
                  <a:moveTo>
                    <a:pt x="0" y="329946"/>
                  </a:moveTo>
                  <a:cubicBezTo>
                    <a:pt x="0" y="147701"/>
                    <a:pt x="147701" y="0"/>
                    <a:pt x="329946" y="0"/>
                  </a:cubicBezTo>
                  <a:lnTo>
                    <a:pt x="2268474" y="0"/>
                  </a:lnTo>
                  <a:cubicBezTo>
                    <a:pt x="2450719" y="0"/>
                    <a:pt x="2598420" y="147701"/>
                    <a:pt x="2598420" y="329946"/>
                  </a:cubicBezTo>
                  <a:cubicBezTo>
                    <a:pt x="2598420" y="512191"/>
                    <a:pt x="2450719" y="659892"/>
                    <a:pt x="2268474" y="659892"/>
                  </a:cubicBezTo>
                  <a:lnTo>
                    <a:pt x="329946" y="659892"/>
                  </a:lnTo>
                  <a:cubicBezTo>
                    <a:pt x="147701" y="659892"/>
                    <a:pt x="0" y="512191"/>
                    <a:pt x="0" y="329946"/>
                  </a:cubicBezTo>
                  <a:close/>
                </a:path>
              </a:pathLst>
            </a:custGeom>
            <a:solidFill>
              <a:srgbClr val="FFFFFF"/>
            </a:solidFill>
            <a:ln w="28575" cap="sq">
              <a:solidFill>
                <a:srgbClr val="000000"/>
              </a:solidFill>
              <a:prstDash val="solid"/>
              <a:miter/>
            </a:ln>
          </p:spPr>
        </p:sp>
      </p:grpSp>
      <p:grpSp>
        <p:nvGrpSpPr>
          <p:cNvPr name="Group 63" id="63"/>
          <p:cNvGrpSpPr/>
          <p:nvPr/>
        </p:nvGrpSpPr>
        <p:grpSpPr>
          <a:xfrm rot="0">
            <a:off x="9400032" y="8023860"/>
            <a:ext cx="1920240" cy="466344"/>
            <a:chOff x="0" y="0"/>
            <a:chExt cx="2560320" cy="621792"/>
          </a:xfrm>
        </p:grpSpPr>
        <p:sp>
          <p:nvSpPr>
            <p:cNvPr name="Freeform 64" id="64"/>
            <p:cNvSpPr/>
            <p:nvPr/>
          </p:nvSpPr>
          <p:spPr>
            <a:xfrm flipH="false" flipV="false" rot="0">
              <a:off x="0" y="0"/>
              <a:ext cx="2560320" cy="621792"/>
            </a:xfrm>
            <a:custGeom>
              <a:avLst/>
              <a:gdLst/>
              <a:ahLst/>
              <a:cxnLst/>
              <a:rect r="r" b="b" t="t" l="l"/>
              <a:pathLst>
                <a:path h="621792" w="2560320">
                  <a:moveTo>
                    <a:pt x="0" y="0"/>
                  </a:moveTo>
                  <a:lnTo>
                    <a:pt x="2560320" y="0"/>
                  </a:lnTo>
                  <a:lnTo>
                    <a:pt x="2560320" y="621792"/>
                  </a:lnTo>
                  <a:lnTo>
                    <a:pt x="0" y="621792"/>
                  </a:lnTo>
                  <a:close/>
                </a:path>
              </a:pathLst>
            </a:custGeom>
            <a:blipFill>
              <a:blip r:embed="rId3">
                <a:alphaModFix amt="0"/>
              </a:blip>
              <a:stretch>
                <a:fillRect l="0" t="-30232" r="0" b="-30232"/>
              </a:stretch>
            </a:blipFill>
          </p:spPr>
        </p:sp>
        <p:sp>
          <p:nvSpPr>
            <p:cNvPr name="TextBox 65" id="65"/>
            <p:cNvSpPr txBox="true"/>
            <p:nvPr/>
          </p:nvSpPr>
          <p:spPr>
            <a:xfrm>
              <a:off x="0" y="-19050"/>
              <a:ext cx="2560320" cy="640842"/>
            </a:xfrm>
            <a:prstGeom prst="rect">
              <a:avLst/>
            </a:prstGeom>
          </p:spPr>
          <p:txBody>
            <a:bodyPr anchor="ctr" rtlCol="false" tIns="0" lIns="0" bIns="0" rIns="0"/>
            <a:lstStyle/>
            <a:p>
              <a:pPr algn="ctr">
                <a:lnSpc>
                  <a:spcPts val="2160"/>
                </a:lnSpc>
              </a:pPr>
              <a:r>
                <a:rPr lang="en-US" sz="1800" b="true">
                  <a:solidFill>
                    <a:srgbClr val="000000"/>
                  </a:solidFill>
                  <a:latin typeface="Times New Roman Bold"/>
                  <a:ea typeface="Times New Roman Bold"/>
                  <a:cs typeface="Times New Roman Bold"/>
                  <a:sym typeface="Times New Roman Bold"/>
                </a:rPr>
                <a:t>FLOAT</a:t>
              </a:r>
            </a:p>
          </p:txBody>
        </p:sp>
      </p:grpSp>
      <p:grpSp>
        <p:nvGrpSpPr>
          <p:cNvPr name="Group 66" id="66"/>
          <p:cNvGrpSpPr/>
          <p:nvPr/>
        </p:nvGrpSpPr>
        <p:grpSpPr>
          <a:xfrm rot="0">
            <a:off x="12133707" y="6985635"/>
            <a:ext cx="5199126" cy="2145030"/>
            <a:chOff x="0" y="0"/>
            <a:chExt cx="6932168" cy="2860040"/>
          </a:xfrm>
        </p:grpSpPr>
        <p:sp>
          <p:nvSpPr>
            <p:cNvPr name="Freeform 67" id="67"/>
            <p:cNvSpPr/>
            <p:nvPr/>
          </p:nvSpPr>
          <p:spPr>
            <a:xfrm flipH="false" flipV="false" rot="0">
              <a:off x="0" y="0"/>
              <a:ext cx="6932168" cy="2860040"/>
            </a:xfrm>
            <a:custGeom>
              <a:avLst/>
              <a:gdLst/>
              <a:ahLst/>
              <a:cxnLst/>
              <a:rect r="r" b="b" t="t" l="l"/>
              <a:pathLst>
                <a:path h="2860040" w="6932168">
                  <a:moveTo>
                    <a:pt x="0" y="221361"/>
                  </a:moveTo>
                  <a:cubicBezTo>
                    <a:pt x="0" y="99187"/>
                    <a:pt x="99187" y="0"/>
                    <a:pt x="221361" y="0"/>
                  </a:cubicBezTo>
                  <a:lnTo>
                    <a:pt x="6710807" y="0"/>
                  </a:lnTo>
                  <a:cubicBezTo>
                    <a:pt x="6833108" y="0"/>
                    <a:pt x="6932168" y="99187"/>
                    <a:pt x="6932168" y="221361"/>
                  </a:cubicBezTo>
                  <a:lnTo>
                    <a:pt x="6932168" y="2638679"/>
                  </a:lnTo>
                  <a:cubicBezTo>
                    <a:pt x="6932168" y="2760980"/>
                    <a:pt x="6832981" y="2860040"/>
                    <a:pt x="6710807" y="2860040"/>
                  </a:cubicBezTo>
                  <a:lnTo>
                    <a:pt x="221361" y="2860040"/>
                  </a:lnTo>
                  <a:cubicBezTo>
                    <a:pt x="99187" y="2860040"/>
                    <a:pt x="0" y="2760853"/>
                    <a:pt x="0" y="2638679"/>
                  </a:cubicBezTo>
                  <a:close/>
                </a:path>
              </a:pathLst>
            </a:custGeom>
            <a:solidFill>
              <a:srgbClr val="FFFFFF"/>
            </a:solidFill>
            <a:ln w="19050" cap="sq">
              <a:solidFill>
                <a:srgbClr val="000000"/>
              </a:solidFill>
              <a:prstDash val="solid"/>
              <a:miter/>
            </a:ln>
          </p:spPr>
        </p:sp>
      </p:grpSp>
      <p:sp>
        <p:nvSpPr>
          <p:cNvPr name="TextBox 68" id="68"/>
          <p:cNvSpPr txBox="true"/>
          <p:nvPr/>
        </p:nvSpPr>
        <p:spPr>
          <a:xfrm rot="0">
            <a:off x="12554712" y="7250430"/>
            <a:ext cx="4357116" cy="430530"/>
          </a:xfrm>
          <a:prstGeom prst="rect">
            <a:avLst/>
          </a:prstGeom>
        </p:spPr>
        <p:txBody>
          <a:bodyPr anchor="t" rtlCol="false" tIns="0" lIns="0" bIns="0" rIns="0">
            <a:spAutoFit/>
          </a:bodyPr>
          <a:lstStyle/>
          <a:p>
            <a:pPr algn="l">
              <a:lnSpc>
                <a:spcPts val="2160"/>
              </a:lnSpc>
            </a:pPr>
            <a:r>
              <a:rPr lang="en-US" b="true" sz="1800" spc="149">
                <a:solidFill>
                  <a:srgbClr val="000000"/>
                </a:solidFill>
                <a:latin typeface="Times New Roman Bold"/>
                <a:ea typeface="Times New Roman Bold"/>
                <a:cs typeface="Times New Roman Bold"/>
                <a:sym typeface="Times New Roman Bold"/>
              </a:rPr>
              <a:t>q2 does not accept</a:t>
            </a:r>
          </a:p>
        </p:txBody>
      </p:sp>
      <p:sp>
        <p:nvSpPr>
          <p:cNvPr name="TextBox 69" id="69"/>
          <p:cNvSpPr txBox="true"/>
          <p:nvPr/>
        </p:nvSpPr>
        <p:spPr>
          <a:xfrm rot="0">
            <a:off x="12554712" y="7789545"/>
            <a:ext cx="1920240" cy="851535"/>
          </a:xfrm>
          <a:prstGeom prst="rect">
            <a:avLst/>
          </a:prstGeom>
        </p:spPr>
        <p:txBody>
          <a:bodyPr anchor="t" rtlCol="false" tIns="0" lIns="0" bIns="0" rIns="0">
            <a:spAutoFit/>
          </a:bodyPr>
          <a:lstStyle/>
          <a:p>
            <a:pPr algn="l">
              <a:lnSpc>
                <a:spcPts val="4680"/>
              </a:lnSpc>
            </a:pPr>
            <a:r>
              <a:rPr lang="en-US" sz="3900" b="true">
                <a:solidFill>
                  <a:srgbClr val="000000"/>
                </a:solidFill>
                <a:latin typeface="Times New Roman Bold"/>
                <a:ea typeface="Times New Roman Bold"/>
                <a:cs typeface="Times New Roman Bold"/>
                <a:sym typeface="Times New Roman Bold"/>
              </a:rPr>
              <a:t>3.</a:t>
            </a:r>
          </a:p>
        </p:txBody>
      </p:sp>
      <p:grpSp>
        <p:nvGrpSpPr>
          <p:cNvPr name="Group 70" id="70"/>
          <p:cNvGrpSpPr/>
          <p:nvPr/>
        </p:nvGrpSpPr>
        <p:grpSpPr>
          <a:xfrm rot="0">
            <a:off x="14977300" y="8009572"/>
            <a:ext cx="1948815" cy="494919"/>
            <a:chOff x="0" y="0"/>
            <a:chExt cx="2598420" cy="659892"/>
          </a:xfrm>
        </p:grpSpPr>
        <p:sp>
          <p:nvSpPr>
            <p:cNvPr name="Freeform 71" id="71"/>
            <p:cNvSpPr/>
            <p:nvPr/>
          </p:nvSpPr>
          <p:spPr>
            <a:xfrm flipH="false" flipV="false" rot="0">
              <a:off x="0" y="0"/>
              <a:ext cx="2598420" cy="659892"/>
            </a:xfrm>
            <a:custGeom>
              <a:avLst/>
              <a:gdLst/>
              <a:ahLst/>
              <a:cxnLst/>
              <a:rect r="r" b="b" t="t" l="l"/>
              <a:pathLst>
                <a:path h="659892" w="2598420">
                  <a:moveTo>
                    <a:pt x="0" y="329946"/>
                  </a:moveTo>
                  <a:cubicBezTo>
                    <a:pt x="0" y="147701"/>
                    <a:pt x="147701" y="0"/>
                    <a:pt x="329946" y="0"/>
                  </a:cubicBezTo>
                  <a:lnTo>
                    <a:pt x="2268474" y="0"/>
                  </a:lnTo>
                  <a:cubicBezTo>
                    <a:pt x="2450719" y="0"/>
                    <a:pt x="2598420" y="147701"/>
                    <a:pt x="2598420" y="329946"/>
                  </a:cubicBezTo>
                  <a:cubicBezTo>
                    <a:pt x="2598420" y="512191"/>
                    <a:pt x="2450719" y="659892"/>
                    <a:pt x="2268474" y="659892"/>
                  </a:cubicBezTo>
                  <a:lnTo>
                    <a:pt x="329946" y="659892"/>
                  </a:lnTo>
                  <a:cubicBezTo>
                    <a:pt x="147701" y="659892"/>
                    <a:pt x="0" y="512191"/>
                    <a:pt x="0" y="329946"/>
                  </a:cubicBezTo>
                  <a:close/>
                </a:path>
              </a:pathLst>
            </a:custGeom>
            <a:solidFill>
              <a:srgbClr val="FFFFFF"/>
            </a:solidFill>
            <a:ln w="28575" cap="sq">
              <a:solidFill>
                <a:srgbClr val="000000"/>
              </a:solidFill>
              <a:prstDash val="solid"/>
              <a:miter/>
            </a:ln>
          </p:spPr>
        </p:sp>
      </p:grpSp>
      <p:grpSp>
        <p:nvGrpSpPr>
          <p:cNvPr name="Group 72" id="72"/>
          <p:cNvGrpSpPr/>
          <p:nvPr/>
        </p:nvGrpSpPr>
        <p:grpSpPr>
          <a:xfrm rot="0">
            <a:off x="14991588" y="8023860"/>
            <a:ext cx="1920240" cy="466344"/>
            <a:chOff x="0" y="0"/>
            <a:chExt cx="2560320" cy="621792"/>
          </a:xfrm>
        </p:grpSpPr>
        <p:sp>
          <p:nvSpPr>
            <p:cNvPr name="Freeform 73" id="73"/>
            <p:cNvSpPr/>
            <p:nvPr/>
          </p:nvSpPr>
          <p:spPr>
            <a:xfrm flipH="false" flipV="false" rot="0">
              <a:off x="0" y="0"/>
              <a:ext cx="2560320" cy="621792"/>
            </a:xfrm>
            <a:custGeom>
              <a:avLst/>
              <a:gdLst/>
              <a:ahLst/>
              <a:cxnLst/>
              <a:rect r="r" b="b" t="t" l="l"/>
              <a:pathLst>
                <a:path h="621792" w="2560320">
                  <a:moveTo>
                    <a:pt x="0" y="0"/>
                  </a:moveTo>
                  <a:lnTo>
                    <a:pt x="2560320" y="0"/>
                  </a:lnTo>
                  <a:lnTo>
                    <a:pt x="2560320" y="621792"/>
                  </a:lnTo>
                  <a:lnTo>
                    <a:pt x="0" y="621792"/>
                  </a:lnTo>
                  <a:close/>
                </a:path>
              </a:pathLst>
            </a:custGeom>
            <a:blipFill>
              <a:blip r:embed="rId3">
                <a:alphaModFix amt="0"/>
              </a:blip>
              <a:stretch>
                <a:fillRect l="0" t="-30232" r="0" b="-30232"/>
              </a:stretch>
            </a:blipFill>
          </p:spPr>
        </p:sp>
        <p:sp>
          <p:nvSpPr>
            <p:cNvPr name="TextBox 74" id="74"/>
            <p:cNvSpPr txBox="true"/>
            <p:nvPr/>
          </p:nvSpPr>
          <p:spPr>
            <a:xfrm>
              <a:off x="0" y="-19050"/>
              <a:ext cx="2560320" cy="640842"/>
            </a:xfrm>
            <a:prstGeom prst="rect">
              <a:avLst/>
            </a:prstGeom>
          </p:spPr>
          <p:txBody>
            <a:bodyPr anchor="ctr" rtlCol="false" tIns="0" lIns="0" bIns="0" rIns="0"/>
            <a:lstStyle/>
            <a:p>
              <a:pPr algn="ctr">
                <a:lnSpc>
                  <a:spcPts val="2160"/>
                </a:lnSpc>
              </a:pPr>
              <a:r>
                <a:rPr lang="en-US" sz="1800" b="true">
                  <a:solidFill>
                    <a:srgbClr val="000000"/>
                  </a:solidFill>
                  <a:latin typeface="Times New Roman Bold"/>
                  <a:ea typeface="Times New Roman Bold"/>
                  <a:cs typeface="Times New Roman Bold"/>
                  <a:sym typeface="Times New Roman Bold"/>
                </a:rPr>
                <a:t>REJECTED</a:t>
              </a:r>
            </a:p>
          </p:txBody>
        </p:sp>
      </p:grpSp>
      <p:sp>
        <p:nvSpPr>
          <p:cNvPr name="TextBox 75" id="75"/>
          <p:cNvSpPr txBox="true"/>
          <p:nvPr/>
        </p:nvSpPr>
        <p:spPr>
          <a:xfrm rot="0">
            <a:off x="16454628" y="9627870"/>
            <a:ext cx="777240" cy="339090"/>
          </a:xfrm>
          <a:prstGeom prst="rect">
            <a:avLst/>
          </a:prstGeom>
        </p:spPr>
        <p:txBody>
          <a:bodyPr anchor="t" rtlCol="false" tIns="0" lIns="0" bIns="0" rIns="0">
            <a:spAutoFit/>
          </a:bodyPr>
          <a:lstStyle/>
          <a:p>
            <a:pPr algn="r">
              <a:lnSpc>
                <a:spcPts val="1800"/>
              </a:lnSpc>
            </a:pPr>
            <a:r>
              <a:rPr lang="en-US" sz="1500">
                <a:solidFill>
                  <a:srgbClr val="000000"/>
                </a:solidFill>
                <a:latin typeface="Times New Roman"/>
                <a:ea typeface="Times New Roman"/>
                <a:cs typeface="Times New Roman"/>
                <a:sym typeface="Times New Roman"/>
              </a:rPr>
              <a:t>7</a:t>
            </a:r>
          </a:p>
        </p:txBody>
      </p:sp>
      <p:sp>
        <p:nvSpPr>
          <p:cNvPr name="Freeform 76" id="76"/>
          <p:cNvSpPr/>
          <p:nvPr/>
        </p:nvSpPr>
        <p:spPr>
          <a:xfrm flipH="false" flipV="false" rot="0">
            <a:off x="15175541" y="55401"/>
            <a:ext cx="2083759" cy="2083759"/>
          </a:xfrm>
          <a:custGeom>
            <a:avLst/>
            <a:gdLst/>
            <a:ahLst/>
            <a:cxnLst/>
            <a:rect r="r" b="b" t="t" l="l"/>
            <a:pathLst>
              <a:path h="2083759" w="2083759">
                <a:moveTo>
                  <a:pt x="0" y="0"/>
                </a:moveTo>
                <a:lnTo>
                  <a:pt x="2083759" y="0"/>
                </a:lnTo>
                <a:lnTo>
                  <a:pt x="2083759" y="2083758"/>
                </a:lnTo>
                <a:lnTo>
                  <a:pt x="0" y="2083758"/>
                </a:lnTo>
                <a:lnTo>
                  <a:pt x="0" y="0"/>
                </a:lnTo>
                <a:close/>
              </a:path>
            </a:pathLst>
          </a:custGeom>
          <a:blipFill>
            <a:blip r:embed="rId4"/>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9601200"/>
            <a:ext cx="8229600" cy="411480"/>
            <a:chOff x="0" y="0"/>
            <a:chExt cx="10972800" cy="548640"/>
          </a:xfrm>
        </p:grpSpPr>
        <p:sp>
          <p:nvSpPr>
            <p:cNvPr name="Freeform 3" id="3"/>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700" r="0" b="-339700"/>
              </a:stretch>
            </a:blipFill>
          </p:spPr>
        </p:sp>
        <p:sp>
          <p:nvSpPr>
            <p:cNvPr name="TextBox 4" id="4"/>
            <p:cNvSpPr txBox="true"/>
            <p:nvPr/>
          </p:nvSpPr>
          <p:spPr>
            <a:xfrm>
              <a:off x="0" y="-19050"/>
              <a:ext cx="10972800" cy="567690"/>
            </a:xfrm>
            <a:prstGeom prst="rect">
              <a:avLst/>
            </a:prstGeom>
          </p:spPr>
          <p:txBody>
            <a:bodyPr anchor="ctr" rtlCol="false" tIns="0" lIns="0" bIns="0" rIns="0"/>
            <a:lstStyle/>
            <a:p>
              <a:pPr algn="l">
                <a:lnSpc>
                  <a:spcPts val="1800"/>
                </a:lnSpc>
              </a:pPr>
              <a:r>
                <a:rPr lang="en-US" sz="1500">
                  <a:solidFill>
                    <a:srgbClr val="000000"/>
                  </a:solidFill>
                  <a:latin typeface="Times New Roman"/>
                  <a:ea typeface="Times New Roman"/>
                  <a:cs typeface="Times New Roman"/>
                  <a:sym typeface="Times New Roman"/>
                </a:rPr>
                <a:t>Building an FSA for Token Recognition</a:t>
              </a:r>
            </a:p>
          </p:txBody>
        </p:sp>
      </p:grpSp>
      <p:grpSp>
        <p:nvGrpSpPr>
          <p:cNvPr name="Group 5" id="5"/>
          <p:cNvGrpSpPr/>
          <p:nvPr/>
        </p:nvGrpSpPr>
        <p:grpSpPr>
          <a:xfrm rot="0">
            <a:off x="960120" y="548640"/>
            <a:ext cx="15361920" cy="1097280"/>
            <a:chOff x="0" y="0"/>
            <a:chExt cx="20482560" cy="1463040"/>
          </a:xfrm>
        </p:grpSpPr>
        <p:sp>
          <p:nvSpPr>
            <p:cNvPr name="Freeform 6" id="6"/>
            <p:cNvSpPr/>
            <p:nvPr/>
          </p:nvSpPr>
          <p:spPr>
            <a:xfrm flipH="false" flipV="false" rot="0">
              <a:off x="0" y="0"/>
              <a:ext cx="20482561" cy="1463040"/>
            </a:xfrm>
            <a:custGeom>
              <a:avLst/>
              <a:gdLst/>
              <a:ahLst/>
              <a:cxnLst/>
              <a:rect r="r" b="b" t="t" l="l"/>
              <a:pathLst>
                <a:path h="1463040" w="20482561">
                  <a:moveTo>
                    <a:pt x="0" y="0"/>
                  </a:moveTo>
                  <a:lnTo>
                    <a:pt x="20482561" y="0"/>
                  </a:lnTo>
                  <a:lnTo>
                    <a:pt x="20482561" y="1463040"/>
                  </a:lnTo>
                  <a:lnTo>
                    <a:pt x="0" y="1463040"/>
                  </a:lnTo>
                  <a:close/>
                </a:path>
              </a:pathLst>
            </a:custGeom>
            <a:blipFill>
              <a:blip r:embed="rId3">
                <a:alphaModFix amt="0"/>
              </a:blip>
              <a:stretch>
                <a:fillRect l="0" t="-222790" r="0" b="-222790"/>
              </a:stretch>
            </a:blipFill>
          </p:spPr>
        </p:sp>
        <p:sp>
          <p:nvSpPr>
            <p:cNvPr name="TextBox 7" id="7"/>
            <p:cNvSpPr txBox="true"/>
            <p:nvPr/>
          </p:nvSpPr>
          <p:spPr>
            <a:xfrm>
              <a:off x="0" y="-28575"/>
              <a:ext cx="20482560" cy="1491615"/>
            </a:xfrm>
            <a:prstGeom prst="rect">
              <a:avLst/>
            </a:prstGeom>
          </p:spPr>
          <p:txBody>
            <a:bodyPr anchor="ctr" rtlCol="false" tIns="0" lIns="0" bIns="0" rIns="0"/>
            <a:lstStyle/>
            <a:p>
              <a:pPr algn="l">
                <a:lnSpc>
                  <a:spcPts val="6120"/>
                </a:lnSpc>
              </a:pPr>
              <a:r>
                <a:rPr lang="en-US" sz="5100" b="true">
                  <a:solidFill>
                    <a:srgbClr val="000000"/>
                  </a:solidFill>
                  <a:latin typeface="Times New Roman Bold"/>
                  <a:ea typeface="Times New Roman Bold"/>
                  <a:cs typeface="Times New Roman Bold"/>
                  <a:sym typeface="Times New Roman Bold"/>
                </a:rPr>
                <a:t>Token validation: maximal munch</a:t>
              </a:r>
            </a:p>
          </p:txBody>
        </p:sp>
      </p:grpSp>
      <p:sp>
        <p:nvSpPr>
          <p:cNvPr name="TextBox 8" id="8"/>
          <p:cNvSpPr txBox="true"/>
          <p:nvPr/>
        </p:nvSpPr>
        <p:spPr>
          <a:xfrm rot="0">
            <a:off x="960120" y="1773555"/>
            <a:ext cx="15361920" cy="558165"/>
          </a:xfrm>
          <a:prstGeom prst="rect">
            <a:avLst/>
          </a:prstGeom>
        </p:spPr>
        <p:txBody>
          <a:bodyPr anchor="t" rtlCol="false" tIns="0" lIns="0" bIns="0" rIns="0">
            <a:spAutoFit/>
          </a:bodyPr>
          <a:lstStyle/>
          <a:p>
            <a:pPr algn="l">
              <a:lnSpc>
                <a:spcPts val="2879"/>
              </a:lnSpc>
            </a:pPr>
            <a:r>
              <a:rPr lang="en-US" sz="2400">
                <a:solidFill>
                  <a:srgbClr val="000000"/>
                </a:solidFill>
                <a:latin typeface="Times New Roman"/>
                <a:ea typeface="Times New Roman"/>
                <a:cs typeface="Times New Roman"/>
                <a:sym typeface="Times New Roman"/>
              </a:rPr>
              <a:t>The lexer always takes the longest valid lexeme, then decides what it means.</a:t>
            </a:r>
          </a:p>
        </p:txBody>
      </p:sp>
      <p:grpSp>
        <p:nvGrpSpPr>
          <p:cNvPr name="Group 9" id="9"/>
          <p:cNvGrpSpPr/>
          <p:nvPr/>
        </p:nvGrpSpPr>
        <p:grpSpPr>
          <a:xfrm rot="0">
            <a:off x="941070" y="2655570"/>
            <a:ext cx="929640" cy="929640"/>
            <a:chOff x="0" y="0"/>
            <a:chExt cx="1239520" cy="1239520"/>
          </a:xfrm>
        </p:grpSpPr>
        <p:sp>
          <p:nvSpPr>
            <p:cNvPr name="Freeform 10" id="10"/>
            <p:cNvSpPr/>
            <p:nvPr/>
          </p:nvSpPr>
          <p:spPr>
            <a:xfrm flipH="false" flipV="false" rot="0">
              <a:off x="0" y="0"/>
              <a:ext cx="1239520" cy="1239520"/>
            </a:xfrm>
            <a:custGeom>
              <a:avLst/>
              <a:gdLst/>
              <a:ahLst/>
              <a:cxnLst/>
              <a:rect r="r" b="b" t="t" l="l"/>
              <a:pathLst>
                <a:path h="1239520" w="1239520">
                  <a:moveTo>
                    <a:pt x="0" y="619760"/>
                  </a:moveTo>
                  <a:cubicBezTo>
                    <a:pt x="0" y="277495"/>
                    <a:pt x="277495" y="0"/>
                    <a:pt x="619760" y="0"/>
                  </a:cubicBezTo>
                  <a:cubicBezTo>
                    <a:pt x="962025" y="0"/>
                    <a:pt x="1239520" y="277495"/>
                    <a:pt x="1239520" y="619760"/>
                  </a:cubicBezTo>
                  <a:cubicBezTo>
                    <a:pt x="1239520" y="962025"/>
                    <a:pt x="962025" y="1239520"/>
                    <a:pt x="619760" y="1239520"/>
                  </a:cubicBezTo>
                  <a:cubicBezTo>
                    <a:pt x="277495" y="1239520"/>
                    <a:pt x="0" y="962025"/>
                    <a:pt x="0" y="619760"/>
                  </a:cubicBezTo>
                  <a:close/>
                </a:path>
              </a:pathLst>
            </a:custGeom>
            <a:solidFill>
              <a:srgbClr val="FFFFFF"/>
            </a:solidFill>
            <a:ln w="38100" cap="sq">
              <a:solidFill>
                <a:srgbClr val="000000"/>
              </a:solidFill>
              <a:prstDash val="solid"/>
              <a:miter/>
            </a:ln>
          </p:spPr>
        </p:sp>
      </p:grpSp>
      <p:grpSp>
        <p:nvGrpSpPr>
          <p:cNvPr name="Group 11" id="11"/>
          <p:cNvGrpSpPr/>
          <p:nvPr/>
        </p:nvGrpSpPr>
        <p:grpSpPr>
          <a:xfrm rot="0">
            <a:off x="960120" y="2674620"/>
            <a:ext cx="891540" cy="891540"/>
            <a:chOff x="0" y="0"/>
            <a:chExt cx="1188720" cy="1188720"/>
          </a:xfrm>
        </p:grpSpPr>
        <p:sp>
          <p:nvSpPr>
            <p:cNvPr name="Freeform 12" id="12"/>
            <p:cNvSpPr/>
            <p:nvPr/>
          </p:nvSpPr>
          <p:spPr>
            <a:xfrm flipH="false" flipV="false" rot="0">
              <a:off x="0" y="0"/>
              <a:ext cx="1188720" cy="1188720"/>
            </a:xfrm>
            <a:custGeom>
              <a:avLst/>
              <a:gdLst/>
              <a:ahLst/>
              <a:cxnLst/>
              <a:rect r="r" b="b" t="t" l="l"/>
              <a:pathLst>
                <a:path h="1188720" w="1188720">
                  <a:moveTo>
                    <a:pt x="0" y="0"/>
                  </a:moveTo>
                  <a:lnTo>
                    <a:pt x="1188720" y="0"/>
                  </a:lnTo>
                  <a:lnTo>
                    <a:pt x="1188720" y="1188720"/>
                  </a:lnTo>
                  <a:lnTo>
                    <a:pt x="0" y="1188720"/>
                  </a:lnTo>
                  <a:close/>
                </a:path>
              </a:pathLst>
            </a:custGeom>
            <a:blipFill>
              <a:blip r:embed="rId3">
                <a:alphaModFix amt="0"/>
              </a:blip>
              <a:stretch>
                <a:fillRect l="-78303" t="0" r="-78303" b="0"/>
              </a:stretch>
            </a:blipFill>
          </p:spPr>
        </p:sp>
        <p:sp>
          <p:nvSpPr>
            <p:cNvPr name="TextBox 13" id="13"/>
            <p:cNvSpPr txBox="true"/>
            <p:nvPr/>
          </p:nvSpPr>
          <p:spPr>
            <a:xfrm>
              <a:off x="0" y="-28575"/>
              <a:ext cx="1188720" cy="1217295"/>
            </a:xfrm>
            <a:prstGeom prst="rect">
              <a:avLst/>
            </a:prstGeom>
          </p:spPr>
          <p:txBody>
            <a:bodyPr anchor="ctr" rtlCol="false" tIns="0" lIns="0" bIns="0" rIns="0"/>
            <a:lstStyle/>
            <a:p>
              <a:pPr algn="ctr">
                <a:lnSpc>
                  <a:spcPts val="3600"/>
                </a:lnSpc>
              </a:pPr>
              <a:r>
                <a:rPr lang="en-US" sz="3000" b="true">
                  <a:solidFill>
                    <a:srgbClr val="000000"/>
                  </a:solidFill>
                  <a:latin typeface="Times New Roman Bold"/>
                  <a:ea typeface="Times New Roman Bold"/>
                  <a:cs typeface="Times New Roman Bold"/>
                  <a:sym typeface="Times New Roman Bold"/>
                </a:rPr>
                <a:t>1</a:t>
              </a:r>
            </a:p>
          </p:txBody>
        </p:sp>
      </p:grpSp>
      <p:sp>
        <p:nvSpPr>
          <p:cNvPr name="AutoShape 14" id="14"/>
          <p:cNvSpPr/>
          <p:nvPr/>
        </p:nvSpPr>
        <p:spPr>
          <a:xfrm rot="50220">
            <a:off x="2035816" y="3110865"/>
            <a:ext cx="2933824" cy="0"/>
          </a:xfrm>
          <a:prstGeom prst="line">
            <a:avLst/>
          </a:prstGeom>
          <a:ln cap="rnd" w="19050">
            <a:solidFill>
              <a:srgbClr val="000000"/>
            </a:solidFill>
            <a:prstDash val="solid"/>
            <a:headEnd type="none" len="sm" w="sm"/>
            <a:tailEnd type="triangle" len="med" w="lg"/>
          </a:ln>
        </p:spPr>
      </p:sp>
      <p:sp>
        <p:nvSpPr>
          <p:cNvPr name="TextBox 15" id="15"/>
          <p:cNvSpPr txBox="true"/>
          <p:nvPr/>
        </p:nvSpPr>
        <p:spPr>
          <a:xfrm rot="0">
            <a:off x="960120" y="3752850"/>
            <a:ext cx="3782187" cy="567690"/>
          </a:xfrm>
          <a:prstGeom prst="rect">
            <a:avLst/>
          </a:prstGeom>
        </p:spPr>
        <p:txBody>
          <a:bodyPr anchor="t" rtlCol="false" tIns="0" lIns="0" bIns="0" rIns="0">
            <a:spAutoFit/>
          </a:bodyPr>
          <a:lstStyle/>
          <a:p>
            <a:pPr algn="l">
              <a:lnSpc>
                <a:spcPts val="3240"/>
              </a:lnSpc>
            </a:pPr>
            <a:r>
              <a:rPr lang="en-US" sz="2700" b="true">
                <a:solidFill>
                  <a:srgbClr val="000000"/>
                </a:solidFill>
                <a:latin typeface="Times New Roman Bold"/>
                <a:ea typeface="Times New Roman Bold"/>
                <a:cs typeface="Times New Roman Bold"/>
                <a:sym typeface="Times New Roman Bold"/>
              </a:rPr>
              <a:t>Classify</a:t>
            </a:r>
          </a:p>
        </p:txBody>
      </p:sp>
      <p:sp>
        <p:nvSpPr>
          <p:cNvPr name="TextBox 16" id="16"/>
          <p:cNvSpPr txBox="true"/>
          <p:nvPr/>
        </p:nvSpPr>
        <p:spPr>
          <a:xfrm rot="0">
            <a:off x="960120" y="4370070"/>
            <a:ext cx="3645027" cy="1253490"/>
          </a:xfrm>
          <a:prstGeom prst="rect">
            <a:avLst/>
          </a:prstGeom>
        </p:spPr>
        <p:txBody>
          <a:bodyPr anchor="t" rtlCol="false" tIns="0" lIns="0" bIns="0" rIns="0">
            <a:spAutoFit/>
          </a:bodyPr>
          <a:lstStyle/>
          <a:p>
            <a:pPr algn="l">
              <a:lnSpc>
                <a:spcPts val="2520"/>
              </a:lnSpc>
            </a:pPr>
            <a:r>
              <a:rPr lang="en-US" sz="2100">
                <a:solidFill>
                  <a:srgbClr val="000000"/>
                </a:solidFill>
                <a:latin typeface="Times New Roman"/>
                <a:ea typeface="Times New Roman"/>
                <a:cs typeface="Times New Roman"/>
                <a:sym typeface="Times New Roman"/>
              </a:rPr>
              <a:t>Read the next character and map it to a class.</a:t>
            </a:r>
          </a:p>
        </p:txBody>
      </p:sp>
      <p:grpSp>
        <p:nvGrpSpPr>
          <p:cNvPr name="Group 17" id="17"/>
          <p:cNvGrpSpPr/>
          <p:nvPr/>
        </p:nvGrpSpPr>
        <p:grpSpPr>
          <a:xfrm rot="0">
            <a:off x="5134737" y="2655570"/>
            <a:ext cx="929640" cy="929640"/>
            <a:chOff x="0" y="0"/>
            <a:chExt cx="1239520" cy="1239520"/>
          </a:xfrm>
        </p:grpSpPr>
        <p:sp>
          <p:nvSpPr>
            <p:cNvPr name="Freeform 18" id="18"/>
            <p:cNvSpPr/>
            <p:nvPr/>
          </p:nvSpPr>
          <p:spPr>
            <a:xfrm flipH="false" flipV="false" rot="0">
              <a:off x="0" y="0"/>
              <a:ext cx="1239520" cy="1239520"/>
            </a:xfrm>
            <a:custGeom>
              <a:avLst/>
              <a:gdLst/>
              <a:ahLst/>
              <a:cxnLst/>
              <a:rect r="r" b="b" t="t" l="l"/>
              <a:pathLst>
                <a:path h="1239520" w="1239520">
                  <a:moveTo>
                    <a:pt x="0" y="619760"/>
                  </a:moveTo>
                  <a:cubicBezTo>
                    <a:pt x="0" y="277495"/>
                    <a:pt x="277495" y="0"/>
                    <a:pt x="619760" y="0"/>
                  </a:cubicBezTo>
                  <a:cubicBezTo>
                    <a:pt x="962025" y="0"/>
                    <a:pt x="1239520" y="277495"/>
                    <a:pt x="1239520" y="619760"/>
                  </a:cubicBezTo>
                  <a:cubicBezTo>
                    <a:pt x="1239520" y="962025"/>
                    <a:pt x="962025" y="1239520"/>
                    <a:pt x="619760" y="1239520"/>
                  </a:cubicBezTo>
                  <a:cubicBezTo>
                    <a:pt x="277495" y="1239520"/>
                    <a:pt x="0" y="962025"/>
                    <a:pt x="0" y="619760"/>
                  </a:cubicBezTo>
                  <a:close/>
                </a:path>
              </a:pathLst>
            </a:custGeom>
            <a:solidFill>
              <a:srgbClr val="FFFFFF"/>
            </a:solidFill>
            <a:ln w="38100" cap="sq">
              <a:solidFill>
                <a:srgbClr val="000000"/>
              </a:solidFill>
              <a:prstDash val="solid"/>
              <a:miter/>
            </a:ln>
          </p:spPr>
        </p:sp>
      </p:grpSp>
      <p:grpSp>
        <p:nvGrpSpPr>
          <p:cNvPr name="Group 19" id="19"/>
          <p:cNvGrpSpPr/>
          <p:nvPr/>
        </p:nvGrpSpPr>
        <p:grpSpPr>
          <a:xfrm rot="0">
            <a:off x="5153787" y="2674620"/>
            <a:ext cx="891540" cy="891540"/>
            <a:chOff x="0" y="0"/>
            <a:chExt cx="1188720" cy="1188720"/>
          </a:xfrm>
        </p:grpSpPr>
        <p:sp>
          <p:nvSpPr>
            <p:cNvPr name="Freeform 20" id="20"/>
            <p:cNvSpPr/>
            <p:nvPr/>
          </p:nvSpPr>
          <p:spPr>
            <a:xfrm flipH="false" flipV="false" rot="0">
              <a:off x="0" y="0"/>
              <a:ext cx="1188720" cy="1188720"/>
            </a:xfrm>
            <a:custGeom>
              <a:avLst/>
              <a:gdLst/>
              <a:ahLst/>
              <a:cxnLst/>
              <a:rect r="r" b="b" t="t" l="l"/>
              <a:pathLst>
                <a:path h="1188720" w="1188720">
                  <a:moveTo>
                    <a:pt x="0" y="0"/>
                  </a:moveTo>
                  <a:lnTo>
                    <a:pt x="1188720" y="0"/>
                  </a:lnTo>
                  <a:lnTo>
                    <a:pt x="1188720" y="1188720"/>
                  </a:lnTo>
                  <a:lnTo>
                    <a:pt x="0" y="1188720"/>
                  </a:lnTo>
                  <a:close/>
                </a:path>
              </a:pathLst>
            </a:custGeom>
            <a:blipFill>
              <a:blip r:embed="rId3">
                <a:alphaModFix amt="0"/>
              </a:blip>
              <a:stretch>
                <a:fillRect l="-78303" t="0" r="-78303" b="0"/>
              </a:stretch>
            </a:blipFill>
          </p:spPr>
        </p:sp>
        <p:sp>
          <p:nvSpPr>
            <p:cNvPr name="TextBox 21" id="21"/>
            <p:cNvSpPr txBox="true"/>
            <p:nvPr/>
          </p:nvSpPr>
          <p:spPr>
            <a:xfrm>
              <a:off x="0" y="-28575"/>
              <a:ext cx="1188720" cy="1217295"/>
            </a:xfrm>
            <a:prstGeom prst="rect">
              <a:avLst/>
            </a:prstGeom>
          </p:spPr>
          <p:txBody>
            <a:bodyPr anchor="ctr" rtlCol="false" tIns="0" lIns="0" bIns="0" rIns="0"/>
            <a:lstStyle/>
            <a:p>
              <a:pPr algn="ctr">
                <a:lnSpc>
                  <a:spcPts val="3600"/>
                </a:lnSpc>
              </a:pPr>
              <a:r>
                <a:rPr lang="en-US" sz="3000" b="true">
                  <a:solidFill>
                    <a:srgbClr val="000000"/>
                  </a:solidFill>
                  <a:latin typeface="Times New Roman Bold"/>
                  <a:ea typeface="Times New Roman Bold"/>
                  <a:cs typeface="Times New Roman Bold"/>
                  <a:sym typeface="Times New Roman Bold"/>
                </a:rPr>
                <a:t>2</a:t>
              </a:r>
            </a:p>
          </p:txBody>
        </p:sp>
      </p:grpSp>
      <p:sp>
        <p:nvSpPr>
          <p:cNvPr name="AutoShape 22" id="22"/>
          <p:cNvSpPr/>
          <p:nvPr/>
        </p:nvSpPr>
        <p:spPr>
          <a:xfrm rot="50220">
            <a:off x="6229483" y="3110865"/>
            <a:ext cx="2933824" cy="0"/>
          </a:xfrm>
          <a:prstGeom prst="line">
            <a:avLst/>
          </a:prstGeom>
          <a:ln cap="rnd" w="19050">
            <a:solidFill>
              <a:srgbClr val="000000"/>
            </a:solidFill>
            <a:prstDash val="solid"/>
            <a:headEnd type="none" len="sm" w="sm"/>
            <a:tailEnd type="triangle" len="med" w="lg"/>
          </a:ln>
        </p:spPr>
      </p:sp>
      <p:sp>
        <p:nvSpPr>
          <p:cNvPr name="TextBox 23" id="23"/>
          <p:cNvSpPr txBox="true"/>
          <p:nvPr/>
        </p:nvSpPr>
        <p:spPr>
          <a:xfrm rot="0">
            <a:off x="5153787" y="3752850"/>
            <a:ext cx="3782187" cy="567690"/>
          </a:xfrm>
          <a:prstGeom prst="rect">
            <a:avLst/>
          </a:prstGeom>
        </p:spPr>
        <p:txBody>
          <a:bodyPr anchor="t" rtlCol="false" tIns="0" lIns="0" bIns="0" rIns="0">
            <a:spAutoFit/>
          </a:bodyPr>
          <a:lstStyle/>
          <a:p>
            <a:pPr algn="l">
              <a:lnSpc>
                <a:spcPts val="3240"/>
              </a:lnSpc>
            </a:pPr>
            <a:r>
              <a:rPr lang="en-US" sz="2700" b="true">
                <a:solidFill>
                  <a:srgbClr val="000000"/>
                </a:solidFill>
                <a:latin typeface="Times New Roman Bold"/>
                <a:ea typeface="Times New Roman Bold"/>
                <a:cs typeface="Times New Roman Bold"/>
                <a:sym typeface="Times New Roman Bold"/>
              </a:rPr>
              <a:t>Transition</a:t>
            </a:r>
          </a:p>
        </p:txBody>
      </p:sp>
      <p:sp>
        <p:nvSpPr>
          <p:cNvPr name="TextBox 24" id="24"/>
          <p:cNvSpPr txBox="true"/>
          <p:nvPr/>
        </p:nvSpPr>
        <p:spPr>
          <a:xfrm rot="0">
            <a:off x="5153787" y="4370070"/>
            <a:ext cx="3645027" cy="1253490"/>
          </a:xfrm>
          <a:prstGeom prst="rect">
            <a:avLst/>
          </a:prstGeom>
        </p:spPr>
        <p:txBody>
          <a:bodyPr anchor="t" rtlCol="false" tIns="0" lIns="0" bIns="0" rIns="0">
            <a:spAutoFit/>
          </a:bodyPr>
          <a:lstStyle/>
          <a:p>
            <a:pPr algn="l">
              <a:lnSpc>
                <a:spcPts val="2520"/>
              </a:lnSpc>
            </a:pPr>
            <a:r>
              <a:rPr lang="en-US" sz="2100">
                <a:solidFill>
                  <a:srgbClr val="000000"/>
                </a:solidFill>
                <a:latin typeface="Times New Roman"/>
                <a:ea typeface="Times New Roman"/>
                <a:cs typeface="Times New Roman"/>
                <a:sym typeface="Times New Roman"/>
              </a:rPr>
              <a:t>Follow δ(state, class) to the next state.</a:t>
            </a:r>
          </a:p>
        </p:txBody>
      </p:sp>
      <p:grpSp>
        <p:nvGrpSpPr>
          <p:cNvPr name="Group 25" id="25"/>
          <p:cNvGrpSpPr/>
          <p:nvPr/>
        </p:nvGrpSpPr>
        <p:grpSpPr>
          <a:xfrm rot="0">
            <a:off x="9328404" y="2655570"/>
            <a:ext cx="929640" cy="929640"/>
            <a:chOff x="0" y="0"/>
            <a:chExt cx="1239520" cy="1239520"/>
          </a:xfrm>
        </p:grpSpPr>
        <p:sp>
          <p:nvSpPr>
            <p:cNvPr name="Freeform 26" id="26"/>
            <p:cNvSpPr/>
            <p:nvPr/>
          </p:nvSpPr>
          <p:spPr>
            <a:xfrm flipH="false" flipV="false" rot="0">
              <a:off x="0" y="0"/>
              <a:ext cx="1239520" cy="1239520"/>
            </a:xfrm>
            <a:custGeom>
              <a:avLst/>
              <a:gdLst/>
              <a:ahLst/>
              <a:cxnLst/>
              <a:rect r="r" b="b" t="t" l="l"/>
              <a:pathLst>
                <a:path h="1239520" w="1239520">
                  <a:moveTo>
                    <a:pt x="0" y="619760"/>
                  </a:moveTo>
                  <a:cubicBezTo>
                    <a:pt x="0" y="277495"/>
                    <a:pt x="277495" y="0"/>
                    <a:pt x="619760" y="0"/>
                  </a:cubicBezTo>
                  <a:cubicBezTo>
                    <a:pt x="962025" y="0"/>
                    <a:pt x="1239520" y="277495"/>
                    <a:pt x="1239520" y="619760"/>
                  </a:cubicBezTo>
                  <a:cubicBezTo>
                    <a:pt x="1239520" y="962025"/>
                    <a:pt x="962025" y="1239520"/>
                    <a:pt x="619760" y="1239520"/>
                  </a:cubicBezTo>
                  <a:cubicBezTo>
                    <a:pt x="277495" y="1239520"/>
                    <a:pt x="0" y="962025"/>
                    <a:pt x="0" y="619760"/>
                  </a:cubicBezTo>
                  <a:close/>
                </a:path>
              </a:pathLst>
            </a:custGeom>
            <a:solidFill>
              <a:srgbClr val="FFFFFF"/>
            </a:solidFill>
            <a:ln w="38100" cap="sq">
              <a:solidFill>
                <a:srgbClr val="000000"/>
              </a:solidFill>
              <a:prstDash val="solid"/>
              <a:miter/>
            </a:ln>
          </p:spPr>
        </p:sp>
      </p:grpSp>
      <p:grpSp>
        <p:nvGrpSpPr>
          <p:cNvPr name="Group 27" id="27"/>
          <p:cNvGrpSpPr/>
          <p:nvPr/>
        </p:nvGrpSpPr>
        <p:grpSpPr>
          <a:xfrm rot="0">
            <a:off x="9347454" y="2674620"/>
            <a:ext cx="891540" cy="891540"/>
            <a:chOff x="0" y="0"/>
            <a:chExt cx="1188720" cy="1188720"/>
          </a:xfrm>
        </p:grpSpPr>
        <p:sp>
          <p:nvSpPr>
            <p:cNvPr name="Freeform 28" id="28"/>
            <p:cNvSpPr/>
            <p:nvPr/>
          </p:nvSpPr>
          <p:spPr>
            <a:xfrm flipH="false" flipV="false" rot="0">
              <a:off x="0" y="0"/>
              <a:ext cx="1188720" cy="1188720"/>
            </a:xfrm>
            <a:custGeom>
              <a:avLst/>
              <a:gdLst/>
              <a:ahLst/>
              <a:cxnLst/>
              <a:rect r="r" b="b" t="t" l="l"/>
              <a:pathLst>
                <a:path h="1188720" w="1188720">
                  <a:moveTo>
                    <a:pt x="0" y="0"/>
                  </a:moveTo>
                  <a:lnTo>
                    <a:pt x="1188720" y="0"/>
                  </a:lnTo>
                  <a:lnTo>
                    <a:pt x="1188720" y="1188720"/>
                  </a:lnTo>
                  <a:lnTo>
                    <a:pt x="0" y="1188720"/>
                  </a:lnTo>
                  <a:close/>
                </a:path>
              </a:pathLst>
            </a:custGeom>
            <a:blipFill>
              <a:blip r:embed="rId3">
                <a:alphaModFix amt="0"/>
              </a:blip>
              <a:stretch>
                <a:fillRect l="-78303" t="0" r="-78303" b="0"/>
              </a:stretch>
            </a:blipFill>
          </p:spPr>
        </p:sp>
        <p:sp>
          <p:nvSpPr>
            <p:cNvPr name="TextBox 29" id="29"/>
            <p:cNvSpPr txBox="true"/>
            <p:nvPr/>
          </p:nvSpPr>
          <p:spPr>
            <a:xfrm>
              <a:off x="0" y="-28575"/>
              <a:ext cx="1188720" cy="1217295"/>
            </a:xfrm>
            <a:prstGeom prst="rect">
              <a:avLst/>
            </a:prstGeom>
          </p:spPr>
          <p:txBody>
            <a:bodyPr anchor="ctr" rtlCol="false" tIns="0" lIns="0" bIns="0" rIns="0"/>
            <a:lstStyle/>
            <a:p>
              <a:pPr algn="ctr">
                <a:lnSpc>
                  <a:spcPts val="3600"/>
                </a:lnSpc>
              </a:pPr>
              <a:r>
                <a:rPr lang="en-US" sz="3000" b="true">
                  <a:solidFill>
                    <a:srgbClr val="000000"/>
                  </a:solidFill>
                  <a:latin typeface="Times New Roman Bold"/>
                  <a:ea typeface="Times New Roman Bold"/>
                  <a:cs typeface="Times New Roman Bold"/>
                  <a:sym typeface="Times New Roman Bold"/>
                </a:rPr>
                <a:t>3</a:t>
              </a:r>
            </a:p>
          </p:txBody>
        </p:sp>
      </p:grpSp>
      <p:sp>
        <p:nvSpPr>
          <p:cNvPr name="AutoShape 30" id="30"/>
          <p:cNvSpPr/>
          <p:nvPr/>
        </p:nvSpPr>
        <p:spPr>
          <a:xfrm rot="50220">
            <a:off x="10423150" y="3110865"/>
            <a:ext cx="2933824" cy="0"/>
          </a:xfrm>
          <a:prstGeom prst="line">
            <a:avLst/>
          </a:prstGeom>
          <a:ln cap="rnd" w="19050">
            <a:solidFill>
              <a:srgbClr val="000000"/>
            </a:solidFill>
            <a:prstDash val="solid"/>
            <a:headEnd type="none" len="sm" w="sm"/>
            <a:tailEnd type="triangle" len="med" w="lg"/>
          </a:ln>
        </p:spPr>
      </p:sp>
      <p:sp>
        <p:nvSpPr>
          <p:cNvPr name="TextBox 31" id="31"/>
          <p:cNvSpPr txBox="true"/>
          <p:nvPr/>
        </p:nvSpPr>
        <p:spPr>
          <a:xfrm rot="0">
            <a:off x="9347454" y="3752850"/>
            <a:ext cx="3782187" cy="567690"/>
          </a:xfrm>
          <a:prstGeom prst="rect">
            <a:avLst/>
          </a:prstGeom>
        </p:spPr>
        <p:txBody>
          <a:bodyPr anchor="t" rtlCol="false" tIns="0" lIns="0" bIns="0" rIns="0">
            <a:spAutoFit/>
          </a:bodyPr>
          <a:lstStyle/>
          <a:p>
            <a:pPr algn="l">
              <a:lnSpc>
                <a:spcPts val="3240"/>
              </a:lnSpc>
            </a:pPr>
            <a:r>
              <a:rPr lang="en-US" sz="2700" b="true">
                <a:solidFill>
                  <a:srgbClr val="000000"/>
                </a:solidFill>
                <a:latin typeface="Times New Roman Bold"/>
                <a:ea typeface="Times New Roman Bold"/>
                <a:cs typeface="Times New Roman Bold"/>
                <a:sym typeface="Times New Roman Bold"/>
              </a:rPr>
              <a:t>Remember</a:t>
            </a:r>
          </a:p>
        </p:txBody>
      </p:sp>
      <p:sp>
        <p:nvSpPr>
          <p:cNvPr name="TextBox 32" id="32"/>
          <p:cNvSpPr txBox="true"/>
          <p:nvPr/>
        </p:nvSpPr>
        <p:spPr>
          <a:xfrm rot="0">
            <a:off x="9347454" y="4370070"/>
            <a:ext cx="3645027" cy="1253490"/>
          </a:xfrm>
          <a:prstGeom prst="rect">
            <a:avLst/>
          </a:prstGeom>
        </p:spPr>
        <p:txBody>
          <a:bodyPr anchor="t" rtlCol="false" tIns="0" lIns="0" bIns="0" rIns="0">
            <a:spAutoFit/>
          </a:bodyPr>
          <a:lstStyle/>
          <a:p>
            <a:pPr algn="l">
              <a:lnSpc>
                <a:spcPts val="2520"/>
              </a:lnSpc>
            </a:pPr>
            <a:r>
              <a:rPr lang="en-US" sz="2100">
                <a:solidFill>
                  <a:srgbClr val="000000"/>
                </a:solidFill>
                <a:latin typeface="Times New Roman"/>
                <a:ea typeface="Times New Roman"/>
                <a:cs typeface="Times New Roman"/>
                <a:sym typeface="Times New Roman"/>
              </a:rPr>
              <a:t>Whenever the state is accepting, record the position.</a:t>
            </a:r>
          </a:p>
        </p:txBody>
      </p:sp>
      <p:grpSp>
        <p:nvGrpSpPr>
          <p:cNvPr name="Group 33" id="33"/>
          <p:cNvGrpSpPr/>
          <p:nvPr/>
        </p:nvGrpSpPr>
        <p:grpSpPr>
          <a:xfrm rot="0">
            <a:off x="13522071" y="2655570"/>
            <a:ext cx="929640" cy="929640"/>
            <a:chOff x="0" y="0"/>
            <a:chExt cx="1239520" cy="1239520"/>
          </a:xfrm>
        </p:grpSpPr>
        <p:sp>
          <p:nvSpPr>
            <p:cNvPr name="Freeform 34" id="34"/>
            <p:cNvSpPr/>
            <p:nvPr/>
          </p:nvSpPr>
          <p:spPr>
            <a:xfrm flipH="false" flipV="false" rot="0">
              <a:off x="0" y="0"/>
              <a:ext cx="1239520" cy="1239520"/>
            </a:xfrm>
            <a:custGeom>
              <a:avLst/>
              <a:gdLst/>
              <a:ahLst/>
              <a:cxnLst/>
              <a:rect r="r" b="b" t="t" l="l"/>
              <a:pathLst>
                <a:path h="1239520" w="1239520">
                  <a:moveTo>
                    <a:pt x="0" y="619760"/>
                  </a:moveTo>
                  <a:cubicBezTo>
                    <a:pt x="0" y="277495"/>
                    <a:pt x="277495" y="0"/>
                    <a:pt x="619760" y="0"/>
                  </a:cubicBezTo>
                  <a:cubicBezTo>
                    <a:pt x="962025" y="0"/>
                    <a:pt x="1239520" y="277495"/>
                    <a:pt x="1239520" y="619760"/>
                  </a:cubicBezTo>
                  <a:cubicBezTo>
                    <a:pt x="1239520" y="962025"/>
                    <a:pt x="962025" y="1239520"/>
                    <a:pt x="619760" y="1239520"/>
                  </a:cubicBezTo>
                  <a:cubicBezTo>
                    <a:pt x="277495" y="1239520"/>
                    <a:pt x="0" y="962025"/>
                    <a:pt x="0" y="619760"/>
                  </a:cubicBezTo>
                  <a:close/>
                </a:path>
              </a:pathLst>
            </a:custGeom>
            <a:solidFill>
              <a:srgbClr val="FFFFFF"/>
            </a:solidFill>
            <a:ln w="38100" cap="sq">
              <a:solidFill>
                <a:srgbClr val="000000"/>
              </a:solidFill>
              <a:prstDash val="solid"/>
              <a:miter/>
            </a:ln>
          </p:spPr>
        </p:sp>
      </p:grpSp>
      <p:grpSp>
        <p:nvGrpSpPr>
          <p:cNvPr name="Group 35" id="35"/>
          <p:cNvGrpSpPr/>
          <p:nvPr/>
        </p:nvGrpSpPr>
        <p:grpSpPr>
          <a:xfrm rot="0">
            <a:off x="13541121" y="2674620"/>
            <a:ext cx="891540" cy="891540"/>
            <a:chOff x="0" y="0"/>
            <a:chExt cx="1188720" cy="1188720"/>
          </a:xfrm>
        </p:grpSpPr>
        <p:sp>
          <p:nvSpPr>
            <p:cNvPr name="Freeform 36" id="36"/>
            <p:cNvSpPr/>
            <p:nvPr/>
          </p:nvSpPr>
          <p:spPr>
            <a:xfrm flipH="false" flipV="false" rot="0">
              <a:off x="0" y="0"/>
              <a:ext cx="1188720" cy="1188720"/>
            </a:xfrm>
            <a:custGeom>
              <a:avLst/>
              <a:gdLst/>
              <a:ahLst/>
              <a:cxnLst/>
              <a:rect r="r" b="b" t="t" l="l"/>
              <a:pathLst>
                <a:path h="1188720" w="1188720">
                  <a:moveTo>
                    <a:pt x="0" y="0"/>
                  </a:moveTo>
                  <a:lnTo>
                    <a:pt x="1188720" y="0"/>
                  </a:lnTo>
                  <a:lnTo>
                    <a:pt x="1188720" y="1188720"/>
                  </a:lnTo>
                  <a:lnTo>
                    <a:pt x="0" y="1188720"/>
                  </a:lnTo>
                  <a:close/>
                </a:path>
              </a:pathLst>
            </a:custGeom>
            <a:blipFill>
              <a:blip r:embed="rId3">
                <a:alphaModFix amt="0"/>
              </a:blip>
              <a:stretch>
                <a:fillRect l="-78303" t="0" r="-78303" b="0"/>
              </a:stretch>
            </a:blipFill>
          </p:spPr>
        </p:sp>
        <p:sp>
          <p:nvSpPr>
            <p:cNvPr name="TextBox 37" id="37"/>
            <p:cNvSpPr txBox="true"/>
            <p:nvPr/>
          </p:nvSpPr>
          <p:spPr>
            <a:xfrm>
              <a:off x="0" y="-28575"/>
              <a:ext cx="1188720" cy="1217295"/>
            </a:xfrm>
            <a:prstGeom prst="rect">
              <a:avLst/>
            </a:prstGeom>
          </p:spPr>
          <p:txBody>
            <a:bodyPr anchor="ctr" rtlCol="false" tIns="0" lIns="0" bIns="0" rIns="0"/>
            <a:lstStyle/>
            <a:p>
              <a:pPr algn="ctr">
                <a:lnSpc>
                  <a:spcPts val="3600"/>
                </a:lnSpc>
              </a:pPr>
              <a:r>
                <a:rPr lang="en-US" sz="3000" b="true">
                  <a:solidFill>
                    <a:srgbClr val="000000"/>
                  </a:solidFill>
                  <a:latin typeface="Times New Roman Bold"/>
                  <a:ea typeface="Times New Roman Bold"/>
                  <a:cs typeface="Times New Roman Bold"/>
                  <a:sym typeface="Times New Roman Bold"/>
                </a:rPr>
                <a:t>4</a:t>
              </a:r>
            </a:p>
          </p:txBody>
        </p:sp>
      </p:grpSp>
      <p:sp>
        <p:nvSpPr>
          <p:cNvPr name="TextBox 38" id="38"/>
          <p:cNvSpPr txBox="true"/>
          <p:nvPr/>
        </p:nvSpPr>
        <p:spPr>
          <a:xfrm rot="0">
            <a:off x="13541121" y="3752850"/>
            <a:ext cx="3782187" cy="567690"/>
          </a:xfrm>
          <a:prstGeom prst="rect">
            <a:avLst/>
          </a:prstGeom>
        </p:spPr>
        <p:txBody>
          <a:bodyPr anchor="t" rtlCol="false" tIns="0" lIns="0" bIns="0" rIns="0">
            <a:spAutoFit/>
          </a:bodyPr>
          <a:lstStyle/>
          <a:p>
            <a:pPr algn="l">
              <a:lnSpc>
                <a:spcPts val="3240"/>
              </a:lnSpc>
            </a:pPr>
            <a:r>
              <a:rPr lang="en-US" sz="2700" b="true">
                <a:solidFill>
                  <a:srgbClr val="000000"/>
                </a:solidFill>
                <a:latin typeface="Times New Roman Bold"/>
                <a:ea typeface="Times New Roman Bold"/>
                <a:cs typeface="Times New Roman Bold"/>
                <a:sym typeface="Times New Roman Bold"/>
              </a:rPr>
              <a:t>Back up</a:t>
            </a:r>
          </a:p>
        </p:txBody>
      </p:sp>
      <p:sp>
        <p:nvSpPr>
          <p:cNvPr name="TextBox 39" id="39"/>
          <p:cNvSpPr txBox="true"/>
          <p:nvPr/>
        </p:nvSpPr>
        <p:spPr>
          <a:xfrm rot="0">
            <a:off x="13541121" y="4370070"/>
            <a:ext cx="3645027" cy="1253490"/>
          </a:xfrm>
          <a:prstGeom prst="rect">
            <a:avLst/>
          </a:prstGeom>
        </p:spPr>
        <p:txBody>
          <a:bodyPr anchor="t" rtlCol="false" tIns="0" lIns="0" bIns="0" rIns="0">
            <a:spAutoFit/>
          </a:bodyPr>
          <a:lstStyle/>
          <a:p>
            <a:pPr algn="l">
              <a:lnSpc>
                <a:spcPts val="2520"/>
              </a:lnSpc>
            </a:pPr>
            <a:r>
              <a:rPr lang="en-US" sz="2100">
                <a:solidFill>
                  <a:srgbClr val="000000"/>
                </a:solidFill>
                <a:latin typeface="Times New Roman"/>
                <a:ea typeface="Times New Roman"/>
                <a:cs typeface="Times New Roman"/>
                <a:sym typeface="Times New Roman"/>
              </a:rPr>
              <a:t>At a dead end, roll back to the last accepting position and emit the token.</a:t>
            </a:r>
          </a:p>
        </p:txBody>
      </p:sp>
      <p:grpSp>
        <p:nvGrpSpPr>
          <p:cNvPr name="Group 40" id="40"/>
          <p:cNvGrpSpPr/>
          <p:nvPr/>
        </p:nvGrpSpPr>
        <p:grpSpPr>
          <a:xfrm rot="0">
            <a:off x="950595" y="5956935"/>
            <a:ext cx="5199126" cy="3173730"/>
            <a:chOff x="0" y="0"/>
            <a:chExt cx="6932168" cy="4231640"/>
          </a:xfrm>
        </p:grpSpPr>
        <p:sp>
          <p:nvSpPr>
            <p:cNvPr name="Freeform 41" id="41"/>
            <p:cNvSpPr/>
            <p:nvPr/>
          </p:nvSpPr>
          <p:spPr>
            <a:xfrm flipH="false" flipV="false" rot="0">
              <a:off x="0" y="0"/>
              <a:ext cx="6932168" cy="4231640"/>
            </a:xfrm>
            <a:custGeom>
              <a:avLst/>
              <a:gdLst/>
              <a:ahLst/>
              <a:cxnLst/>
              <a:rect r="r" b="b" t="t" l="l"/>
              <a:pathLst>
                <a:path h="4231640" w="6932168">
                  <a:moveTo>
                    <a:pt x="0" y="220726"/>
                  </a:moveTo>
                  <a:cubicBezTo>
                    <a:pt x="0" y="98806"/>
                    <a:pt x="98806" y="0"/>
                    <a:pt x="220726" y="0"/>
                  </a:cubicBezTo>
                  <a:lnTo>
                    <a:pt x="6711442" y="0"/>
                  </a:lnTo>
                  <a:cubicBezTo>
                    <a:pt x="6833362" y="0"/>
                    <a:pt x="6932168" y="98806"/>
                    <a:pt x="6932168" y="220726"/>
                  </a:cubicBezTo>
                  <a:lnTo>
                    <a:pt x="6932168" y="4010914"/>
                  </a:lnTo>
                  <a:cubicBezTo>
                    <a:pt x="6932168" y="4132834"/>
                    <a:pt x="6833362" y="4231640"/>
                    <a:pt x="6711442" y="4231640"/>
                  </a:cubicBezTo>
                  <a:lnTo>
                    <a:pt x="220726" y="4231640"/>
                  </a:lnTo>
                  <a:cubicBezTo>
                    <a:pt x="98806" y="4231640"/>
                    <a:pt x="0" y="4132834"/>
                    <a:pt x="0" y="4010914"/>
                  </a:cubicBezTo>
                  <a:close/>
                </a:path>
              </a:pathLst>
            </a:custGeom>
            <a:solidFill>
              <a:srgbClr val="FFFFFF"/>
            </a:solidFill>
            <a:ln w="19050" cap="sq">
              <a:solidFill>
                <a:srgbClr val="000000"/>
              </a:solidFill>
              <a:prstDash val="solid"/>
              <a:miter/>
            </a:ln>
          </p:spPr>
        </p:sp>
      </p:grpSp>
      <p:grpSp>
        <p:nvGrpSpPr>
          <p:cNvPr name="Group 42" id="42"/>
          <p:cNvGrpSpPr/>
          <p:nvPr/>
        </p:nvGrpSpPr>
        <p:grpSpPr>
          <a:xfrm rot="0">
            <a:off x="1362075" y="6299835"/>
            <a:ext cx="430530" cy="430530"/>
            <a:chOff x="0" y="0"/>
            <a:chExt cx="574040" cy="574040"/>
          </a:xfrm>
        </p:grpSpPr>
        <p:sp>
          <p:nvSpPr>
            <p:cNvPr name="Freeform 43" id="43"/>
            <p:cNvSpPr/>
            <p:nvPr/>
          </p:nvSpPr>
          <p:spPr>
            <a:xfrm flipH="false" flipV="false" rot="0">
              <a:off x="0" y="0"/>
              <a:ext cx="574040" cy="574040"/>
            </a:xfrm>
            <a:custGeom>
              <a:avLst/>
              <a:gdLst/>
              <a:ahLst/>
              <a:cxnLst/>
              <a:rect r="r" b="b" t="t" l="l"/>
              <a:pathLst>
                <a:path h="574040" w="574040">
                  <a:moveTo>
                    <a:pt x="0" y="287020"/>
                  </a:moveTo>
                  <a:cubicBezTo>
                    <a:pt x="0" y="128524"/>
                    <a:pt x="128524" y="0"/>
                    <a:pt x="287020" y="0"/>
                  </a:cubicBezTo>
                  <a:cubicBezTo>
                    <a:pt x="445516" y="0"/>
                    <a:pt x="574040" y="128524"/>
                    <a:pt x="574040" y="287020"/>
                  </a:cubicBezTo>
                  <a:cubicBezTo>
                    <a:pt x="574040" y="445516"/>
                    <a:pt x="445516" y="574040"/>
                    <a:pt x="287020" y="574040"/>
                  </a:cubicBezTo>
                  <a:cubicBezTo>
                    <a:pt x="128524" y="574040"/>
                    <a:pt x="0" y="445516"/>
                    <a:pt x="0" y="287020"/>
                  </a:cubicBezTo>
                  <a:close/>
                </a:path>
              </a:pathLst>
            </a:custGeom>
            <a:solidFill>
              <a:srgbClr val="000000"/>
            </a:solidFill>
            <a:ln w="19050" cap="sq">
              <a:solidFill>
                <a:srgbClr val="000000"/>
              </a:solidFill>
              <a:prstDash val="solid"/>
              <a:miter/>
            </a:ln>
          </p:spPr>
        </p:sp>
      </p:grpSp>
      <p:grpSp>
        <p:nvGrpSpPr>
          <p:cNvPr name="Group 44" id="44"/>
          <p:cNvGrpSpPr/>
          <p:nvPr/>
        </p:nvGrpSpPr>
        <p:grpSpPr>
          <a:xfrm rot="0">
            <a:off x="1988820" y="6240780"/>
            <a:ext cx="3808476" cy="548640"/>
            <a:chOff x="0" y="0"/>
            <a:chExt cx="5077968" cy="731520"/>
          </a:xfrm>
        </p:grpSpPr>
        <p:sp>
          <p:nvSpPr>
            <p:cNvPr name="Freeform 45" id="45"/>
            <p:cNvSpPr/>
            <p:nvPr/>
          </p:nvSpPr>
          <p:spPr>
            <a:xfrm flipH="false" flipV="false" rot="0">
              <a:off x="0" y="0"/>
              <a:ext cx="5077968" cy="731520"/>
            </a:xfrm>
            <a:custGeom>
              <a:avLst/>
              <a:gdLst/>
              <a:ahLst/>
              <a:cxnLst/>
              <a:rect r="r" b="b" t="t" l="l"/>
              <a:pathLst>
                <a:path h="731520" w="5077968">
                  <a:moveTo>
                    <a:pt x="0" y="0"/>
                  </a:moveTo>
                  <a:lnTo>
                    <a:pt x="5077968" y="0"/>
                  </a:lnTo>
                  <a:lnTo>
                    <a:pt x="5077968" y="731520"/>
                  </a:lnTo>
                  <a:lnTo>
                    <a:pt x="0" y="731520"/>
                  </a:lnTo>
                  <a:close/>
                </a:path>
              </a:pathLst>
            </a:custGeom>
            <a:blipFill>
              <a:blip r:embed="rId3">
                <a:alphaModFix amt="0"/>
              </a:blip>
              <a:stretch>
                <a:fillRect l="0" t="-85258" r="0" b="-85258"/>
              </a:stretch>
            </a:blipFill>
          </p:spPr>
        </p:sp>
        <p:sp>
          <p:nvSpPr>
            <p:cNvPr name="TextBox 46" id="46"/>
            <p:cNvSpPr txBox="true"/>
            <p:nvPr/>
          </p:nvSpPr>
          <p:spPr>
            <a:xfrm>
              <a:off x="0" y="-9525"/>
              <a:ext cx="5077968" cy="741045"/>
            </a:xfrm>
            <a:prstGeom prst="rect">
              <a:avLst/>
            </a:prstGeom>
          </p:spPr>
          <p:txBody>
            <a:bodyPr anchor="ctr" rtlCol="false" tIns="0" lIns="0" bIns="0" rIns="0"/>
            <a:lstStyle/>
            <a:p>
              <a:pPr algn="l">
                <a:lnSpc>
                  <a:spcPts val="2879"/>
                </a:lnSpc>
              </a:pPr>
              <a:r>
                <a:rPr lang="en-US" sz="2400" b="true">
                  <a:solidFill>
                    <a:srgbClr val="000000"/>
                  </a:solidFill>
                  <a:latin typeface="Times New Roman Bold"/>
                  <a:ea typeface="Times New Roman Bold"/>
                  <a:cs typeface="Times New Roman Bold"/>
                  <a:sym typeface="Times New Roman Bold"/>
                </a:rPr>
                <a:t>Keywords vs identifiers</a:t>
              </a:r>
            </a:p>
          </p:txBody>
        </p:sp>
      </p:grpSp>
      <p:sp>
        <p:nvSpPr>
          <p:cNvPr name="TextBox 47" id="47"/>
          <p:cNvSpPr txBox="true"/>
          <p:nvPr/>
        </p:nvSpPr>
        <p:spPr>
          <a:xfrm rot="0">
            <a:off x="1371600" y="7044690"/>
            <a:ext cx="4357116" cy="1802130"/>
          </a:xfrm>
          <a:prstGeom prst="rect">
            <a:avLst/>
          </a:prstGeom>
        </p:spPr>
        <p:txBody>
          <a:bodyPr anchor="t" rtlCol="false" tIns="0" lIns="0" bIns="0" rIns="0">
            <a:spAutoFit/>
          </a:bodyPr>
          <a:lstStyle/>
          <a:p>
            <a:pPr algn="l">
              <a:lnSpc>
                <a:spcPts val="2520"/>
              </a:lnSpc>
            </a:pPr>
            <a:r>
              <a:rPr lang="en-US" sz="2100">
                <a:solidFill>
                  <a:srgbClr val="000000"/>
                </a:solidFill>
                <a:latin typeface="Times New Roman"/>
                <a:ea typeface="Times New Roman"/>
                <a:cs typeface="Times New Roman"/>
                <a:sym typeface="Times New Roman"/>
              </a:rPr>
              <a:t>Accept if as an identifier first, then look it up in a reserved-word table. iffy stays an identifier.</a:t>
            </a:r>
          </a:p>
        </p:txBody>
      </p:sp>
      <p:grpSp>
        <p:nvGrpSpPr>
          <p:cNvPr name="Group 48" id="48"/>
          <p:cNvGrpSpPr/>
          <p:nvPr/>
        </p:nvGrpSpPr>
        <p:grpSpPr>
          <a:xfrm rot="0">
            <a:off x="6542151" y="5956935"/>
            <a:ext cx="5199126" cy="3173730"/>
            <a:chOff x="0" y="0"/>
            <a:chExt cx="6932168" cy="4231640"/>
          </a:xfrm>
        </p:grpSpPr>
        <p:sp>
          <p:nvSpPr>
            <p:cNvPr name="Freeform 49" id="49"/>
            <p:cNvSpPr/>
            <p:nvPr/>
          </p:nvSpPr>
          <p:spPr>
            <a:xfrm flipH="false" flipV="false" rot="0">
              <a:off x="0" y="0"/>
              <a:ext cx="6932168" cy="4231640"/>
            </a:xfrm>
            <a:custGeom>
              <a:avLst/>
              <a:gdLst/>
              <a:ahLst/>
              <a:cxnLst/>
              <a:rect r="r" b="b" t="t" l="l"/>
              <a:pathLst>
                <a:path h="4231640" w="6932168">
                  <a:moveTo>
                    <a:pt x="0" y="220726"/>
                  </a:moveTo>
                  <a:cubicBezTo>
                    <a:pt x="0" y="98806"/>
                    <a:pt x="98806" y="0"/>
                    <a:pt x="220726" y="0"/>
                  </a:cubicBezTo>
                  <a:lnTo>
                    <a:pt x="6711442" y="0"/>
                  </a:lnTo>
                  <a:cubicBezTo>
                    <a:pt x="6833362" y="0"/>
                    <a:pt x="6932168" y="98806"/>
                    <a:pt x="6932168" y="220726"/>
                  </a:cubicBezTo>
                  <a:lnTo>
                    <a:pt x="6932168" y="4010914"/>
                  </a:lnTo>
                  <a:cubicBezTo>
                    <a:pt x="6932168" y="4132834"/>
                    <a:pt x="6833362" y="4231640"/>
                    <a:pt x="6711442" y="4231640"/>
                  </a:cubicBezTo>
                  <a:lnTo>
                    <a:pt x="220726" y="4231640"/>
                  </a:lnTo>
                  <a:cubicBezTo>
                    <a:pt x="98806" y="4231640"/>
                    <a:pt x="0" y="4132834"/>
                    <a:pt x="0" y="4010914"/>
                  </a:cubicBezTo>
                  <a:close/>
                </a:path>
              </a:pathLst>
            </a:custGeom>
            <a:solidFill>
              <a:srgbClr val="FFFFFF"/>
            </a:solidFill>
            <a:ln w="19050" cap="sq">
              <a:solidFill>
                <a:srgbClr val="000000"/>
              </a:solidFill>
              <a:prstDash val="solid"/>
              <a:miter/>
            </a:ln>
          </p:spPr>
        </p:sp>
      </p:grpSp>
      <p:grpSp>
        <p:nvGrpSpPr>
          <p:cNvPr name="Group 50" id="50"/>
          <p:cNvGrpSpPr/>
          <p:nvPr/>
        </p:nvGrpSpPr>
        <p:grpSpPr>
          <a:xfrm rot="0">
            <a:off x="6953631" y="6299835"/>
            <a:ext cx="430530" cy="430530"/>
            <a:chOff x="0" y="0"/>
            <a:chExt cx="574040" cy="574040"/>
          </a:xfrm>
        </p:grpSpPr>
        <p:sp>
          <p:nvSpPr>
            <p:cNvPr name="Freeform 51" id="51"/>
            <p:cNvSpPr/>
            <p:nvPr/>
          </p:nvSpPr>
          <p:spPr>
            <a:xfrm flipH="false" flipV="false" rot="0">
              <a:off x="0" y="0"/>
              <a:ext cx="574040" cy="574040"/>
            </a:xfrm>
            <a:custGeom>
              <a:avLst/>
              <a:gdLst/>
              <a:ahLst/>
              <a:cxnLst/>
              <a:rect r="r" b="b" t="t" l="l"/>
              <a:pathLst>
                <a:path h="574040" w="574040">
                  <a:moveTo>
                    <a:pt x="0" y="287020"/>
                  </a:moveTo>
                  <a:cubicBezTo>
                    <a:pt x="0" y="128524"/>
                    <a:pt x="128524" y="0"/>
                    <a:pt x="287020" y="0"/>
                  </a:cubicBezTo>
                  <a:cubicBezTo>
                    <a:pt x="445516" y="0"/>
                    <a:pt x="574040" y="128524"/>
                    <a:pt x="574040" y="287020"/>
                  </a:cubicBezTo>
                  <a:cubicBezTo>
                    <a:pt x="574040" y="445516"/>
                    <a:pt x="445516" y="574040"/>
                    <a:pt x="287020" y="574040"/>
                  </a:cubicBezTo>
                  <a:cubicBezTo>
                    <a:pt x="128524" y="574040"/>
                    <a:pt x="0" y="445516"/>
                    <a:pt x="0" y="287020"/>
                  </a:cubicBezTo>
                  <a:close/>
                </a:path>
              </a:pathLst>
            </a:custGeom>
            <a:solidFill>
              <a:srgbClr val="000000"/>
            </a:solidFill>
            <a:ln w="19050" cap="sq">
              <a:solidFill>
                <a:srgbClr val="000000"/>
              </a:solidFill>
              <a:prstDash val="solid"/>
              <a:miter/>
            </a:ln>
          </p:spPr>
        </p:sp>
      </p:grpSp>
      <p:grpSp>
        <p:nvGrpSpPr>
          <p:cNvPr name="Group 52" id="52"/>
          <p:cNvGrpSpPr/>
          <p:nvPr/>
        </p:nvGrpSpPr>
        <p:grpSpPr>
          <a:xfrm rot="0">
            <a:off x="7580376" y="6240780"/>
            <a:ext cx="3808476" cy="548640"/>
            <a:chOff x="0" y="0"/>
            <a:chExt cx="5077968" cy="731520"/>
          </a:xfrm>
        </p:grpSpPr>
        <p:sp>
          <p:nvSpPr>
            <p:cNvPr name="Freeform 53" id="53"/>
            <p:cNvSpPr/>
            <p:nvPr/>
          </p:nvSpPr>
          <p:spPr>
            <a:xfrm flipH="false" flipV="false" rot="0">
              <a:off x="0" y="0"/>
              <a:ext cx="5077968" cy="731520"/>
            </a:xfrm>
            <a:custGeom>
              <a:avLst/>
              <a:gdLst/>
              <a:ahLst/>
              <a:cxnLst/>
              <a:rect r="r" b="b" t="t" l="l"/>
              <a:pathLst>
                <a:path h="731520" w="5077968">
                  <a:moveTo>
                    <a:pt x="0" y="0"/>
                  </a:moveTo>
                  <a:lnTo>
                    <a:pt x="5077968" y="0"/>
                  </a:lnTo>
                  <a:lnTo>
                    <a:pt x="5077968" y="731520"/>
                  </a:lnTo>
                  <a:lnTo>
                    <a:pt x="0" y="731520"/>
                  </a:lnTo>
                  <a:close/>
                </a:path>
              </a:pathLst>
            </a:custGeom>
            <a:blipFill>
              <a:blip r:embed="rId3">
                <a:alphaModFix amt="0"/>
              </a:blip>
              <a:stretch>
                <a:fillRect l="0" t="-85258" r="0" b="-85258"/>
              </a:stretch>
            </a:blipFill>
          </p:spPr>
        </p:sp>
        <p:sp>
          <p:nvSpPr>
            <p:cNvPr name="TextBox 54" id="54"/>
            <p:cNvSpPr txBox="true"/>
            <p:nvPr/>
          </p:nvSpPr>
          <p:spPr>
            <a:xfrm>
              <a:off x="0" y="-9525"/>
              <a:ext cx="5077968" cy="741045"/>
            </a:xfrm>
            <a:prstGeom prst="rect">
              <a:avLst/>
            </a:prstGeom>
          </p:spPr>
          <p:txBody>
            <a:bodyPr anchor="ctr" rtlCol="false" tIns="0" lIns="0" bIns="0" rIns="0"/>
            <a:lstStyle/>
            <a:p>
              <a:pPr algn="l">
                <a:lnSpc>
                  <a:spcPts val="2879"/>
                </a:lnSpc>
              </a:pPr>
              <a:r>
                <a:rPr lang="en-US" sz="2400" b="true">
                  <a:solidFill>
                    <a:srgbClr val="000000"/>
                  </a:solidFill>
                  <a:latin typeface="Times New Roman Bold"/>
                  <a:ea typeface="Times New Roman Bold"/>
                  <a:cs typeface="Times New Roman Bold"/>
                  <a:sym typeface="Times New Roman Bold"/>
                </a:rPr>
                <a:t>Longest match wins</a:t>
              </a:r>
            </a:p>
          </p:txBody>
        </p:sp>
      </p:grpSp>
      <p:sp>
        <p:nvSpPr>
          <p:cNvPr name="TextBox 55" id="55"/>
          <p:cNvSpPr txBox="true"/>
          <p:nvPr/>
        </p:nvSpPr>
        <p:spPr>
          <a:xfrm rot="0">
            <a:off x="6963156" y="7044690"/>
            <a:ext cx="4357116" cy="1802130"/>
          </a:xfrm>
          <a:prstGeom prst="rect">
            <a:avLst/>
          </a:prstGeom>
        </p:spPr>
        <p:txBody>
          <a:bodyPr anchor="t" rtlCol="false" tIns="0" lIns="0" bIns="0" rIns="0">
            <a:spAutoFit/>
          </a:bodyPr>
          <a:lstStyle/>
          <a:p>
            <a:pPr algn="l">
              <a:lnSpc>
                <a:spcPts val="2520"/>
              </a:lnSpc>
            </a:pPr>
            <a:r>
              <a:rPr lang="en-US" sz="2100">
                <a:solidFill>
                  <a:srgbClr val="000000"/>
                </a:solidFill>
                <a:latin typeface="Times New Roman"/>
                <a:ea typeface="Times New Roman"/>
                <a:cs typeface="Times New Roman"/>
                <a:sym typeface="Times New Roman"/>
              </a:rPr>
              <a:t>&lt;= is one operator, not &lt; followed by =. Back up only when the longer path fails.</a:t>
            </a:r>
          </a:p>
        </p:txBody>
      </p:sp>
      <p:grpSp>
        <p:nvGrpSpPr>
          <p:cNvPr name="Group 56" id="56"/>
          <p:cNvGrpSpPr/>
          <p:nvPr/>
        </p:nvGrpSpPr>
        <p:grpSpPr>
          <a:xfrm rot="0">
            <a:off x="12133707" y="5956935"/>
            <a:ext cx="5199126" cy="3173730"/>
            <a:chOff x="0" y="0"/>
            <a:chExt cx="6932168" cy="4231640"/>
          </a:xfrm>
        </p:grpSpPr>
        <p:sp>
          <p:nvSpPr>
            <p:cNvPr name="Freeform 57" id="57"/>
            <p:cNvSpPr/>
            <p:nvPr/>
          </p:nvSpPr>
          <p:spPr>
            <a:xfrm flipH="false" flipV="false" rot="0">
              <a:off x="0" y="0"/>
              <a:ext cx="6932168" cy="4231640"/>
            </a:xfrm>
            <a:custGeom>
              <a:avLst/>
              <a:gdLst/>
              <a:ahLst/>
              <a:cxnLst/>
              <a:rect r="r" b="b" t="t" l="l"/>
              <a:pathLst>
                <a:path h="4231640" w="6932168">
                  <a:moveTo>
                    <a:pt x="0" y="220726"/>
                  </a:moveTo>
                  <a:cubicBezTo>
                    <a:pt x="0" y="98806"/>
                    <a:pt x="98806" y="0"/>
                    <a:pt x="220726" y="0"/>
                  </a:cubicBezTo>
                  <a:lnTo>
                    <a:pt x="6711442" y="0"/>
                  </a:lnTo>
                  <a:cubicBezTo>
                    <a:pt x="6833362" y="0"/>
                    <a:pt x="6932168" y="98806"/>
                    <a:pt x="6932168" y="220726"/>
                  </a:cubicBezTo>
                  <a:lnTo>
                    <a:pt x="6932168" y="4010914"/>
                  </a:lnTo>
                  <a:cubicBezTo>
                    <a:pt x="6932168" y="4132834"/>
                    <a:pt x="6833362" y="4231640"/>
                    <a:pt x="6711442" y="4231640"/>
                  </a:cubicBezTo>
                  <a:lnTo>
                    <a:pt x="220726" y="4231640"/>
                  </a:lnTo>
                  <a:cubicBezTo>
                    <a:pt x="98806" y="4231640"/>
                    <a:pt x="0" y="4132834"/>
                    <a:pt x="0" y="4010914"/>
                  </a:cubicBezTo>
                  <a:close/>
                </a:path>
              </a:pathLst>
            </a:custGeom>
            <a:solidFill>
              <a:srgbClr val="FFFFFF"/>
            </a:solidFill>
            <a:ln w="19050" cap="sq">
              <a:solidFill>
                <a:srgbClr val="000000"/>
              </a:solidFill>
              <a:prstDash val="solid"/>
              <a:miter/>
            </a:ln>
          </p:spPr>
        </p:sp>
      </p:grpSp>
      <p:grpSp>
        <p:nvGrpSpPr>
          <p:cNvPr name="Group 58" id="58"/>
          <p:cNvGrpSpPr/>
          <p:nvPr/>
        </p:nvGrpSpPr>
        <p:grpSpPr>
          <a:xfrm rot="0">
            <a:off x="12545187" y="6299835"/>
            <a:ext cx="430530" cy="430530"/>
            <a:chOff x="0" y="0"/>
            <a:chExt cx="574040" cy="574040"/>
          </a:xfrm>
        </p:grpSpPr>
        <p:sp>
          <p:nvSpPr>
            <p:cNvPr name="Freeform 59" id="59"/>
            <p:cNvSpPr/>
            <p:nvPr/>
          </p:nvSpPr>
          <p:spPr>
            <a:xfrm flipH="false" flipV="false" rot="0">
              <a:off x="0" y="0"/>
              <a:ext cx="574040" cy="574040"/>
            </a:xfrm>
            <a:custGeom>
              <a:avLst/>
              <a:gdLst/>
              <a:ahLst/>
              <a:cxnLst/>
              <a:rect r="r" b="b" t="t" l="l"/>
              <a:pathLst>
                <a:path h="574040" w="574040">
                  <a:moveTo>
                    <a:pt x="0" y="287020"/>
                  </a:moveTo>
                  <a:cubicBezTo>
                    <a:pt x="0" y="128524"/>
                    <a:pt x="128524" y="0"/>
                    <a:pt x="287020" y="0"/>
                  </a:cubicBezTo>
                  <a:cubicBezTo>
                    <a:pt x="445516" y="0"/>
                    <a:pt x="574040" y="128524"/>
                    <a:pt x="574040" y="287020"/>
                  </a:cubicBezTo>
                  <a:cubicBezTo>
                    <a:pt x="574040" y="445516"/>
                    <a:pt x="445516" y="574040"/>
                    <a:pt x="287020" y="574040"/>
                  </a:cubicBezTo>
                  <a:cubicBezTo>
                    <a:pt x="128524" y="574040"/>
                    <a:pt x="0" y="445516"/>
                    <a:pt x="0" y="287020"/>
                  </a:cubicBezTo>
                  <a:close/>
                </a:path>
              </a:pathLst>
            </a:custGeom>
            <a:solidFill>
              <a:srgbClr val="000000"/>
            </a:solidFill>
            <a:ln w="19050" cap="sq">
              <a:solidFill>
                <a:srgbClr val="000000"/>
              </a:solidFill>
              <a:prstDash val="solid"/>
              <a:miter/>
            </a:ln>
          </p:spPr>
        </p:sp>
      </p:grpSp>
      <p:grpSp>
        <p:nvGrpSpPr>
          <p:cNvPr name="Group 60" id="60"/>
          <p:cNvGrpSpPr/>
          <p:nvPr/>
        </p:nvGrpSpPr>
        <p:grpSpPr>
          <a:xfrm rot="0">
            <a:off x="13171932" y="6240780"/>
            <a:ext cx="3808476" cy="548640"/>
            <a:chOff x="0" y="0"/>
            <a:chExt cx="5077968" cy="731520"/>
          </a:xfrm>
        </p:grpSpPr>
        <p:sp>
          <p:nvSpPr>
            <p:cNvPr name="Freeform 61" id="61"/>
            <p:cNvSpPr/>
            <p:nvPr/>
          </p:nvSpPr>
          <p:spPr>
            <a:xfrm flipH="false" flipV="false" rot="0">
              <a:off x="0" y="0"/>
              <a:ext cx="5077968" cy="731520"/>
            </a:xfrm>
            <a:custGeom>
              <a:avLst/>
              <a:gdLst/>
              <a:ahLst/>
              <a:cxnLst/>
              <a:rect r="r" b="b" t="t" l="l"/>
              <a:pathLst>
                <a:path h="731520" w="5077968">
                  <a:moveTo>
                    <a:pt x="0" y="0"/>
                  </a:moveTo>
                  <a:lnTo>
                    <a:pt x="5077968" y="0"/>
                  </a:lnTo>
                  <a:lnTo>
                    <a:pt x="5077968" y="731520"/>
                  </a:lnTo>
                  <a:lnTo>
                    <a:pt x="0" y="731520"/>
                  </a:lnTo>
                  <a:close/>
                </a:path>
              </a:pathLst>
            </a:custGeom>
            <a:blipFill>
              <a:blip r:embed="rId3">
                <a:alphaModFix amt="0"/>
              </a:blip>
              <a:stretch>
                <a:fillRect l="0" t="-85258" r="0" b="-85258"/>
              </a:stretch>
            </a:blipFill>
          </p:spPr>
        </p:sp>
        <p:sp>
          <p:nvSpPr>
            <p:cNvPr name="TextBox 62" id="62"/>
            <p:cNvSpPr txBox="true"/>
            <p:nvPr/>
          </p:nvSpPr>
          <p:spPr>
            <a:xfrm>
              <a:off x="0" y="-9525"/>
              <a:ext cx="5077968" cy="741045"/>
            </a:xfrm>
            <a:prstGeom prst="rect">
              <a:avLst/>
            </a:prstGeom>
          </p:spPr>
          <p:txBody>
            <a:bodyPr anchor="ctr" rtlCol="false" tIns="0" lIns="0" bIns="0" rIns="0"/>
            <a:lstStyle/>
            <a:p>
              <a:pPr algn="l">
                <a:lnSpc>
                  <a:spcPts val="2879"/>
                </a:lnSpc>
              </a:pPr>
              <a:r>
                <a:rPr lang="en-US" sz="2400" b="true">
                  <a:solidFill>
                    <a:srgbClr val="000000"/>
                  </a:solidFill>
                  <a:latin typeface="Times New Roman Bold"/>
                  <a:ea typeface="Times New Roman Bold"/>
                  <a:cs typeface="Times New Roman Bold"/>
                  <a:sym typeface="Times New Roman Bold"/>
                </a:rPr>
                <a:t>Invalid input</a:t>
              </a:r>
            </a:p>
          </p:txBody>
        </p:sp>
      </p:grpSp>
      <p:sp>
        <p:nvSpPr>
          <p:cNvPr name="TextBox 63" id="63"/>
          <p:cNvSpPr txBox="true"/>
          <p:nvPr/>
        </p:nvSpPr>
        <p:spPr>
          <a:xfrm rot="0">
            <a:off x="12554712" y="7044690"/>
            <a:ext cx="4357116" cy="1802130"/>
          </a:xfrm>
          <a:prstGeom prst="rect">
            <a:avLst/>
          </a:prstGeom>
        </p:spPr>
        <p:txBody>
          <a:bodyPr anchor="t" rtlCol="false" tIns="0" lIns="0" bIns="0" rIns="0">
            <a:spAutoFit/>
          </a:bodyPr>
          <a:lstStyle/>
          <a:p>
            <a:pPr algn="l">
              <a:lnSpc>
                <a:spcPts val="2520"/>
              </a:lnSpc>
            </a:pPr>
            <a:r>
              <a:rPr lang="en-US" sz="2100">
                <a:solidFill>
                  <a:srgbClr val="000000"/>
                </a:solidFill>
                <a:latin typeface="Times New Roman"/>
                <a:ea typeface="Times New Roman"/>
                <a:cs typeface="Times New Roman"/>
                <a:sym typeface="Times New Roman"/>
              </a:rPr>
              <a:t>A character like @ has no transition. Report line and column, skip it, and keep scanning.</a:t>
            </a:r>
          </a:p>
        </p:txBody>
      </p:sp>
      <p:sp>
        <p:nvSpPr>
          <p:cNvPr name="TextBox 64" id="64"/>
          <p:cNvSpPr txBox="true"/>
          <p:nvPr/>
        </p:nvSpPr>
        <p:spPr>
          <a:xfrm rot="0">
            <a:off x="16454628" y="9627870"/>
            <a:ext cx="777240" cy="339090"/>
          </a:xfrm>
          <a:prstGeom prst="rect">
            <a:avLst/>
          </a:prstGeom>
        </p:spPr>
        <p:txBody>
          <a:bodyPr anchor="t" rtlCol="false" tIns="0" lIns="0" bIns="0" rIns="0">
            <a:spAutoFit/>
          </a:bodyPr>
          <a:lstStyle/>
          <a:p>
            <a:pPr algn="r">
              <a:lnSpc>
                <a:spcPts val="1800"/>
              </a:lnSpc>
            </a:pPr>
            <a:r>
              <a:rPr lang="en-US" sz="1500">
                <a:solidFill>
                  <a:srgbClr val="000000"/>
                </a:solidFill>
                <a:latin typeface="Times New Roman"/>
                <a:ea typeface="Times New Roman"/>
                <a:cs typeface="Times New Roman"/>
                <a:sym typeface="Times New Roman"/>
              </a:rPr>
              <a:t>8</a:t>
            </a:r>
          </a:p>
        </p:txBody>
      </p:sp>
      <p:sp>
        <p:nvSpPr>
          <p:cNvPr name="Freeform 65" id="65"/>
          <p:cNvSpPr/>
          <p:nvPr/>
        </p:nvSpPr>
        <p:spPr>
          <a:xfrm flipH="false" flipV="false" rot="0">
            <a:off x="15175541" y="55401"/>
            <a:ext cx="2083759" cy="2083759"/>
          </a:xfrm>
          <a:custGeom>
            <a:avLst/>
            <a:gdLst/>
            <a:ahLst/>
            <a:cxnLst/>
            <a:rect r="r" b="b" t="t" l="l"/>
            <a:pathLst>
              <a:path h="2083759" w="2083759">
                <a:moveTo>
                  <a:pt x="0" y="0"/>
                </a:moveTo>
                <a:lnTo>
                  <a:pt x="2083759" y="0"/>
                </a:lnTo>
                <a:lnTo>
                  <a:pt x="2083759" y="2083758"/>
                </a:lnTo>
                <a:lnTo>
                  <a:pt x="0" y="2083758"/>
                </a:lnTo>
                <a:lnTo>
                  <a:pt x="0" y="0"/>
                </a:lnTo>
                <a:close/>
              </a:path>
            </a:pathLst>
          </a:custGeom>
          <a:blipFill>
            <a:blip r:embed="rId4"/>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9601200"/>
            <a:ext cx="8229600" cy="411480"/>
            <a:chOff x="0" y="0"/>
            <a:chExt cx="10972800" cy="548640"/>
          </a:xfrm>
        </p:grpSpPr>
        <p:sp>
          <p:nvSpPr>
            <p:cNvPr name="Freeform 3" id="3"/>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700" r="0" b="-339700"/>
              </a:stretch>
            </a:blipFill>
          </p:spPr>
        </p:sp>
        <p:sp>
          <p:nvSpPr>
            <p:cNvPr name="TextBox 4" id="4"/>
            <p:cNvSpPr txBox="true"/>
            <p:nvPr/>
          </p:nvSpPr>
          <p:spPr>
            <a:xfrm>
              <a:off x="0" y="-19050"/>
              <a:ext cx="10972800" cy="567690"/>
            </a:xfrm>
            <a:prstGeom prst="rect">
              <a:avLst/>
            </a:prstGeom>
          </p:spPr>
          <p:txBody>
            <a:bodyPr anchor="ctr" rtlCol="false" tIns="0" lIns="0" bIns="0" rIns="0"/>
            <a:lstStyle/>
            <a:p>
              <a:pPr algn="l">
                <a:lnSpc>
                  <a:spcPts val="1800"/>
                </a:lnSpc>
              </a:pPr>
              <a:r>
                <a:rPr lang="en-US" sz="1500">
                  <a:solidFill>
                    <a:srgbClr val="000000"/>
                  </a:solidFill>
                  <a:latin typeface="Times New Roman"/>
                  <a:ea typeface="Times New Roman"/>
                  <a:cs typeface="Times New Roman"/>
                  <a:sym typeface="Times New Roman"/>
                </a:rPr>
                <a:t>Building an FSA for Token Recognition</a:t>
              </a:r>
            </a:p>
          </p:txBody>
        </p:sp>
      </p:grpSp>
      <p:grpSp>
        <p:nvGrpSpPr>
          <p:cNvPr name="Group 5" id="5"/>
          <p:cNvGrpSpPr/>
          <p:nvPr/>
        </p:nvGrpSpPr>
        <p:grpSpPr>
          <a:xfrm rot="0">
            <a:off x="960120" y="548640"/>
            <a:ext cx="15361920" cy="1097280"/>
            <a:chOff x="0" y="0"/>
            <a:chExt cx="20482560" cy="1463040"/>
          </a:xfrm>
        </p:grpSpPr>
        <p:sp>
          <p:nvSpPr>
            <p:cNvPr name="Freeform 6" id="6"/>
            <p:cNvSpPr/>
            <p:nvPr/>
          </p:nvSpPr>
          <p:spPr>
            <a:xfrm flipH="false" flipV="false" rot="0">
              <a:off x="0" y="0"/>
              <a:ext cx="20482561" cy="1463040"/>
            </a:xfrm>
            <a:custGeom>
              <a:avLst/>
              <a:gdLst/>
              <a:ahLst/>
              <a:cxnLst/>
              <a:rect r="r" b="b" t="t" l="l"/>
              <a:pathLst>
                <a:path h="1463040" w="20482561">
                  <a:moveTo>
                    <a:pt x="0" y="0"/>
                  </a:moveTo>
                  <a:lnTo>
                    <a:pt x="20482561" y="0"/>
                  </a:lnTo>
                  <a:lnTo>
                    <a:pt x="20482561" y="1463040"/>
                  </a:lnTo>
                  <a:lnTo>
                    <a:pt x="0" y="1463040"/>
                  </a:lnTo>
                  <a:close/>
                </a:path>
              </a:pathLst>
            </a:custGeom>
            <a:blipFill>
              <a:blip r:embed="rId3">
                <a:alphaModFix amt="0"/>
              </a:blip>
              <a:stretch>
                <a:fillRect l="0" t="-222790" r="0" b="-222790"/>
              </a:stretch>
            </a:blipFill>
          </p:spPr>
        </p:sp>
        <p:sp>
          <p:nvSpPr>
            <p:cNvPr name="TextBox 7" id="7"/>
            <p:cNvSpPr txBox="true"/>
            <p:nvPr/>
          </p:nvSpPr>
          <p:spPr>
            <a:xfrm>
              <a:off x="0" y="-28575"/>
              <a:ext cx="20482560" cy="1491615"/>
            </a:xfrm>
            <a:prstGeom prst="rect">
              <a:avLst/>
            </a:prstGeom>
          </p:spPr>
          <p:txBody>
            <a:bodyPr anchor="ctr" rtlCol="false" tIns="0" lIns="0" bIns="0" rIns="0"/>
            <a:lstStyle/>
            <a:p>
              <a:pPr algn="l">
                <a:lnSpc>
                  <a:spcPts val="6120"/>
                </a:lnSpc>
              </a:pPr>
              <a:r>
                <a:rPr lang="en-US" sz="5100" b="true">
                  <a:solidFill>
                    <a:srgbClr val="000000"/>
                  </a:solidFill>
                  <a:latin typeface="Times New Roman Bold"/>
                  <a:ea typeface="Times New Roman Bold"/>
                  <a:cs typeface="Times New Roman Bold"/>
                  <a:sym typeface="Times New Roman Bold"/>
                </a:rPr>
                <a:t>From automaton to code</a:t>
              </a:r>
            </a:p>
          </p:txBody>
        </p:sp>
      </p:grpSp>
      <p:sp>
        <p:nvSpPr>
          <p:cNvPr name="TextBox 8" id="8"/>
          <p:cNvSpPr txBox="true"/>
          <p:nvPr/>
        </p:nvSpPr>
        <p:spPr>
          <a:xfrm rot="0">
            <a:off x="960120" y="1773555"/>
            <a:ext cx="15361920" cy="558165"/>
          </a:xfrm>
          <a:prstGeom prst="rect">
            <a:avLst/>
          </a:prstGeom>
        </p:spPr>
        <p:txBody>
          <a:bodyPr anchor="t" rtlCol="false" tIns="0" lIns="0" bIns="0" rIns="0">
            <a:spAutoFit/>
          </a:bodyPr>
          <a:lstStyle/>
          <a:p>
            <a:pPr algn="l">
              <a:lnSpc>
                <a:spcPts val="2879"/>
              </a:lnSpc>
            </a:pPr>
            <a:r>
              <a:rPr lang="en-US" sz="2400">
                <a:solidFill>
                  <a:srgbClr val="000000"/>
                </a:solidFill>
                <a:latin typeface="Times New Roman"/>
                <a:ea typeface="Times New Roman"/>
                <a:cs typeface="Times New Roman"/>
                <a:sym typeface="Times New Roman"/>
              </a:rPr>
              <a:t>Store δ as a table; the scanning loop stays the same for every token class.</a:t>
            </a:r>
          </a:p>
        </p:txBody>
      </p:sp>
      <p:graphicFrame>
        <p:nvGraphicFramePr>
          <p:cNvPr name="Table 9" id="9"/>
          <p:cNvGraphicFramePr>
            <a:graphicFrameLocks noGrp="true"/>
          </p:cNvGraphicFramePr>
          <p:nvPr/>
        </p:nvGraphicFramePr>
        <p:xfrm>
          <a:off x="960120" y="2811780"/>
          <a:ext cx="7524750" cy="2457450"/>
        </p:xfrm>
        <a:graphic>
          <a:graphicData uri="http://schemas.openxmlformats.org/drawingml/2006/table">
            <a:tbl>
              <a:tblPr/>
              <a:tblGrid>
                <a:gridCol w="1504950"/>
                <a:gridCol w="1504950"/>
                <a:gridCol w="1504950"/>
                <a:gridCol w="1504950"/>
                <a:gridCol w="1504950"/>
              </a:tblGrid>
              <a:tr h="819150">
                <a:tc>
                  <a:txBody>
                    <a:bodyPr anchor="t" rtlCol="false"/>
                    <a:lstStyle/>
                    <a:p>
                      <a:pPr algn="ctr">
                        <a:lnSpc>
                          <a:spcPts val="2520"/>
                        </a:lnSpc>
                        <a:defRPr/>
                      </a:pPr>
                      <a:r>
                        <a:rPr lang="en-US" sz="2100" b="true">
                          <a:solidFill>
                            <a:srgbClr val="000000"/>
                          </a:solidFill>
                          <a:latin typeface="Times New Roman Bold"/>
                          <a:ea typeface="Times New Roman Bold"/>
                          <a:cs typeface="Times New Roman Bold"/>
                          <a:sym typeface="Times New Roman Bold"/>
                        </a:rPr>
                        <a:t>state</a:t>
                      </a:r>
                      <a:endParaRPr lang="en-US" sz="1100"/>
                    </a:p>
                  </a:txBody>
                  <a:tcPr marL="91440" marR="91440" marT="91440" marB="91440"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FFFFFF"/>
                    </a:solidFill>
                  </a:tcPr>
                </a:tc>
                <a:tc>
                  <a:txBody>
                    <a:bodyPr anchor="t" rtlCol="false"/>
                    <a:lstStyle/>
                    <a:p>
                      <a:pPr algn="ctr">
                        <a:lnSpc>
                          <a:spcPts val="2520"/>
                        </a:lnSpc>
                        <a:defRPr/>
                      </a:pPr>
                      <a:r>
                        <a:rPr lang="en-US" sz="2100" b="true">
                          <a:solidFill>
                            <a:srgbClr val="000000"/>
                          </a:solidFill>
                          <a:latin typeface="Times New Roman Bold"/>
                          <a:ea typeface="Times New Roman Bold"/>
                          <a:cs typeface="Times New Roman Bold"/>
                          <a:sym typeface="Times New Roman Bold"/>
                        </a:rPr>
                        <a:t>letter</a:t>
                      </a:r>
                      <a:endParaRPr lang="en-US" sz="1100"/>
                    </a:p>
                  </a:txBody>
                  <a:tcPr marL="91440" marR="91440" marT="91440" marB="91440"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FFFFFF"/>
                    </a:solidFill>
                  </a:tcPr>
                </a:tc>
                <a:tc>
                  <a:txBody>
                    <a:bodyPr anchor="t" rtlCol="false"/>
                    <a:lstStyle/>
                    <a:p>
                      <a:pPr algn="ctr">
                        <a:lnSpc>
                          <a:spcPts val="2520"/>
                        </a:lnSpc>
                        <a:defRPr/>
                      </a:pPr>
                      <a:r>
                        <a:rPr lang="en-US" sz="2100" b="true">
                          <a:solidFill>
                            <a:srgbClr val="000000"/>
                          </a:solidFill>
                          <a:latin typeface="Times New Roman Bold"/>
                          <a:ea typeface="Times New Roman Bold"/>
                          <a:cs typeface="Times New Roman Bold"/>
                          <a:sym typeface="Times New Roman Bold"/>
                        </a:rPr>
                        <a:t>digit</a:t>
                      </a:r>
                      <a:endParaRPr lang="en-US" sz="1100"/>
                    </a:p>
                  </a:txBody>
                  <a:tcPr marL="91440" marR="91440" marT="91440" marB="91440"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FFFFFF"/>
                    </a:solidFill>
                  </a:tcPr>
                </a:tc>
                <a:tc>
                  <a:txBody>
                    <a:bodyPr anchor="t" rtlCol="false"/>
                    <a:lstStyle/>
                    <a:p>
                      <a:pPr algn="ctr">
                        <a:lnSpc>
                          <a:spcPts val="2520"/>
                        </a:lnSpc>
                        <a:defRPr/>
                      </a:pPr>
                      <a:r>
                        <a:rPr lang="en-US" sz="2100" b="true">
                          <a:solidFill>
                            <a:srgbClr val="000000"/>
                          </a:solidFill>
                          <a:latin typeface="Times New Roman Bold"/>
                          <a:ea typeface="Times New Roman Bold"/>
                          <a:cs typeface="Times New Roman Bold"/>
                          <a:sym typeface="Times New Roman Bold"/>
                        </a:rPr>
                        <a:t>_</a:t>
                      </a:r>
                      <a:endParaRPr lang="en-US" sz="1100"/>
                    </a:p>
                  </a:txBody>
                  <a:tcPr marL="91440" marR="91440" marT="91440" marB="91440"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FFFFFF"/>
                    </a:solidFill>
                  </a:tcPr>
                </a:tc>
                <a:tc>
                  <a:txBody>
                    <a:bodyPr anchor="t" rtlCol="false"/>
                    <a:lstStyle/>
                    <a:p>
                      <a:pPr algn="ctr">
                        <a:lnSpc>
                          <a:spcPts val="2520"/>
                        </a:lnSpc>
                        <a:defRPr/>
                      </a:pPr>
                      <a:r>
                        <a:rPr lang="en-US" sz="2100" b="true">
                          <a:solidFill>
                            <a:srgbClr val="000000"/>
                          </a:solidFill>
                          <a:latin typeface="Times New Roman Bold"/>
                          <a:ea typeface="Times New Roman Bold"/>
                          <a:cs typeface="Times New Roman Bold"/>
                          <a:sym typeface="Times New Roman Bold"/>
                        </a:rPr>
                        <a:t>other</a:t>
                      </a:r>
                      <a:endParaRPr lang="en-US" sz="1100"/>
                    </a:p>
                  </a:txBody>
                  <a:tcPr marL="91440" marR="91440" marT="91440" marB="91440"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FFFFFF"/>
                    </a:solidFill>
                  </a:tcPr>
                </a:tc>
              </a:tr>
              <a:tr h="819150">
                <a:tc>
                  <a:txBody>
                    <a:bodyPr anchor="t" rtlCol="false"/>
                    <a:lstStyle/>
                    <a:p>
                      <a:pPr algn="ctr">
                        <a:lnSpc>
                          <a:spcPts val="2520"/>
                        </a:lnSpc>
                        <a:defRPr/>
                      </a:pPr>
                      <a:r>
                        <a:rPr lang="en-US" sz="2100" b="true">
                          <a:solidFill>
                            <a:srgbClr val="000000"/>
                          </a:solidFill>
                          <a:latin typeface="Times New Roman Bold"/>
                          <a:ea typeface="Times New Roman Bold"/>
                          <a:cs typeface="Times New Roman Bold"/>
                          <a:sym typeface="Times New Roman Bold"/>
                        </a:rPr>
                        <a:t>q0</a:t>
                      </a:r>
                      <a:endParaRPr lang="en-US" sz="1100"/>
                    </a:p>
                  </a:txBody>
                  <a:tcPr marL="91440" marR="91440" marT="91440" marB="91440"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FFFFFF"/>
                    </a:solidFill>
                  </a:tcPr>
                </a:tc>
                <a:tc>
                  <a:txBody>
                    <a:bodyPr anchor="t" rtlCol="false"/>
                    <a:lstStyle/>
                    <a:p>
                      <a:pPr algn="ctr">
                        <a:lnSpc>
                          <a:spcPts val="2520"/>
                        </a:lnSpc>
                        <a:defRPr/>
                      </a:pPr>
                      <a:r>
                        <a:rPr lang="en-US" sz="2100" b="true">
                          <a:solidFill>
                            <a:srgbClr val="000000"/>
                          </a:solidFill>
                          <a:latin typeface="Times New Roman Bold"/>
                          <a:ea typeface="Times New Roman Bold"/>
                          <a:cs typeface="Times New Roman Bold"/>
                          <a:sym typeface="Times New Roman Bold"/>
                        </a:rPr>
                        <a:t>q1</a:t>
                      </a:r>
                      <a:endParaRPr lang="en-US" sz="1100"/>
                    </a:p>
                  </a:txBody>
                  <a:tcPr marL="91440" marR="91440" marT="91440" marB="91440"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FFFFFF"/>
                    </a:solidFill>
                  </a:tcPr>
                </a:tc>
                <a:tc>
                  <a:txBody>
                    <a:bodyPr anchor="t" rtlCol="false"/>
                    <a:lstStyle/>
                    <a:p>
                      <a:pPr algn="ctr">
                        <a:lnSpc>
                          <a:spcPts val="2520"/>
                        </a:lnSpc>
                        <a:defRPr/>
                      </a:pPr>
                      <a:r>
                        <a:rPr lang="en-US" sz="2100" b="true">
                          <a:solidFill>
                            <a:srgbClr val="000000"/>
                          </a:solidFill>
                          <a:latin typeface="Times New Roman Bold"/>
                          <a:ea typeface="Times New Roman Bold"/>
                          <a:cs typeface="Times New Roman Bold"/>
                          <a:sym typeface="Times New Roman Bold"/>
                        </a:rPr>
                        <a:t>ERR</a:t>
                      </a:r>
                      <a:endParaRPr lang="en-US" sz="1100"/>
                    </a:p>
                  </a:txBody>
                  <a:tcPr marL="91440" marR="91440" marT="91440" marB="91440"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FFFFFF"/>
                    </a:solidFill>
                  </a:tcPr>
                </a:tc>
                <a:tc>
                  <a:txBody>
                    <a:bodyPr anchor="t" rtlCol="false"/>
                    <a:lstStyle/>
                    <a:p>
                      <a:pPr algn="ctr">
                        <a:lnSpc>
                          <a:spcPts val="2520"/>
                        </a:lnSpc>
                        <a:defRPr/>
                      </a:pPr>
                      <a:r>
                        <a:rPr lang="en-US" sz="2100" b="true">
                          <a:solidFill>
                            <a:srgbClr val="000000"/>
                          </a:solidFill>
                          <a:latin typeface="Times New Roman Bold"/>
                          <a:ea typeface="Times New Roman Bold"/>
                          <a:cs typeface="Times New Roman Bold"/>
                          <a:sym typeface="Times New Roman Bold"/>
                        </a:rPr>
                        <a:t>q1</a:t>
                      </a:r>
                      <a:endParaRPr lang="en-US" sz="1100"/>
                    </a:p>
                  </a:txBody>
                  <a:tcPr marL="91440" marR="91440" marT="91440" marB="91440"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FFFFFF"/>
                    </a:solidFill>
                  </a:tcPr>
                </a:tc>
                <a:tc>
                  <a:txBody>
                    <a:bodyPr anchor="t" rtlCol="false"/>
                    <a:lstStyle/>
                    <a:p>
                      <a:pPr algn="ctr">
                        <a:lnSpc>
                          <a:spcPts val="2520"/>
                        </a:lnSpc>
                        <a:defRPr/>
                      </a:pPr>
                      <a:r>
                        <a:rPr lang="en-US" sz="2100" b="true">
                          <a:solidFill>
                            <a:srgbClr val="000000"/>
                          </a:solidFill>
                          <a:latin typeface="Times New Roman Bold"/>
                          <a:ea typeface="Times New Roman Bold"/>
                          <a:cs typeface="Times New Roman Bold"/>
                          <a:sym typeface="Times New Roman Bold"/>
                        </a:rPr>
                        <a:t>ERR</a:t>
                      </a:r>
                      <a:endParaRPr lang="en-US" sz="1100"/>
                    </a:p>
                  </a:txBody>
                  <a:tcPr marL="91440" marR="91440" marT="91440" marB="91440"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FFFFFF"/>
                    </a:solidFill>
                  </a:tcPr>
                </a:tc>
              </a:tr>
              <a:tr h="819150">
                <a:tc>
                  <a:txBody>
                    <a:bodyPr anchor="t" rtlCol="false"/>
                    <a:lstStyle/>
                    <a:p>
                      <a:pPr algn="ctr">
                        <a:lnSpc>
                          <a:spcPts val="2520"/>
                        </a:lnSpc>
                        <a:defRPr/>
                      </a:pPr>
                      <a:r>
                        <a:rPr lang="en-US" sz="2100" b="true">
                          <a:solidFill>
                            <a:srgbClr val="000000"/>
                          </a:solidFill>
                          <a:latin typeface="Times New Roman Bold"/>
                          <a:ea typeface="Times New Roman Bold"/>
                          <a:cs typeface="Times New Roman Bold"/>
                          <a:sym typeface="Times New Roman Bold"/>
                        </a:rPr>
                        <a:t>q1 *</a:t>
                      </a:r>
                      <a:endParaRPr lang="en-US" sz="1100"/>
                    </a:p>
                  </a:txBody>
                  <a:tcPr marL="91440" marR="91440" marT="91440" marB="91440"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FFFFFF"/>
                    </a:solidFill>
                  </a:tcPr>
                </a:tc>
                <a:tc>
                  <a:txBody>
                    <a:bodyPr anchor="t" rtlCol="false"/>
                    <a:lstStyle/>
                    <a:p>
                      <a:pPr algn="ctr">
                        <a:lnSpc>
                          <a:spcPts val="2520"/>
                        </a:lnSpc>
                        <a:defRPr/>
                      </a:pPr>
                      <a:r>
                        <a:rPr lang="en-US" sz="2100" b="true">
                          <a:solidFill>
                            <a:srgbClr val="000000"/>
                          </a:solidFill>
                          <a:latin typeface="Times New Roman Bold"/>
                          <a:ea typeface="Times New Roman Bold"/>
                          <a:cs typeface="Times New Roman Bold"/>
                          <a:sym typeface="Times New Roman Bold"/>
                        </a:rPr>
                        <a:t>q1</a:t>
                      </a:r>
                      <a:endParaRPr lang="en-US" sz="1100"/>
                    </a:p>
                  </a:txBody>
                  <a:tcPr marL="91440" marR="91440" marT="91440" marB="91440"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FFFFFF"/>
                    </a:solidFill>
                  </a:tcPr>
                </a:tc>
                <a:tc>
                  <a:txBody>
                    <a:bodyPr anchor="t" rtlCol="false"/>
                    <a:lstStyle/>
                    <a:p>
                      <a:pPr algn="ctr">
                        <a:lnSpc>
                          <a:spcPts val="2520"/>
                        </a:lnSpc>
                        <a:defRPr/>
                      </a:pPr>
                      <a:r>
                        <a:rPr lang="en-US" sz="2100" b="true">
                          <a:solidFill>
                            <a:srgbClr val="000000"/>
                          </a:solidFill>
                          <a:latin typeface="Times New Roman Bold"/>
                          <a:ea typeface="Times New Roman Bold"/>
                          <a:cs typeface="Times New Roman Bold"/>
                          <a:sym typeface="Times New Roman Bold"/>
                        </a:rPr>
                        <a:t>q1</a:t>
                      </a:r>
                      <a:endParaRPr lang="en-US" sz="1100"/>
                    </a:p>
                  </a:txBody>
                  <a:tcPr marL="91440" marR="91440" marT="91440" marB="91440"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FFFFFF"/>
                    </a:solidFill>
                  </a:tcPr>
                </a:tc>
                <a:tc>
                  <a:txBody>
                    <a:bodyPr anchor="t" rtlCol="false"/>
                    <a:lstStyle/>
                    <a:p>
                      <a:pPr algn="ctr">
                        <a:lnSpc>
                          <a:spcPts val="2520"/>
                        </a:lnSpc>
                        <a:defRPr/>
                      </a:pPr>
                      <a:r>
                        <a:rPr lang="en-US" sz="2100" b="true">
                          <a:solidFill>
                            <a:srgbClr val="000000"/>
                          </a:solidFill>
                          <a:latin typeface="Times New Roman Bold"/>
                          <a:ea typeface="Times New Roman Bold"/>
                          <a:cs typeface="Times New Roman Bold"/>
                          <a:sym typeface="Times New Roman Bold"/>
                        </a:rPr>
                        <a:t>q1</a:t>
                      </a:r>
                      <a:endParaRPr lang="en-US" sz="1100"/>
                    </a:p>
                  </a:txBody>
                  <a:tcPr marL="91440" marR="91440" marT="91440" marB="91440"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FFFFFF"/>
                    </a:solidFill>
                  </a:tcPr>
                </a:tc>
                <a:tc>
                  <a:txBody>
                    <a:bodyPr anchor="t" rtlCol="false"/>
                    <a:lstStyle/>
                    <a:p>
                      <a:pPr algn="ctr">
                        <a:lnSpc>
                          <a:spcPts val="2520"/>
                        </a:lnSpc>
                        <a:defRPr/>
                      </a:pPr>
                      <a:r>
                        <a:rPr lang="en-US" sz="2100" b="true">
                          <a:solidFill>
                            <a:srgbClr val="000000"/>
                          </a:solidFill>
                          <a:latin typeface="Times New Roman Bold"/>
                          <a:ea typeface="Times New Roman Bold"/>
                          <a:cs typeface="Times New Roman Bold"/>
                          <a:sym typeface="Times New Roman Bold"/>
                        </a:rPr>
                        <a:t>END</a:t>
                      </a:r>
                      <a:endParaRPr lang="en-US" sz="1100"/>
                    </a:p>
                  </a:txBody>
                  <a:tcPr marL="91440" marR="91440" marT="91440" marB="91440"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FFFFFF"/>
                    </a:solidFill>
                  </a:tcPr>
                </a:tc>
              </a:tr>
            </a:tbl>
          </a:graphicData>
        </a:graphic>
      </p:graphicFrame>
      <p:sp>
        <p:nvSpPr>
          <p:cNvPr name="TextBox 10" id="10"/>
          <p:cNvSpPr txBox="true"/>
          <p:nvPr/>
        </p:nvSpPr>
        <p:spPr>
          <a:xfrm rot="0">
            <a:off x="960120" y="5467350"/>
            <a:ext cx="7543800" cy="842010"/>
          </a:xfrm>
          <a:prstGeom prst="rect">
            <a:avLst/>
          </a:prstGeom>
        </p:spPr>
        <p:txBody>
          <a:bodyPr anchor="t" rtlCol="false" tIns="0" lIns="0" bIns="0" rIns="0">
            <a:spAutoFit/>
          </a:bodyPr>
          <a:lstStyle/>
          <a:p>
            <a:pPr algn="l">
              <a:lnSpc>
                <a:spcPts val="2160"/>
              </a:lnSpc>
            </a:pPr>
            <a:r>
              <a:rPr lang="en-US" sz="1800">
                <a:solidFill>
                  <a:srgbClr val="000000"/>
                </a:solidFill>
                <a:latin typeface="Times New Roman"/>
                <a:ea typeface="Times New Roman"/>
                <a:cs typeface="Times New Roman"/>
                <a:sym typeface="Times New Roman"/>
              </a:rPr>
              <a:t>* accepting state.  END means stop and emit the token; ERR means reject.</a:t>
            </a:r>
          </a:p>
        </p:txBody>
      </p:sp>
      <p:grpSp>
        <p:nvGrpSpPr>
          <p:cNvPr name="Group 11" id="11"/>
          <p:cNvGrpSpPr/>
          <p:nvPr/>
        </p:nvGrpSpPr>
        <p:grpSpPr>
          <a:xfrm rot="0">
            <a:off x="950595" y="6574155"/>
            <a:ext cx="7562850" cy="2556510"/>
            <a:chOff x="0" y="0"/>
            <a:chExt cx="10083800" cy="3408680"/>
          </a:xfrm>
        </p:grpSpPr>
        <p:sp>
          <p:nvSpPr>
            <p:cNvPr name="Freeform 12" id="12"/>
            <p:cNvSpPr/>
            <p:nvPr/>
          </p:nvSpPr>
          <p:spPr>
            <a:xfrm flipH="false" flipV="false" rot="0">
              <a:off x="0" y="0"/>
              <a:ext cx="10083800" cy="3408680"/>
            </a:xfrm>
            <a:custGeom>
              <a:avLst/>
              <a:gdLst/>
              <a:ahLst/>
              <a:cxnLst/>
              <a:rect r="r" b="b" t="t" l="l"/>
              <a:pathLst>
                <a:path h="3408680" w="10083800">
                  <a:moveTo>
                    <a:pt x="0" y="221107"/>
                  </a:moveTo>
                  <a:cubicBezTo>
                    <a:pt x="0" y="98933"/>
                    <a:pt x="98933" y="0"/>
                    <a:pt x="221107" y="0"/>
                  </a:cubicBezTo>
                  <a:lnTo>
                    <a:pt x="9862693" y="0"/>
                  </a:lnTo>
                  <a:cubicBezTo>
                    <a:pt x="9984867" y="0"/>
                    <a:pt x="10083800" y="98933"/>
                    <a:pt x="10083800" y="221107"/>
                  </a:cubicBezTo>
                  <a:lnTo>
                    <a:pt x="10083800" y="3187573"/>
                  </a:lnTo>
                  <a:cubicBezTo>
                    <a:pt x="10083800" y="3309620"/>
                    <a:pt x="9984867" y="3408680"/>
                    <a:pt x="9862693" y="3408680"/>
                  </a:cubicBezTo>
                  <a:lnTo>
                    <a:pt x="221107" y="3408680"/>
                  </a:lnTo>
                  <a:cubicBezTo>
                    <a:pt x="98933" y="3408680"/>
                    <a:pt x="0" y="3309747"/>
                    <a:pt x="0" y="3187573"/>
                  </a:cubicBezTo>
                  <a:close/>
                </a:path>
              </a:pathLst>
            </a:custGeom>
            <a:solidFill>
              <a:srgbClr val="FFFFFF"/>
            </a:solidFill>
            <a:ln w="19050" cap="sq">
              <a:solidFill>
                <a:srgbClr val="000000"/>
              </a:solidFill>
              <a:prstDash val="solid"/>
              <a:miter/>
            </a:ln>
          </p:spPr>
        </p:sp>
      </p:grpSp>
      <p:sp>
        <p:nvSpPr>
          <p:cNvPr name="TextBox 13" id="13"/>
          <p:cNvSpPr txBox="true"/>
          <p:nvPr/>
        </p:nvSpPr>
        <p:spPr>
          <a:xfrm rot="0">
            <a:off x="1371600" y="6779895"/>
            <a:ext cx="6720840" cy="489585"/>
          </a:xfrm>
          <a:prstGeom prst="rect">
            <a:avLst/>
          </a:prstGeom>
        </p:spPr>
        <p:txBody>
          <a:bodyPr anchor="t" rtlCol="false" tIns="0" lIns="0" bIns="0" rIns="0">
            <a:spAutoFit/>
          </a:bodyPr>
          <a:lstStyle/>
          <a:p>
            <a:pPr algn="l">
              <a:lnSpc>
                <a:spcPts val="2879"/>
              </a:lnSpc>
            </a:pPr>
            <a:r>
              <a:rPr lang="en-US" sz="2400" b="true">
                <a:solidFill>
                  <a:srgbClr val="000000"/>
                </a:solidFill>
                <a:latin typeface="Times New Roman Bold"/>
                <a:ea typeface="Times New Roman Bold"/>
                <a:cs typeface="Times New Roman Bold"/>
                <a:sym typeface="Times New Roman Bold"/>
              </a:rPr>
              <a:t>Why tables work</a:t>
            </a:r>
          </a:p>
        </p:txBody>
      </p:sp>
      <p:sp>
        <p:nvSpPr>
          <p:cNvPr name="TextBox 14" id="14"/>
          <p:cNvSpPr txBox="true"/>
          <p:nvPr/>
        </p:nvSpPr>
        <p:spPr>
          <a:xfrm rot="0">
            <a:off x="1371600" y="7387590"/>
            <a:ext cx="6720840" cy="1527810"/>
          </a:xfrm>
          <a:prstGeom prst="rect">
            <a:avLst/>
          </a:prstGeom>
        </p:spPr>
        <p:txBody>
          <a:bodyPr anchor="t" rtlCol="false" tIns="0" lIns="0" bIns="0" rIns="0">
            <a:spAutoFit/>
          </a:bodyPr>
          <a:lstStyle/>
          <a:p>
            <a:pPr algn="l">
              <a:lnSpc>
                <a:spcPts val="2520"/>
              </a:lnSpc>
            </a:pPr>
            <a:r>
              <a:rPr lang="en-US" sz="2100">
                <a:solidFill>
                  <a:srgbClr val="000000"/>
                </a:solidFill>
                <a:latin typeface="Times New Roman"/>
                <a:ea typeface="Times New Roman"/>
                <a:cs typeface="Times New Roman"/>
                <a:sym typeface="Times New Roman"/>
              </a:rPr>
              <a:t>One array lookup per character, so scanning is O(n) with no backtracking over the input.</a:t>
            </a:r>
          </a:p>
        </p:txBody>
      </p:sp>
      <p:grpSp>
        <p:nvGrpSpPr>
          <p:cNvPr name="Group 15" id="15"/>
          <p:cNvGrpSpPr/>
          <p:nvPr/>
        </p:nvGrpSpPr>
        <p:grpSpPr>
          <a:xfrm rot="0">
            <a:off x="9038272" y="2797492"/>
            <a:ext cx="8299323" cy="6337935"/>
            <a:chOff x="0" y="0"/>
            <a:chExt cx="11065764" cy="8450580"/>
          </a:xfrm>
        </p:grpSpPr>
        <p:sp>
          <p:nvSpPr>
            <p:cNvPr name="Freeform 16" id="16"/>
            <p:cNvSpPr/>
            <p:nvPr/>
          </p:nvSpPr>
          <p:spPr>
            <a:xfrm flipH="false" flipV="false" rot="0">
              <a:off x="0" y="0"/>
              <a:ext cx="11065764" cy="8450580"/>
            </a:xfrm>
            <a:custGeom>
              <a:avLst/>
              <a:gdLst/>
              <a:ahLst/>
              <a:cxnLst/>
              <a:rect r="r" b="b" t="t" l="l"/>
              <a:pathLst>
                <a:path h="8450580" w="11065764">
                  <a:moveTo>
                    <a:pt x="0" y="220472"/>
                  </a:moveTo>
                  <a:cubicBezTo>
                    <a:pt x="0" y="98679"/>
                    <a:pt x="98679" y="0"/>
                    <a:pt x="220472" y="0"/>
                  </a:cubicBezTo>
                  <a:lnTo>
                    <a:pt x="10845292" y="0"/>
                  </a:lnTo>
                  <a:cubicBezTo>
                    <a:pt x="10967085" y="0"/>
                    <a:pt x="11065764" y="98679"/>
                    <a:pt x="11065764" y="220472"/>
                  </a:cubicBezTo>
                  <a:lnTo>
                    <a:pt x="11065764" y="8230108"/>
                  </a:lnTo>
                  <a:cubicBezTo>
                    <a:pt x="11065764" y="8351901"/>
                    <a:pt x="10967085" y="8450580"/>
                    <a:pt x="10845292" y="8450580"/>
                  </a:cubicBezTo>
                  <a:lnTo>
                    <a:pt x="220472" y="8450580"/>
                  </a:lnTo>
                  <a:cubicBezTo>
                    <a:pt x="98679" y="8450580"/>
                    <a:pt x="0" y="8351901"/>
                    <a:pt x="0" y="8230108"/>
                  </a:cubicBezTo>
                  <a:close/>
                </a:path>
              </a:pathLst>
            </a:custGeom>
            <a:solidFill>
              <a:srgbClr val="FFFFFF"/>
            </a:solidFill>
            <a:ln w="28575" cap="sq">
              <a:solidFill>
                <a:srgbClr val="000000"/>
              </a:solidFill>
              <a:prstDash val="solid"/>
              <a:miter/>
            </a:ln>
          </p:spPr>
        </p:sp>
      </p:grpSp>
      <p:sp>
        <p:nvSpPr>
          <p:cNvPr name="TextBox 17" id="17"/>
          <p:cNvSpPr txBox="true"/>
          <p:nvPr/>
        </p:nvSpPr>
        <p:spPr>
          <a:xfrm rot="0">
            <a:off x="9464040" y="3067050"/>
            <a:ext cx="4114800" cy="430530"/>
          </a:xfrm>
          <a:prstGeom prst="rect">
            <a:avLst/>
          </a:prstGeom>
        </p:spPr>
        <p:txBody>
          <a:bodyPr anchor="t" rtlCol="false" tIns="0" lIns="0" bIns="0" rIns="0">
            <a:spAutoFit/>
          </a:bodyPr>
          <a:lstStyle/>
          <a:p>
            <a:pPr algn="l">
              <a:lnSpc>
                <a:spcPts val="2160"/>
              </a:lnSpc>
            </a:pPr>
            <a:r>
              <a:rPr lang="en-US" sz="1800" b="true">
                <a:solidFill>
                  <a:srgbClr val="000000"/>
                </a:solidFill>
                <a:latin typeface="Times New Roman Bold"/>
                <a:ea typeface="Times New Roman Bold"/>
                <a:cs typeface="Times New Roman Bold"/>
                <a:sym typeface="Times New Roman Bold"/>
              </a:rPr>
              <a:t>scanner.py</a:t>
            </a:r>
          </a:p>
        </p:txBody>
      </p:sp>
      <p:sp>
        <p:nvSpPr>
          <p:cNvPr name="TextBox 18" id="18"/>
          <p:cNvSpPr txBox="true"/>
          <p:nvPr/>
        </p:nvSpPr>
        <p:spPr>
          <a:xfrm rot="0">
            <a:off x="9464040" y="3655695"/>
            <a:ext cx="7543800" cy="5122545"/>
          </a:xfrm>
          <a:prstGeom prst="rect">
            <a:avLst/>
          </a:prstGeom>
        </p:spPr>
        <p:txBody>
          <a:bodyPr anchor="t" rtlCol="false" tIns="0" lIns="0" bIns="0" rIns="0">
            <a:spAutoFit/>
          </a:bodyPr>
          <a:lstStyle/>
          <a:p>
            <a:pPr algn="l">
              <a:lnSpc>
                <a:spcPts val="2690"/>
              </a:lnSpc>
            </a:pPr>
            <a:r>
              <a:rPr lang="en-US" sz="1950">
                <a:solidFill>
                  <a:srgbClr val="000000"/>
                </a:solidFill>
                <a:latin typeface="Times New Roman"/>
                <a:ea typeface="Times New Roman"/>
                <a:cs typeface="Times New Roman"/>
                <a:sym typeface="Times New Roman"/>
              </a:rPr>
              <a:t>def next_token(src, i):</a:t>
            </a:r>
          </a:p>
          <a:p>
            <a:pPr algn="l">
              <a:lnSpc>
                <a:spcPts val="2690"/>
              </a:lnSpc>
            </a:pPr>
            <a:r>
              <a:rPr lang="en-US" sz="1950">
                <a:solidFill>
                  <a:srgbClr val="000000"/>
                </a:solidFill>
                <a:latin typeface="Times New Roman"/>
                <a:ea typeface="Times New Roman"/>
                <a:cs typeface="Times New Roman"/>
                <a:sym typeface="Times New Roman"/>
              </a:rPr>
              <a:t>    state, last_ok, j = 0, None, i</a:t>
            </a:r>
          </a:p>
          <a:p>
            <a:pPr algn="l">
              <a:lnSpc>
                <a:spcPts val="2690"/>
              </a:lnSpc>
            </a:pPr>
            <a:r>
              <a:rPr lang="en-US" sz="1950">
                <a:solidFill>
                  <a:srgbClr val="000000"/>
                </a:solidFill>
                <a:latin typeface="Times New Roman"/>
                <a:ea typeface="Times New Roman"/>
                <a:cs typeface="Times New Roman"/>
                <a:sym typeface="Times New Roman"/>
              </a:rPr>
              <a:t>    while j &lt; len(src):</a:t>
            </a:r>
          </a:p>
          <a:p>
            <a:pPr algn="l">
              <a:lnSpc>
                <a:spcPts val="2690"/>
              </a:lnSpc>
            </a:pPr>
            <a:r>
              <a:rPr lang="en-US" sz="1950">
                <a:solidFill>
                  <a:srgbClr val="000000"/>
                </a:solidFill>
                <a:latin typeface="Times New Roman"/>
                <a:ea typeface="Times New Roman"/>
                <a:cs typeface="Times New Roman"/>
                <a:sym typeface="Times New Roman"/>
              </a:rPr>
              <a:t>        nxt = DELTA[state].get(cls(src[j]))</a:t>
            </a:r>
          </a:p>
          <a:p>
            <a:pPr algn="l">
              <a:lnSpc>
                <a:spcPts val="2690"/>
              </a:lnSpc>
            </a:pPr>
            <a:r>
              <a:rPr lang="en-US" sz="1950">
                <a:solidFill>
                  <a:srgbClr val="000000"/>
                </a:solidFill>
                <a:latin typeface="Times New Roman"/>
                <a:ea typeface="Times New Roman"/>
                <a:cs typeface="Times New Roman"/>
                <a:sym typeface="Times New Roman"/>
              </a:rPr>
              <a:t>        if nxt is None:</a:t>
            </a:r>
          </a:p>
          <a:p>
            <a:pPr algn="l">
              <a:lnSpc>
                <a:spcPts val="2690"/>
              </a:lnSpc>
            </a:pPr>
            <a:r>
              <a:rPr lang="en-US" sz="1950">
                <a:solidFill>
                  <a:srgbClr val="000000"/>
                </a:solidFill>
                <a:latin typeface="Times New Roman"/>
                <a:ea typeface="Times New Roman"/>
                <a:cs typeface="Times New Roman"/>
                <a:sym typeface="Times New Roman"/>
              </a:rPr>
              <a:t>            break</a:t>
            </a:r>
          </a:p>
          <a:p>
            <a:pPr algn="l">
              <a:lnSpc>
                <a:spcPts val="2690"/>
              </a:lnSpc>
            </a:pPr>
            <a:r>
              <a:rPr lang="en-US" sz="1950">
                <a:solidFill>
                  <a:srgbClr val="000000"/>
                </a:solidFill>
                <a:latin typeface="Times New Roman"/>
                <a:ea typeface="Times New Roman"/>
                <a:cs typeface="Times New Roman"/>
                <a:sym typeface="Times New Roman"/>
              </a:rPr>
              <a:t>        state, j = nxt, j + 1</a:t>
            </a:r>
          </a:p>
          <a:p>
            <a:pPr algn="l">
              <a:lnSpc>
                <a:spcPts val="2690"/>
              </a:lnSpc>
            </a:pPr>
            <a:r>
              <a:rPr lang="en-US" sz="1950">
                <a:solidFill>
                  <a:srgbClr val="000000"/>
                </a:solidFill>
                <a:latin typeface="Times New Roman"/>
                <a:ea typeface="Times New Roman"/>
                <a:cs typeface="Times New Roman"/>
                <a:sym typeface="Times New Roman"/>
              </a:rPr>
              <a:t>        if state in ACCEPT:</a:t>
            </a:r>
          </a:p>
          <a:p>
            <a:pPr algn="l">
              <a:lnSpc>
                <a:spcPts val="2690"/>
              </a:lnSpc>
            </a:pPr>
            <a:r>
              <a:rPr lang="en-US" sz="1950">
                <a:solidFill>
                  <a:srgbClr val="000000"/>
                </a:solidFill>
                <a:latin typeface="Times New Roman"/>
                <a:ea typeface="Times New Roman"/>
                <a:cs typeface="Times New Roman"/>
                <a:sym typeface="Times New Roman"/>
              </a:rPr>
              <a:t>            last_ok = (state, j)</a:t>
            </a:r>
          </a:p>
          <a:p>
            <a:pPr algn="l">
              <a:lnSpc>
                <a:spcPts val="2690"/>
              </a:lnSpc>
            </a:pPr>
            <a:r>
              <a:rPr lang="en-US" sz="1950">
                <a:solidFill>
                  <a:srgbClr val="000000"/>
                </a:solidFill>
                <a:latin typeface="Times New Roman"/>
                <a:ea typeface="Times New Roman"/>
                <a:cs typeface="Times New Roman"/>
                <a:sym typeface="Times New Roman"/>
              </a:rPr>
              <a:t>    if last_ok is None:</a:t>
            </a:r>
          </a:p>
          <a:p>
            <a:pPr algn="l">
              <a:lnSpc>
                <a:spcPts val="2690"/>
              </a:lnSpc>
            </a:pPr>
            <a:r>
              <a:rPr lang="en-US" sz="1950">
                <a:solidFill>
                  <a:srgbClr val="000000"/>
                </a:solidFill>
                <a:latin typeface="Times New Roman"/>
                <a:ea typeface="Times New Roman"/>
                <a:cs typeface="Times New Roman"/>
                <a:sym typeface="Times New Roman"/>
              </a:rPr>
              <a:t>        raise LexError(i)</a:t>
            </a:r>
          </a:p>
          <a:p>
            <a:pPr algn="l">
              <a:lnSpc>
                <a:spcPts val="2690"/>
              </a:lnSpc>
            </a:pPr>
            <a:r>
              <a:rPr lang="en-US" sz="1950">
                <a:solidFill>
                  <a:srgbClr val="000000"/>
                </a:solidFill>
                <a:latin typeface="Times New Roman"/>
                <a:ea typeface="Times New Roman"/>
                <a:cs typeface="Times New Roman"/>
                <a:sym typeface="Times New Roman"/>
              </a:rPr>
              <a:t>    return last_ok</a:t>
            </a:r>
          </a:p>
        </p:txBody>
      </p:sp>
      <p:sp>
        <p:nvSpPr>
          <p:cNvPr name="TextBox 19" id="19"/>
          <p:cNvSpPr txBox="true"/>
          <p:nvPr/>
        </p:nvSpPr>
        <p:spPr>
          <a:xfrm rot="0">
            <a:off x="16454628" y="9627870"/>
            <a:ext cx="777240" cy="339090"/>
          </a:xfrm>
          <a:prstGeom prst="rect">
            <a:avLst/>
          </a:prstGeom>
        </p:spPr>
        <p:txBody>
          <a:bodyPr anchor="t" rtlCol="false" tIns="0" lIns="0" bIns="0" rIns="0">
            <a:spAutoFit/>
          </a:bodyPr>
          <a:lstStyle/>
          <a:p>
            <a:pPr algn="r">
              <a:lnSpc>
                <a:spcPts val="1800"/>
              </a:lnSpc>
            </a:pPr>
            <a:r>
              <a:rPr lang="en-US" sz="1500">
                <a:solidFill>
                  <a:srgbClr val="000000"/>
                </a:solidFill>
                <a:latin typeface="Times New Roman"/>
                <a:ea typeface="Times New Roman"/>
                <a:cs typeface="Times New Roman"/>
                <a:sym typeface="Times New Roman"/>
              </a:rPr>
              <a:t>9</a:t>
            </a:r>
          </a:p>
        </p:txBody>
      </p:sp>
      <p:sp>
        <p:nvSpPr>
          <p:cNvPr name="Freeform 20" id="20"/>
          <p:cNvSpPr/>
          <p:nvPr/>
        </p:nvSpPr>
        <p:spPr>
          <a:xfrm flipH="false" flipV="false" rot="0">
            <a:off x="15175541" y="55401"/>
            <a:ext cx="2083759" cy="2083759"/>
          </a:xfrm>
          <a:custGeom>
            <a:avLst/>
            <a:gdLst/>
            <a:ahLst/>
            <a:cxnLst/>
            <a:rect r="r" b="b" t="t" l="l"/>
            <a:pathLst>
              <a:path h="2083759" w="2083759">
                <a:moveTo>
                  <a:pt x="0" y="0"/>
                </a:moveTo>
                <a:lnTo>
                  <a:pt x="2083759" y="0"/>
                </a:lnTo>
                <a:lnTo>
                  <a:pt x="2083759" y="2083758"/>
                </a:lnTo>
                <a:lnTo>
                  <a:pt x="0" y="2083758"/>
                </a:lnTo>
                <a:lnTo>
                  <a:pt x="0" y="0"/>
                </a:lnTo>
                <a:close/>
              </a:path>
            </a:pathLst>
          </a:custGeom>
          <a:blipFill>
            <a:blip r:embed="rId4"/>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9601200"/>
            <a:ext cx="8229600" cy="411480"/>
            <a:chOff x="0" y="0"/>
            <a:chExt cx="10972800" cy="548640"/>
          </a:xfrm>
        </p:grpSpPr>
        <p:sp>
          <p:nvSpPr>
            <p:cNvPr name="Freeform 3" id="3"/>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700" r="0" b="-339700"/>
              </a:stretch>
            </a:blipFill>
          </p:spPr>
        </p:sp>
        <p:sp>
          <p:nvSpPr>
            <p:cNvPr name="TextBox 4" id="4"/>
            <p:cNvSpPr txBox="true"/>
            <p:nvPr/>
          </p:nvSpPr>
          <p:spPr>
            <a:xfrm>
              <a:off x="0" y="-19050"/>
              <a:ext cx="10972800" cy="567690"/>
            </a:xfrm>
            <a:prstGeom prst="rect">
              <a:avLst/>
            </a:prstGeom>
          </p:spPr>
          <p:txBody>
            <a:bodyPr anchor="ctr" rtlCol="false" tIns="0" lIns="0" bIns="0" rIns="0"/>
            <a:lstStyle/>
            <a:p>
              <a:pPr algn="l">
                <a:lnSpc>
                  <a:spcPts val="1800"/>
                </a:lnSpc>
              </a:pPr>
              <a:r>
                <a:rPr lang="en-US" sz="1500">
                  <a:solidFill>
                    <a:srgbClr val="000000"/>
                  </a:solidFill>
                  <a:latin typeface="Times New Roman"/>
                  <a:ea typeface="Times New Roman"/>
                  <a:cs typeface="Times New Roman"/>
                  <a:sym typeface="Times New Roman"/>
                </a:rPr>
                <a:t>Building an FSA for Token Recognition</a:t>
              </a:r>
            </a:p>
          </p:txBody>
        </p:sp>
      </p:grpSp>
      <p:grpSp>
        <p:nvGrpSpPr>
          <p:cNvPr name="Group 5" id="5"/>
          <p:cNvGrpSpPr/>
          <p:nvPr/>
        </p:nvGrpSpPr>
        <p:grpSpPr>
          <a:xfrm rot="0">
            <a:off x="960120" y="548640"/>
            <a:ext cx="15361920" cy="1097280"/>
            <a:chOff x="0" y="0"/>
            <a:chExt cx="20482560" cy="1463040"/>
          </a:xfrm>
        </p:grpSpPr>
        <p:sp>
          <p:nvSpPr>
            <p:cNvPr name="Freeform 6" id="6"/>
            <p:cNvSpPr/>
            <p:nvPr/>
          </p:nvSpPr>
          <p:spPr>
            <a:xfrm flipH="false" flipV="false" rot="0">
              <a:off x="0" y="0"/>
              <a:ext cx="20482561" cy="1463040"/>
            </a:xfrm>
            <a:custGeom>
              <a:avLst/>
              <a:gdLst/>
              <a:ahLst/>
              <a:cxnLst/>
              <a:rect r="r" b="b" t="t" l="l"/>
              <a:pathLst>
                <a:path h="1463040" w="20482561">
                  <a:moveTo>
                    <a:pt x="0" y="0"/>
                  </a:moveTo>
                  <a:lnTo>
                    <a:pt x="20482561" y="0"/>
                  </a:lnTo>
                  <a:lnTo>
                    <a:pt x="20482561" y="1463040"/>
                  </a:lnTo>
                  <a:lnTo>
                    <a:pt x="0" y="1463040"/>
                  </a:lnTo>
                  <a:close/>
                </a:path>
              </a:pathLst>
            </a:custGeom>
            <a:blipFill>
              <a:blip r:embed="rId3">
                <a:alphaModFix amt="0"/>
              </a:blip>
              <a:stretch>
                <a:fillRect l="0" t="-222790" r="0" b="-222790"/>
              </a:stretch>
            </a:blipFill>
          </p:spPr>
        </p:sp>
        <p:sp>
          <p:nvSpPr>
            <p:cNvPr name="TextBox 7" id="7"/>
            <p:cNvSpPr txBox="true"/>
            <p:nvPr/>
          </p:nvSpPr>
          <p:spPr>
            <a:xfrm>
              <a:off x="0" y="-28575"/>
              <a:ext cx="20482560" cy="1491615"/>
            </a:xfrm>
            <a:prstGeom prst="rect">
              <a:avLst/>
            </a:prstGeom>
          </p:spPr>
          <p:txBody>
            <a:bodyPr anchor="ctr" rtlCol="false" tIns="0" lIns="0" bIns="0" rIns="0"/>
            <a:lstStyle/>
            <a:p>
              <a:pPr algn="l">
                <a:lnSpc>
                  <a:spcPts val="6120"/>
                </a:lnSpc>
              </a:pPr>
              <a:r>
                <a:rPr lang="en-US" sz="5100" b="true">
                  <a:solidFill>
                    <a:srgbClr val="000000"/>
                  </a:solidFill>
                  <a:latin typeface="Times New Roman Bold"/>
                  <a:ea typeface="Times New Roman Bold"/>
                  <a:cs typeface="Times New Roman Bold"/>
                  <a:sym typeface="Times New Roman Bold"/>
                </a:rPr>
                <a:t>Key takeaways</a:t>
              </a:r>
            </a:p>
          </p:txBody>
        </p:sp>
      </p:grpSp>
      <p:grpSp>
        <p:nvGrpSpPr>
          <p:cNvPr name="Group 8" id="8"/>
          <p:cNvGrpSpPr/>
          <p:nvPr/>
        </p:nvGrpSpPr>
        <p:grpSpPr>
          <a:xfrm rot="0">
            <a:off x="950595" y="2390775"/>
            <a:ext cx="7994904" cy="2556510"/>
            <a:chOff x="0" y="0"/>
            <a:chExt cx="10659872" cy="3408680"/>
          </a:xfrm>
        </p:grpSpPr>
        <p:sp>
          <p:nvSpPr>
            <p:cNvPr name="Freeform 9" id="9"/>
            <p:cNvSpPr/>
            <p:nvPr/>
          </p:nvSpPr>
          <p:spPr>
            <a:xfrm flipH="false" flipV="false" rot="0">
              <a:off x="0" y="0"/>
              <a:ext cx="10659872" cy="3408680"/>
            </a:xfrm>
            <a:custGeom>
              <a:avLst/>
              <a:gdLst/>
              <a:ahLst/>
              <a:cxnLst/>
              <a:rect r="r" b="b" t="t" l="l"/>
              <a:pathLst>
                <a:path h="3408680" w="10659872">
                  <a:moveTo>
                    <a:pt x="0" y="221107"/>
                  </a:moveTo>
                  <a:cubicBezTo>
                    <a:pt x="0" y="98933"/>
                    <a:pt x="98933" y="0"/>
                    <a:pt x="221107" y="0"/>
                  </a:cubicBezTo>
                  <a:lnTo>
                    <a:pt x="10438765" y="0"/>
                  </a:lnTo>
                  <a:cubicBezTo>
                    <a:pt x="10560812" y="0"/>
                    <a:pt x="10659872" y="98933"/>
                    <a:pt x="10659872" y="221107"/>
                  </a:cubicBezTo>
                  <a:lnTo>
                    <a:pt x="10659872" y="3187573"/>
                  </a:lnTo>
                  <a:cubicBezTo>
                    <a:pt x="10659872" y="3309620"/>
                    <a:pt x="10560939" y="3408680"/>
                    <a:pt x="10438765" y="3408680"/>
                  </a:cubicBezTo>
                  <a:lnTo>
                    <a:pt x="221107" y="3408680"/>
                  </a:lnTo>
                  <a:cubicBezTo>
                    <a:pt x="98933" y="3408680"/>
                    <a:pt x="0" y="3309747"/>
                    <a:pt x="0" y="3187573"/>
                  </a:cubicBezTo>
                  <a:close/>
                </a:path>
              </a:pathLst>
            </a:custGeom>
            <a:solidFill>
              <a:srgbClr val="FFFFFF"/>
            </a:solidFill>
            <a:ln w="19050" cap="sq">
              <a:solidFill>
                <a:srgbClr val="000000"/>
              </a:solidFill>
              <a:prstDash val="solid"/>
              <a:miter/>
            </a:ln>
          </p:spPr>
        </p:sp>
      </p:grpSp>
      <p:grpSp>
        <p:nvGrpSpPr>
          <p:cNvPr name="Group 10" id="10"/>
          <p:cNvGrpSpPr/>
          <p:nvPr/>
        </p:nvGrpSpPr>
        <p:grpSpPr>
          <a:xfrm rot="0">
            <a:off x="1352550" y="2792730"/>
            <a:ext cx="861060" cy="861060"/>
            <a:chOff x="0" y="0"/>
            <a:chExt cx="1148080" cy="1148080"/>
          </a:xfrm>
        </p:grpSpPr>
        <p:sp>
          <p:nvSpPr>
            <p:cNvPr name="Freeform 11" id="11"/>
            <p:cNvSpPr/>
            <p:nvPr/>
          </p:nvSpPr>
          <p:spPr>
            <a:xfrm flipH="false" flipV="false" rot="0">
              <a:off x="0" y="0"/>
              <a:ext cx="1148080" cy="1148080"/>
            </a:xfrm>
            <a:custGeom>
              <a:avLst/>
              <a:gdLst/>
              <a:ahLst/>
              <a:cxnLst/>
              <a:rect r="r" b="b" t="t" l="l"/>
              <a:pathLst>
                <a:path h="1148080" w="1148080">
                  <a:moveTo>
                    <a:pt x="0" y="574040"/>
                  </a:moveTo>
                  <a:cubicBezTo>
                    <a:pt x="0" y="257048"/>
                    <a:pt x="257048" y="0"/>
                    <a:pt x="574040" y="0"/>
                  </a:cubicBezTo>
                  <a:cubicBezTo>
                    <a:pt x="891032" y="0"/>
                    <a:pt x="1148080" y="257048"/>
                    <a:pt x="1148080" y="574040"/>
                  </a:cubicBezTo>
                  <a:cubicBezTo>
                    <a:pt x="1148080" y="891032"/>
                    <a:pt x="891032" y="1148080"/>
                    <a:pt x="574040" y="1148080"/>
                  </a:cubicBezTo>
                  <a:cubicBezTo>
                    <a:pt x="257048" y="1148080"/>
                    <a:pt x="0" y="891032"/>
                    <a:pt x="0" y="574040"/>
                  </a:cubicBezTo>
                  <a:close/>
                </a:path>
              </a:pathLst>
            </a:custGeom>
            <a:solidFill>
              <a:srgbClr val="FFFFFF"/>
            </a:solidFill>
            <a:ln w="38100" cap="sq">
              <a:solidFill>
                <a:srgbClr val="000000"/>
              </a:solidFill>
              <a:prstDash val="solid"/>
              <a:miter/>
            </a:ln>
          </p:spPr>
        </p:sp>
      </p:grpSp>
      <p:grpSp>
        <p:nvGrpSpPr>
          <p:cNvPr name="Group 12" id="12"/>
          <p:cNvGrpSpPr/>
          <p:nvPr/>
        </p:nvGrpSpPr>
        <p:grpSpPr>
          <a:xfrm rot="0">
            <a:off x="1371600" y="2811780"/>
            <a:ext cx="822960" cy="822960"/>
            <a:chOff x="0" y="0"/>
            <a:chExt cx="1097280" cy="1097280"/>
          </a:xfrm>
        </p:grpSpPr>
        <p:sp>
          <p:nvSpPr>
            <p:cNvPr name="Freeform 13" id="13"/>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3">
                <a:alphaModFix amt="0"/>
              </a:blip>
              <a:stretch>
                <a:fillRect l="-78303" t="0" r="-78303" b="0"/>
              </a:stretch>
            </a:blipFill>
          </p:spPr>
        </p:sp>
        <p:sp>
          <p:nvSpPr>
            <p:cNvPr name="TextBox 14" id="14"/>
            <p:cNvSpPr txBox="true"/>
            <p:nvPr/>
          </p:nvSpPr>
          <p:spPr>
            <a:xfrm>
              <a:off x="0" y="-19050"/>
              <a:ext cx="1097280" cy="1116330"/>
            </a:xfrm>
            <a:prstGeom prst="rect">
              <a:avLst/>
            </a:prstGeom>
          </p:spPr>
          <p:txBody>
            <a:bodyPr anchor="ctr" rtlCol="false" tIns="0" lIns="0" bIns="0" rIns="0"/>
            <a:lstStyle/>
            <a:p>
              <a:pPr algn="ctr">
                <a:lnSpc>
                  <a:spcPts val="3240"/>
                </a:lnSpc>
              </a:pPr>
              <a:r>
                <a:rPr lang="en-US" sz="2700" b="true">
                  <a:solidFill>
                    <a:srgbClr val="000000"/>
                  </a:solidFill>
                  <a:latin typeface="Times New Roman Bold"/>
                  <a:ea typeface="Times New Roman Bold"/>
                  <a:cs typeface="Times New Roman Bold"/>
                  <a:sym typeface="Times New Roman Bold"/>
                </a:rPr>
                <a:t>1</a:t>
              </a:r>
            </a:p>
          </p:txBody>
        </p:sp>
      </p:grpSp>
      <p:grpSp>
        <p:nvGrpSpPr>
          <p:cNvPr name="Group 15" id="15"/>
          <p:cNvGrpSpPr/>
          <p:nvPr/>
        </p:nvGrpSpPr>
        <p:grpSpPr>
          <a:xfrm rot="0">
            <a:off x="2537460" y="2811780"/>
            <a:ext cx="5987034" cy="822960"/>
            <a:chOff x="0" y="0"/>
            <a:chExt cx="7982712" cy="1097280"/>
          </a:xfrm>
        </p:grpSpPr>
        <p:sp>
          <p:nvSpPr>
            <p:cNvPr name="Freeform 16" id="16"/>
            <p:cNvSpPr/>
            <p:nvPr/>
          </p:nvSpPr>
          <p:spPr>
            <a:xfrm flipH="false" flipV="false" rot="0">
              <a:off x="0" y="0"/>
              <a:ext cx="7982712" cy="1097280"/>
            </a:xfrm>
            <a:custGeom>
              <a:avLst/>
              <a:gdLst/>
              <a:ahLst/>
              <a:cxnLst/>
              <a:rect r="r" b="b" t="t" l="l"/>
              <a:pathLst>
                <a:path h="1097280" w="7982712">
                  <a:moveTo>
                    <a:pt x="0" y="0"/>
                  </a:moveTo>
                  <a:lnTo>
                    <a:pt x="7982712" y="0"/>
                  </a:lnTo>
                  <a:lnTo>
                    <a:pt x="7982712" y="1097280"/>
                  </a:lnTo>
                  <a:lnTo>
                    <a:pt x="0" y="1097280"/>
                  </a:lnTo>
                  <a:close/>
                </a:path>
              </a:pathLst>
            </a:custGeom>
            <a:blipFill>
              <a:blip r:embed="rId3">
                <a:alphaModFix amt="0"/>
              </a:blip>
              <a:stretch>
                <a:fillRect l="0" t="-91753" r="0" b="-91753"/>
              </a:stretch>
            </a:blipFill>
          </p:spPr>
        </p:sp>
        <p:sp>
          <p:nvSpPr>
            <p:cNvPr name="TextBox 17" id="17"/>
            <p:cNvSpPr txBox="true"/>
            <p:nvPr/>
          </p:nvSpPr>
          <p:spPr>
            <a:xfrm>
              <a:off x="0" y="-19050"/>
              <a:ext cx="7982712" cy="1116330"/>
            </a:xfrm>
            <a:prstGeom prst="rect">
              <a:avLst/>
            </a:prstGeom>
          </p:spPr>
          <p:txBody>
            <a:bodyPr anchor="ctr" rtlCol="false" tIns="0" lIns="0" bIns="0" rIns="0"/>
            <a:lstStyle/>
            <a:p>
              <a:pPr algn="l">
                <a:lnSpc>
                  <a:spcPts val="3960"/>
                </a:lnSpc>
              </a:pPr>
              <a:r>
                <a:rPr lang="en-US" sz="3300" b="true">
                  <a:solidFill>
                    <a:srgbClr val="000000"/>
                  </a:solidFill>
                  <a:latin typeface="Times New Roman Bold"/>
                  <a:ea typeface="Times New Roman Bold"/>
                  <a:cs typeface="Times New Roman Bold"/>
                  <a:sym typeface="Times New Roman Bold"/>
                </a:rPr>
                <a:t>Tokens are regular</a:t>
              </a:r>
            </a:p>
          </p:txBody>
        </p:sp>
      </p:grpSp>
      <p:sp>
        <p:nvSpPr>
          <p:cNvPr name="TextBox 18" id="18"/>
          <p:cNvSpPr txBox="true"/>
          <p:nvPr/>
        </p:nvSpPr>
        <p:spPr>
          <a:xfrm rot="0">
            <a:off x="1371600" y="3821430"/>
            <a:ext cx="7152894" cy="979170"/>
          </a:xfrm>
          <a:prstGeom prst="rect">
            <a:avLst/>
          </a:prstGeom>
        </p:spPr>
        <p:txBody>
          <a:bodyPr anchor="t" rtlCol="false" tIns="0" lIns="0" bIns="0" rIns="0">
            <a:spAutoFit/>
          </a:bodyPr>
          <a:lstStyle/>
          <a:p>
            <a:pPr algn="l">
              <a:lnSpc>
                <a:spcPts val="2520"/>
              </a:lnSpc>
            </a:pPr>
            <a:r>
              <a:rPr lang="en-US" sz="2100">
                <a:solidFill>
                  <a:srgbClr val="000000"/>
                </a:solidFill>
                <a:latin typeface="Times New Roman"/>
                <a:ea typeface="Times New Roman"/>
                <a:cs typeface="Times New Roman"/>
                <a:sym typeface="Times New Roman"/>
              </a:rPr>
              <a:t>Each token class is a regular expression, so a finite automaton can recognise it.</a:t>
            </a:r>
          </a:p>
        </p:txBody>
      </p:sp>
      <p:grpSp>
        <p:nvGrpSpPr>
          <p:cNvPr name="Group 19" id="19"/>
          <p:cNvGrpSpPr/>
          <p:nvPr/>
        </p:nvGrpSpPr>
        <p:grpSpPr>
          <a:xfrm rot="0">
            <a:off x="9337929" y="2390775"/>
            <a:ext cx="7994904" cy="2556510"/>
            <a:chOff x="0" y="0"/>
            <a:chExt cx="10659872" cy="3408680"/>
          </a:xfrm>
        </p:grpSpPr>
        <p:sp>
          <p:nvSpPr>
            <p:cNvPr name="Freeform 20" id="20"/>
            <p:cNvSpPr/>
            <p:nvPr/>
          </p:nvSpPr>
          <p:spPr>
            <a:xfrm flipH="false" flipV="false" rot="0">
              <a:off x="0" y="0"/>
              <a:ext cx="10659872" cy="3408680"/>
            </a:xfrm>
            <a:custGeom>
              <a:avLst/>
              <a:gdLst/>
              <a:ahLst/>
              <a:cxnLst/>
              <a:rect r="r" b="b" t="t" l="l"/>
              <a:pathLst>
                <a:path h="3408680" w="10659872">
                  <a:moveTo>
                    <a:pt x="0" y="221107"/>
                  </a:moveTo>
                  <a:cubicBezTo>
                    <a:pt x="0" y="98933"/>
                    <a:pt x="98933" y="0"/>
                    <a:pt x="221107" y="0"/>
                  </a:cubicBezTo>
                  <a:lnTo>
                    <a:pt x="10438765" y="0"/>
                  </a:lnTo>
                  <a:cubicBezTo>
                    <a:pt x="10560812" y="0"/>
                    <a:pt x="10659872" y="98933"/>
                    <a:pt x="10659872" y="221107"/>
                  </a:cubicBezTo>
                  <a:lnTo>
                    <a:pt x="10659872" y="3187573"/>
                  </a:lnTo>
                  <a:cubicBezTo>
                    <a:pt x="10659872" y="3309620"/>
                    <a:pt x="10560939" y="3408680"/>
                    <a:pt x="10438765" y="3408680"/>
                  </a:cubicBezTo>
                  <a:lnTo>
                    <a:pt x="221107" y="3408680"/>
                  </a:lnTo>
                  <a:cubicBezTo>
                    <a:pt x="98933" y="3408680"/>
                    <a:pt x="0" y="3309747"/>
                    <a:pt x="0" y="3187573"/>
                  </a:cubicBezTo>
                  <a:close/>
                </a:path>
              </a:pathLst>
            </a:custGeom>
            <a:solidFill>
              <a:srgbClr val="FFFFFF"/>
            </a:solidFill>
            <a:ln w="19050" cap="sq">
              <a:solidFill>
                <a:srgbClr val="000000"/>
              </a:solidFill>
              <a:prstDash val="solid"/>
              <a:miter/>
            </a:ln>
          </p:spPr>
        </p:sp>
      </p:grpSp>
      <p:grpSp>
        <p:nvGrpSpPr>
          <p:cNvPr name="Group 21" id="21"/>
          <p:cNvGrpSpPr/>
          <p:nvPr/>
        </p:nvGrpSpPr>
        <p:grpSpPr>
          <a:xfrm rot="0">
            <a:off x="9739884" y="2792730"/>
            <a:ext cx="861060" cy="861060"/>
            <a:chOff x="0" y="0"/>
            <a:chExt cx="1148080" cy="1148080"/>
          </a:xfrm>
        </p:grpSpPr>
        <p:sp>
          <p:nvSpPr>
            <p:cNvPr name="Freeform 22" id="22"/>
            <p:cNvSpPr/>
            <p:nvPr/>
          </p:nvSpPr>
          <p:spPr>
            <a:xfrm flipH="false" flipV="false" rot="0">
              <a:off x="0" y="0"/>
              <a:ext cx="1148080" cy="1148080"/>
            </a:xfrm>
            <a:custGeom>
              <a:avLst/>
              <a:gdLst/>
              <a:ahLst/>
              <a:cxnLst/>
              <a:rect r="r" b="b" t="t" l="l"/>
              <a:pathLst>
                <a:path h="1148080" w="1148080">
                  <a:moveTo>
                    <a:pt x="0" y="574040"/>
                  </a:moveTo>
                  <a:cubicBezTo>
                    <a:pt x="0" y="257048"/>
                    <a:pt x="257048" y="0"/>
                    <a:pt x="574040" y="0"/>
                  </a:cubicBezTo>
                  <a:cubicBezTo>
                    <a:pt x="891032" y="0"/>
                    <a:pt x="1148080" y="257048"/>
                    <a:pt x="1148080" y="574040"/>
                  </a:cubicBezTo>
                  <a:cubicBezTo>
                    <a:pt x="1148080" y="891032"/>
                    <a:pt x="891032" y="1148080"/>
                    <a:pt x="574040" y="1148080"/>
                  </a:cubicBezTo>
                  <a:cubicBezTo>
                    <a:pt x="257048" y="1148080"/>
                    <a:pt x="0" y="891032"/>
                    <a:pt x="0" y="574040"/>
                  </a:cubicBezTo>
                  <a:close/>
                </a:path>
              </a:pathLst>
            </a:custGeom>
            <a:solidFill>
              <a:srgbClr val="FFFFFF"/>
            </a:solidFill>
            <a:ln w="38100" cap="sq">
              <a:solidFill>
                <a:srgbClr val="000000"/>
              </a:solidFill>
              <a:prstDash val="solid"/>
              <a:miter/>
            </a:ln>
          </p:spPr>
        </p:sp>
      </p:grpSp>
      <p:grpSp>
        <p:nvGrpSpPr>
          <p:cNvPr name="Group 23" id="23"/>
          <p:cNvGrpSpPr/>
          <p:nvPr/>
        </p:nvGrpSpPr>
        <p:grpSpPr>
          <a:xfrm rot="0">
            <a:off x="9758934" y="2811780"/>
            <a:ext cx="822960" cy="822960"/>
            <a:chOff x="0" y="0"/>
            <a:chExt cx="1097280" cy="1097280"/>
          </a:xfrm>
        </p:grpSpPr>
        <p:sp>
          <p:nvSpPr>
            <p:cNvPr name="Freeform 24" id="24"/>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3">
                <a:alphaModFix amt="0"/>
              </a:blip>
              <a:stretch>
                <a:fillRect l="-78303" t="0" r="-78303" b="0"/>
              </a:stretch>
            </a:blipFill>
          </p:spPr>
        </p:sp>
        <p:sp>
          <p:nvSpPr>
            <p:cNvPr name="TextBox 25" id="25"/>
            <p:cNvSpPr txBox="true"/>
            <p:nvPr/>
          </p:nvSpPr>
          <p:spPr>
            <a:xfrm>
              <a:off x="0" y="-19050"/>
              <a:ext cx="1097280" cy="1116330"/>
            </a:xfrm>
            <a:prstGeom prst="rect">
              <a:avLst/>
            </a:prstGeom>
          </p:spPr>
          <p:txBody>
            <a:bodyPr anchor="ctr" rtlCol="false" tIns="0" lIns="0" bIns="0" rIns="0"/>
            <a:lstStyle/>
            <a:p>
              <a:pPr algn="ctr">
                <a:lnSpc>
                  <a:spcPts val="3240"/>
                </a:lnSpc>
              </a:pPr>
              <a:r>
                <a:rPr lang="en-US" sz="2700" b="true">
                  <a:solidFill>
                    <a:srgbClr val="000000"/>
                  </a:solidFill>
                  <a:latin typeface="Times New Roman Bold"/>
                  <a:ea typeface="Times New Roman Bold"/>
                  <a:cs typeface="Times New Roman Bold"/>
                  <a:sym typeface="Times New Roman Bold"/>
                </a:rPr>
                <a:t>2</a:t>
              </a:r>
            </a:p>
          </p:txBody>
        </p:sp>
      </p:grpSp>
      <p:grpSp>
        <p:nvGrpSpPr>
          <p:cNvPr name="Group 26" id="26"/>
          <p:cNvGrpSpPr/>
          <p:nvPr/>
        </p:nvGrpSpPr>
        <p:grpSpPr>
          <a:xfrm rot="0">
            <a:off x="10924794" y="2811780"/>
            <a:ext cx="5987034" cy="822960"/>
            <a:chOff x="0" y="0"/>
            <a:chExt cx="7982712" cy="1097280"/>
          </a:xfrm>
        </p:grpSpPr>
        <p:sp>
          <p:nvSpPr>
            <p:cNvPr name="Freeform 27" id="27"/>
            <p:cNvSpPr/>
            <p:nvPr/>
          </p:nvSpPr>
          <p:spPr>
            <a:xfrm flipH="false" flipV="false" rot="0">
              <a:off x="0" y="0"/>
              <a:ext cx="7982712" cy="1097280"/>
            </a:xfrm>
            <a:custGeom>
              <a:avLst/>
              <a:gdLst/>
              <a:ahLst/>
              <a:cxnLst/>
              <a:rect r="r" b="b" t="t" l="l"/>
              <a:pathLst>
                <a:path h="1097280" w="7982712">
                  <a:moveTo>
                    <a:pt x="0" y="0"/>
                  </a:moveTo>
                  <a:lnTo>
                    <a:pt x="7982712" y="0"/>
                  </a:lnTo>
                  <a:lnTo>
                    <a:pt x="7982712" y="1097280"/>
                  </a:lnTo>
                  <a:lnTo>
                    <a:pt x="0" y="1097280"/>
                  </a:lnTo>
                  <a:close/>
                </a:path>
              </a:pathLst>
            </a:custGeom>
            <a:blipFill>
              <a:blip r:embed="rId3">
                <a:alphaModFix amt="0"/>
              </a:blip>
              <a:stretch>
                <a:fillRect l="0" t="-91753" r="0" b="-91753"/>
              </a:stretch>
            </a:blipFill>
          </p:spPr>
        </p:sp>
        <p:sp>
          <p:nvSpPr>
            <p:cNvPr name="TextBox 28" id="28"/>
            <p:cNvSpPr txBox="true"/>
            <p:nvPr/>
          </p:nvSpPr>
          <p:spPr>
            <a:xfrm>
              <a:off x="0" y="-19050"/>
              <a:ext cx="7982712" cy="1116330"/>
            </a:xfrm>
            <a:prstGeom prst="rect">
              <a:avLst/>
            </a:prstGeom>
          </p:spPr>
          <p:txBody>
            <a:bodyPr anchor="ctr" rtlCol="false" tIns="0" lIns="0" bIns="0" rIns="0"/>
            <a:lstStyle/>
            <a:p>
              <a:pPr algn="l">
                <a:lnSpc>
                  <a:spcPts val="3960"/>
                </a:lnSpc>
              </a:pPr>
              <a:r>
                <a:rPr lang="en-US" sz="3300" b="true">
                  <a:solidFill>
                    <a:srgbClr val="000000"/>
                  </a:solidFill>
                  <a:latin typeface="Times New Roman Bold"/>
                  <a:ea typeface="Times New Roman Bold"/>
                  <a:cs typeface="Times New Roman Bold"/>
                  <a:sym typeface="Times New Roman Bold"/>
                </a:rPr>
                <a:t>States are memory</a:t>
              </a:r>
            </a:p>
          </p:txBody>
        </p:sp>
      </p:grpSp>
      <p:sp>
        <p:nvSpPr>
          <p:cNvPr name="TextBox 29" id="29"/>
          <p:cNvSpPr txBox="true"/>
          <p:nvPr/>
        </p:nvSpPr>
        <p:spPr>
          <a:xfrm rot="0">
            <a:off x="9758934" y="3821430"/>
            <a:ext cx="7152894" cy="979170"/>
          </a:xfrm>
          <a:prstGeom prst="rect">
            <a:avLst/>
          </a:prstGeom>
        </p:spPr>
        <p:txBody>
          <a:bodyPr anchor="t" rtlCol="false" tIns="0" lIns="0" bIns="0" rIns="0">
            <a:spAutoFit/>
          </a:bodyPr>
          <a:lstStyle/>
          <a:p>
            <a:pPr algn="l">
              <a:lnSpc>
                <a:spcPts val="2520"/>
              </a:lnSpc>
            </a:pPr>
            <a:r>
              <a:rPr lang="en-US" sz="2100">
                <a:solidFill>
                  <a:srgbClr val="000000"/>
                </a:solidFill>
                <a:latin typeface="Times New Roman"/>
                <a:ea typeface="Times New Roman"/>
                <a:cs typeface="Times New Roman"/>
                <a:sym typeface="Times New Roman"/>
              </a:rPr>
              <a:t>The current state is all the lexer remembers about the token in progress.</a:t>
            </a:r>
          </a:p>
        </p:txBody>
      </p:sp>
      <p:grpSp>
        <p:nvGrpSpPr>
          <p:cNvPr name="Group 30" id="30"/>
          <p:cNvGrpSpPr/>
          <p:nvPr/>
        </p:nvGrpSpPr>
        <p:grpSpPr>
          <a:xfrm rot="0">
            <a:off x="950595" y="5271135"/>
            <a:ext cx="7994904" cy="2556510"/>
            <a:chOff x="0" y="0"/>
            <a:chExt cx="10659872" cy="3408680"/>
          </a:xfrm>
        </p:grpSpPr>
        <p:sp>
          <p:nvSpPr>
            <p:cNvPr name="Freeform 31" id="31"/>
            <p:cNvSpPr/>
            <p:nvPr/>
          </p:nvSpPr>
          <p:spPr>
            <a:xfrm flipH="false" flipV="false" rot="0">
              <a:off x="0" y="0"/>
              <a:ext cx="10659872" cy="3408680"/>
            </a:xfrm>
            <a:custGeom>
              <a:avLst/>
              <a:gdLst/>
              <a:ahLst/>
              <a:cxnLst/>
              <a:rect r="r" b="b" t="t" l="l"/>
              <a:pathLst>
                <a:path h="3408680" w="10659872">
                  <a:moveTo>
                    <a:pt x="0" y="221107"/>
                  </a:moveTo>
                  <a:cubicBezTo>
                    <a:pt x="0" y="98933"/>
                    <a:pt x="98933" y="0"/>
                    <a:pt x="221107" y="0"/>
                  </a:cubicBezTo>
                  <a:lnTo>
                    <a:pt x="10438765" y="0"/>
                  </a:lnTo>
                  <a:cubicBezTo>
                    <a:pt x="10560812" y="0"/>
                    <a:pt x="10659872" y="98933"/>
                    <a:pt x="10659872" y="221107"/>
                  </a:cubicBezTo>
                  <a:lnTo>
                    <a:pt x="10659872" y="3187573"/>
                  </a:lnTo>
                  <a:cubicBezTo>
                    <a:pt x="10659872" y="3309620"/>
                    <a:pt x="10560939" y="3408680"/>
                    <a:pt x="10438765" y="3408680"/>
                  </a:cubicBezTo>
                  <a:lnTo>
                    <a:pt x="221107" y="3408680"/>
                  </a:lnTo>
                  <a:cubicBezTo>
                    <a:pt x="98933" y="3408680"/>
                    <a:pt x="0" y="3309747"/>
                    <a:pt x="0" y="3187573"/>
                  </a:cubicBezTo>
                  <a:close/>
                </a:path>
              </a:pathLst>
            </a:custGeom>
            <a:solidFill>
              <a:srgbClr val="FFFFFF"/>
            </a:solidFill>
            <a:ln w="19050" cap="sq">
              <a:solidFill>
                <a:srgbClr val="000000"/>
              </a:solidFill>
              <a:prstDash val="solid"/>
              <a:miter/>
            </a:ln>
          </p:spPr>
        </p:sp>
      </p:grpSp>
      <p:grpSp>
        <p:nvGrpSpPr>
          <p:cNvPr name="Group 32" id="32"/>
          <p:cNvGrpSpPr/>
          <p:nvPr/>
        </p:nvGrpSpPr>
        <p:grpSpPr>
          <a:xfrm rot="0">
            <a:off x="1352550" y="5673090"/>
            <a:ext cx="861060" cy="861060"/>
            <a:chOff x="0" y="0"/>
            <a:chExt cx="1148080" cy="1148080"/>
          </a:xfrm>
        </p:grpSpPr>
        <p:sp>
          <p:nvSpPr>
            <p:cNvPr name="Freeform 33" id="33"/>
            <p:cNvSpPr/>
            <p:nvPr/>
          </p:nvSpPr>
          <p:spPr>
            <a:xfrm flipH="false" flipV="false" rot="0">
              <a:off x="0" y="0"/>
              <a:ext cx="1148080" cy="1148080"/>
            </a:xfrm>
            <a:custGeom>
              <a:avLst/>
              <a:gdLst/>
              <a:ahLst/>
              <a:cxnLst/>
              <a:rect r="r" b="b" t="t" l="l"/>
              <a:pathLst>
                <a:path h="1148080" w="1148080">
                  <a:moveTo>
                    <a:pt x="0" y="574040"/>
                  </a:moveTo>
                  <a:cubicBezTo>
                    <a:pt x="0" y="257048"/>
                    <a:pt x="257048" y="0"/>
                    <a:pt x="574040" y="0"/>
                  </a:cubicBezTo>
                  <a:cubicBezTo>
                    <a:pt x="891032" y="0"/>
                    <a:pt x="1148080" y="257048"/>
                    <a:pt x="1148080" y="574040"/>
                  </a:cubicBezTo>
                  <a:cubicBezTo>
                    <a:pt x="1148080" y="891032"/>
                    <a:pt x="891032" y="1148080"/>
                    <a:pt x="574040" y="1148080"/>
                  </a:cubicBezTo>
                  <a:cubicBezTo>
                    <a:pt x="257048" y="1148080"/>
                    <a:pt x="0" y="891032"/>
                    <a:pt x="0" y="574040"/>
                  </a:cubicBezTo>
                  <a:close/>
                </a:path>
              </a:pathLst>
            </a:custGeom>
            <a:solidFill>
              <a:srgbClr val="FFFFFF"/>
            </a:solidFill>
            <a:ln w="38100" cap="sq">
              <a:solidFill>
                <a:srgbClr val="000000"/>
              </a:solidFill>
              <a:prstDash val="solid"/>
              <a:miter/>
            </a:ln>
          </p:spPr>
        </p:sp>
      </p:grpSp>
      <p:grpSp>
        <p:nvGrpSpPr>
          <p:cNvPr name="Group 34" id="34"/>
          <p:cNvGrpSpPr/>
          <p:nvPr/>
        </p:nvGrpSpPr>
        <p:grpSpPr>
          <a:xfrm rot="0">
            <a:off x="1371600" y="5692140"/>
            <a:ext cx="822960" cy="822960"/>
            <a:chOff x="0" y="0"/>
            <a:chExt cx="1097280" cy="1097280"/>
          </a:xfrm>
        </p:grpSpPr>
        <p:sp>
          <p:nvSpPr>
            <p:cNvPr name="Freeform 35" id="35"/>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3">
                <a:alphaModFix amt="0"/>
              </a:blip>
              <a:stretch>
                <a:fillRect l="-78303" t="0" r="-78303" b="0"/>
              </a:stretch>
            </a:blipFill>
          </p:spPr>
        </p:sp>
        <p:sp>
          <p:nvSpPr>
            <p:cNvPr name="TextBox 36" id="36"/>
            <p:cNvSpPr txBox="true"/>
            <p:nvPr/>
          </p:nvSpPr>
          <p:spPr>
            <a:xfrm>
              <a:off x="0" y="-19050"/>
              <a:ext cx="1097280" cy="1116330"/>
            </a:xfrm>
            <a:prstGeom prst="rect">
              <a:avLst/>
            </a:prstGeom>
          </p:spPr>
          <p:txBody>
            <a:bodyPr anchor="ctr" rtlCol="false" tIns="0" lIns="0" bIns="0" rIns="0"/>
            <a:lstStyle/>
            <a:p>
              <a:pPr algn="ctr">
                <a:lnSpc>
                  <a:spcPts val="3240"/>
                </a:lnSpc>
              </a:pPr>
              <a:r>
                <a:rPr lang="en-US" sz="2700" b="true">
                  <a:solidFill>
                    <a:srgbClr val="000000"/>
                  </a:solidFill>
                  <a:latin typeface="Times New Roman Bold"/>
                  <a:ea typeface="Times New Roman Bold"/>
                  <a:cs typeface="Times New Roman Bold"/>
                  <a:sym typeface="Times New Roman Bold"/>
                </a:rPr>
                <a:t>3</a:t>
              </a:r>
            </a:p>
          </p:txBody>
        </p:sp>
      </p:grpSp>
      <p:grpSp>
        <p:nvGrpSpPr>
          <p:cNvPr name="Group 37" id="37"/>
          <p:cNvGrpSpPr/>
          <p:nvPr/>
        </p:nvGrpSpPr>
        <p:grpSpPr>
          <a:xfrm rot="0">
            <a:off x="2537460" y="5692140"/>
            <a:ext cx="5987034" cy="822960"/>
            <a:chOff x="0" y="0"/>
            <a:chExt cx="7982712" cy="1097280"/>
          </a:xfrm>
        </p:grpSpPr>
        <p:sp>
          <p:nvSpPr>
            <p:cNvPr name="Freeform 38" id="38"/>
            <p:cNvSpPr/>
            <p:nvPr/>
          </p:nvSpPr>
          <p:spPr>
            <a:xfrm flipH="false" flipV="false" rot="0">
              <a:off x="0" y="0"/>
              <a:ext cx="7982712" cy="1097280"/>
            </a:xfrm>
            <a:custGeom>
              <a:avLst/>
              <a:gdLst/>
              <a:ahLst/>
              <a:cxnLst/>
              <a:rect r="r" b="b" t="t" l="l"/>
              <a:pathLst>
                <a:path h="1097280" w="7982712">
                  <a:moveTo>
                    <a:pt x="0" y="0"/>
                  </a:moveTo>
                  <a:lnTo>
                    <a:pt x="7982712" y="0"/>
                  </a:lnTo>
                  <a:lnTo>
                    <a:pt x="7982712" y="1097280"/>
                  </a:lnTo>
                  <a:lnTo>
                    <a:pt x="0" y="1097280"/>
                  </a:lnTo>
                  <a:close/>
                </a:path>
              </a:pathLst>
            </a:custGeom>
            <a:blipFill>
              <a:blip r:embed="rId3">
                <a:alphaModFix amt="0"/>
              </a:blip>
              <a:stretch>
                <a:fillRect l="0" t="-91753" r="0" b="-91753"/>
              </a:stretch>
            </a:blipFill>
          </p:spPr>
        </p:sp>
        <p:sp>
          <p:nvSpPr>
            <p:cNvPr name="TextBox 39" id="39"/>
            <p:cNvSpPr txBox="true"/>
            <p:nvPr/>
          </p:nvSpPr>
          <p:spPr>
            <a:xfrm>
              <a:off x="0" y="-19050"/>
              <a:ext cx="7982712" cy="1116330"/>
            </a:xfrm>
            <a:prstGeom prst="rect">
              <a:avLst/>
            </a:prstGeom>
          </p:spPr>
          <p:txBody>
            <a:bodyPr anchor="ctr" rtlCol="false" tIns="0" lIns="0" bIns="0" rIns="0"/>
            <a:lstStyle/>
            <a:p>
              <a:pPr algn="l">
                <a:lnSpc>
                  <a:spcPts val="3960"/>
                </a:lnSpc>
              </a:pPr>
              <a:r>
                <a:rPr lang="en-US" sz="3300" b="true">
                  <a:solidFill>
                    <a:srgbClr val="000000"/>
                  </a:solidFill>
                  <a:latin typeface="Times New Roman Bold"/>
                  <a:ea typeface="Times New Roman Bold"/>
                  <a:cs typeface="Times New Roman Bold"/>
                  <a:sym typeface="Times New Roman Bold"/>
                </a:rPr>
                <a:t>Accepting means valid</a:t>
              </a:r>
            </a:p>
          </p:txBody>
        </p:sp>
      </p:grpSp>
      <p:sp>
        <p:nvSpPr>
          <p:cNvPr name="TextBox 40" id="40"/>
          <p:cNvSpPr txBox="true"/>
          <p:nvPr/>
        </p:nvSpPr>
        <p:spPr>
          <a:xfrm rot="0">
            <a:off x="1371600" y="6701790"/>
            <a:ext cx="7152894" cy="979170"/>
          </a:xfrm>
          <a:prstGeom prst="rect">
            <a:avLst/>
          </a:prstGeom>
        </p:spPr>
        <p:txBody>
          <a:bodyPr anchor="t" rtlCol="false" tIns="0" lIns="0" bIns="0" rIns="0">
            <a:spAutoFit/>
          </a:bodyPr>
          <a:lstStyle/>
          <a:p>
            <a:pPr algn="l">
              <a:lnSpc>
                <a:spcPts val="2520"/>
              </a:lnSpc>
            </a:pPr>
            <a:r>
              <a:rPr lang="en-US" sz="2100">
                <a:solidFill>
                  <a:srgbClr val="000000"/>
                </a:solidFill>
                <a:latin typeface="Times New Roman"/>
                <a:ea typeface="Times New Roman"/>
                <a:cs typeface="Times New Roman"/>
                <a:sym typeface="Times New Roman"/>
              </a:rPr>
              <a:t>Ending in a state of F is the validation test; anything else is rejected or backed up.</a:t>
            </a:r>
          </a:p>
        </p:txBody>
      </p:sp>
      <p:grpSp>
        <p:nvGrpSpPr>
          <p:cNvPr name="Group 41" id="41"/>
          <p:cNvGrpSpPr/>
          <p:nvPr/>
        </p:nvGrpSpPr>
        <p:grpSpPr>
          <a:xfrm rot="0">
            <a:off x="9337929" y="5271135"/>
            <a:ext cx="7994904" cy="2556510"/>
            <a:chOff x="0" y="0"/>
            <a:chExt cx="10659872" cy="3408680"/>
          </a:xfrm>
        </p:grpSpPr>
        <p:sp>
          <p:nvSpPr>
            <p:cNvPr name="Freeform 42" id="42"/>
            <p:cNvSpPr/>
            <p:nvPr/>
          </p:nvSpPr>
          <p:spPr>
            <a:xfrm flipH="false" flipV="false" rot="0">
              <a:off x="0" y="0"/>
              <a:ext cx="10659872" cy="3408680"/>
            </a:xfrm>
            <a:custGeom>
              <a:avLst/>
              <a:gdLst/>
              <a:ahLst/>
              <a:cxnLst/>
              <a:rect r="r" b="b" t="t" l="l"/>
              <a:pathLst>
                <a:path h="3408680" w="10659872">
                  <a:moveTo>
                    <a:pt x="0" y="221107"/>
                  </a:moveTo>
                  <a:cubicBezTo>
                    <a:pt x="0" y="98933"/>
                    <a:pt x="98933" y="0"/>
                    <a:pt x="221107" y="0"/>
                  </a:cubicBezTo>
                  <a:lnTo>
                    <a:pt x="10438765" y="0"/>
                  </a:lnTo>
                  <a:cubicBezTo>
                    <a:pt x="10560812" y="0"/>
                    <a:pt x="10659872" y="98933"/>
                    <a:pt x="10659872" y="221107"/>
                  </a:cubicBezTo>
                  <a:lnTo>
                    <a:pt x="10659872" y="3187573"/>
                  </a:lnTo>
                  <a:cubicBezTo>
                    <a:pt x="10659872" y="3309620"/>
                    <a:pt x="10560939" y="3408680"/>
                    <a:pt x="10438765" y="3408680"/>
                  </a:cubicBezTo>
                  <a:lnTo>
                    <a:pt x="221107" y="3408680"/>
                  </a:lnTo>
                  <a:cubicBezTo>
                    <a:pt x="98933" y="3408680"/>
                    <a:pt x="0" y="3309747"/>
                    <a:pt x="0" y="3187573"/>
                  </a:cubicBezTo>
                  <a:close/>
                </a:path>
              </a:pathLst>
            </a:custGeom>
            <a:solidFill>
              <a:srgbClr val="FFFFFF"/>
            </a:solidFill>
            <a:ln w="19050" cap="sq">
              <a:solidFill>
                <a:srgbClr val="000000"/>
              </a:solidFill>
              <a:prstDash val="solid"/>
              <a:miter/>
            </a:ln>
          </p:spPr>
        </p:sp>
      </p:grpSp>
      <p:grpSp>
        <p:nvGrpSpPr>
          <p:cNvPr name="Group 43" id="43"/>
          <p:cNvGrpSpPr/>
          <p:nvPr/>
        </p:nvGrpSpPr>
        <p:grpSpPr>
          <a:xfrm rot="0">
            <a:off x="9739884" y="5673090"/>
            <a:ext cx="861060" cy="861060"/>
            <a:chOff x="0" y="0"/>
            <a:chExt cx="1148080" cy="1148080"/>
          </a:xfrm>
        </p:grpSpPr>
        <p:sp>
          <p:nvSpPr>
            <p:cNvPr name="Freeform 44" id="44"/>
            <p:cNvSpPr/>
            <p:nvPr/>
          </p:nvSpPr>
          <p:spPr>
            <a:xfrm flipH="false" flipV="false" rot="0">
              <a:off x="0" y="0"/>
              <a:ext cx="1148080" cy="1148080"/>
            </a:xfrm>
            <a:custGeom>
              <a:avLst/>
              <a:gdLst/>
              <a:ahLst/>
              <a:cxnLst/>
              <a:rect r="r" b="b" t="t" l="l"/>
              <a:pathLst>
                <a:path h="1148080" w="1148080">
                  <a:moveTo>
                    <a:pt x="0" y="574040"/>
                  </a:moveTo>
                  <a:cubicBezTo>
                    <a:pt x="0" y="257048"/>
                    <a:pt x="257048" y="0"/>
                    <a:pt x="574040" y="0"/>
                  </a:cubicBezTo>
                  <a:cubicBezTo>
                    <a:pt x="891032" y="0"/>
                    <a:pt x="1148080" y="257048"/>
                    <a:pt x="1148080" y="574040"/>
                  </a:cubicBezTo>
                  <a:cubicBezTo>
                    <a:pt x="1148080" y="891032"/>
                    <a:pt x="891032" y="1148080"/>
                    <a:pt x="574040" y="1148080"/>
                  </a:cubicBezTo>
                  <a:cubicBezTo>
                    <a:pt x="257048" y="1148080"/>
                    <a:pt x="0" y="891032"/>
                    <a:pt x="0" y="574040"/>
                  </a:cubicBezTo>
                  <a:close/>
                </a:path>
              </a:pathLst>
            </a:custGeom>
            <a:solidFill>
              <a:srgbClr val="FFFFFF"/>
            </a:solidFill>
            <a:ln w="38100" cap="sq">
              <a:solidFill>
                <a:srgbClr val="000000"/>
              </a:solidFill>
              <a:prstDash val="solid"/>
              <a:miter/>
            </a:ln>
          </p:spPr>
        </p:sp>
      </p:grpSp>
      <p:grpSp>
        <p:nvGrpSpPr>
          <p:cNvPr name="Group 45" id="45"/>
          <p:cNvGrpSpPr/>
          <p:nvPr/>
        </p:nvGrpSpPr>
        <p:grpSpPr>
          <a:xfrm rot="0">
            <a:off x="9758934" y="5692140"/>
            <a:ext cx="822960" cy="822960"/>
            <a:chOff x="0" y="0"/>
            <a:chExt cx="1097280" cy="1097280"/>
          </a:xfrm>
        </p:grpSpPr>
        <p:sp>
          <p:nvSpPr>
            <p:cNvPr name="Freeform 46" id="46"/>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3">
                <a:alphaModFix amt="0"/>
              </a:blip>
              <a:stretch>
                <a:fillRect l="-78303" t="0" r="-78303" b="0"/>
              </a:stretch>
            </a:blipFill>
          </p:spPr>
        </p:sp>
        <p:sp>
          <p:nvSpPr>
            <p:cNvPr name="TextBox 47" id="47"/>
            <p:cNvSpPr txBox="true"/>
            <p:nvPr/>
          </p:nvSpPr>
          <p:spPr>
            <a:xfrm>
              <a:off x="0" y="-19050"/>
              <a:ext cx="1097280" cy="1116330"/>
            </a:xfrm>
            <a:prstGeom prst="rect">
              <a:avLst/>
            </a:prstGeom>
          </p:spPr>
          <p:txBody>
            <a:bodyPr anchor="ctr" rtlCol="false" tIns="0" lIns="0" bIns="0" rIns="0"/>
            <a:lstStyle/>
            <a:p>
              <a:pPr algn="ctr">
                <a:lnSpc>
                  <a:spcPts val="3240"/>
                </a:lnSpc>
              </a:pPr>
              <a:r>
                <a:rPr lang="en-US" sz="2700" b="true">
                  <a:solidFill>
                    <a:srgbClr val="000000"/>
                  </a:solidFill>
                  <a:latin typeface="Times New Roman Bold"/>
                  <a:ea typeface="Times New Roman Bold"/>
                  <a:cs typeface="Times New Roman Bold"/>
                  <a:sym typeface="Times New Roman Bold"/>
                </a:rPr>
                <a:t>4</a:t>
              </a:r>
            </a:p>
          </p:txBody>
        </p:sp>
      </p:grpSp>
      <p:grpSp>
        <p:nvGrpSpPr>
          <p:cNvPr name="Group 48" id="48"/>
          <p:cNvGrpSpPr/>
          <p:nvPr/>
        </p:nvGrpSpPr>
        <p:grpSpPr>
          <a:xfrm rot="0">
            <a:off x="10924794" y="5692140"/>
            <a:ext cx="5987034" cy="822960"/>
            <a:chOff x="0" y="0"/>
            <a:chExt cx="7982712" cy="1097280"/>
          </a:xfrm>
        </p:grpSpPr>
        <p:sp>
          <p:nvSpPr>
            <p:cNvPr name="Freeform 49" id="49"/>
            <p:cNvSpPr/>
            <p:nvPr/>
          </p:nvSpPr>
          <p:spPr>
            <a:xfrm flipH="false" flipV="false" rot="0">
              <a:off x="0" y="0"/>
              <a:ext cx="7982712" cy="1097280"/>
            </a:xfrm>
            <a:custGeom>
              <a:avLst/>
              <a:gdLst/>
              <a:ahLst/>
              <a:cxnLst/>
              <a:rect r="r" b="b" t="t" l="l"/>
              <a:pathLst>
                <a:path h="1097280" w="7982712">
                  <a:moveTo>
                    <a:pt x="0" y="0"/>
                  </a:moveTo>
                  <a:lnTo>
                    <a:pt x="7982712" y="0"/>
                  </a:lnTo>
                  <a:lnTo>
                    <a:pt x="7982712" y="1097280"/>
                  </a:lnTo>
                  <a:lnTo>
                    <a:pt x="0" y="1097280"/>
                  </a:lnTo>
                  <a:close/>
                </a:path>
              </a:pathLst>
            </a:custGeom>
            <a:blipFill>
              <a:blip r:embed="rId3">
                <a:alphaModFix amt="0"/>
              </a:blip>
              <a:stretch>
                <a:fillRect l="0" t="-91753" r="0" b="-91753"/>
              </a:stretch>
            </a:blipFill>
          </p:spPr>
        </p:sp>
        <p:sp>
          <p:nvSpPr>
            <p:cNvPr name="TextBox 50" id="50"/>
            <p:cNvSpPr txBox="true"/>
            <p:nvPr/>
          </p:nvSpPr>
          <p:spPr>
            <a:xfrm>
              <a:off x="0" y="-19050"/>
              <a:ext cx="7982712" cy="1116330"/>
            </a:xfrm>
            <a:prstGeom prst="rect">
              <a:avLst/>
            </a:prstGeom>
          </p:spPr>
          <p:txBody>
            <a:bodyPr anchor="ctr" rtlCol="false" tIns="0" lIns="0" bIns="0" rIns="0"/>
            <a:lstStyle/>
            <a:p>
              <a:pPr algn="l">
                <a:lnSpc>
                  <a:spcPts val="3960"/>
                </a:lnSpc>
              </a:pPr>
              <a:r>
                <a:rPr lang="en-US" sz="3300" b="true">
                  <a:solidFill>
                    <a:srgbClr val="000000"/>
                  </a:solidFill>
                  <a:latin typeface="Times New Roman Bold"/>
                  <a:ea typeface="Times New Roman Bold"/>
                  <a:cs typeface="Times New Roman Bold"/>
                  <a:sym typeface="Times New Roman Bold"/>
                </a:rPr>
                <a:t>Longest match wins</a:t>
              </a:r>
            </a:p>
          </p:txBody>
        </p:sp>
      </p:grpSp>
      <p:sp>
        <p:nvSpPr>
          <p:cNvPr name="TextBox 51" id="51"/>
          <p:cNvSpPr txBox="true"/>
          <p:nvPr/>
        </p:nvSpPr>
        <p:spPr>
          <a:xfrm rot="0">
            <a:off x="9758934" y="6701790"/>
            <a:ext cx="7152894" cy="979170"/>
          </a:xfrm>
          <a:prstGeom prst="rect">
            <a:avLst/>
          </a:prstGeom>
        </p:spPr>
        <p:txBody>
          <a:bodyPr anchor="t" rtlCol="false" tIns="0" lIns="0" bIns="0" rIns="0">
            <a:spAutoFit/>
          </a:bodyPr>
          <a:lstStyle/>
          <a:p>
            <a:pPr algn="l">
              <a:lnSpc>
                <a:spcPts val="2520"/>
              </a:lnSpc>
            </a:pPr>
            <a:r>
              <a:rPr lang="en-US" sz="2100">
                <a:solidFill>
                  <a:srgbClr val="000000"/>
                </a:solidFill>
                <a:latin typeface="Times New Roman"/>
                <a:ea typeface="Times New Roman"/>
                <a:cs typeface="Times New Roman"/>
                <a:sym typeface="Times New Roman"/>
              </a:rPr>
              <a:t>Track the last accepting position, then emit the token and resume after it.</a:t>
            </a:r>
          </a:p>
        </p:txBody>
      </p:sp>
      <p:sp>
        <p:nvSpPr>
          <p:cNvPr name="TextBox 52" id="52"/>
          <p:cNvSpPr txBox="true"/>
          <p:nvPr/>
        </p:nvSpPr>
        <p:spPr>
          <a:xfrm rot="0">
            <a:off x="960120" y="8416290"/>
            <a:ext cx="16322040" cy="567690"/>
          </a:xfrm>
          <a:prstGeom prst="rect">
            <a:avLst/>
          </a:prstGeom>
        </p:spPr>
        <p:txBody>
          <a:bodyPr anchor="t" rtlCol="false" tIns="0" lIns="0" bIns="0" rIns="0">
            <a:spAutoFit/>
          </a:bodyPr>
          <a:lstStyle/>
          <a:p>
            <a:pPr algn="l">
              <a:lnSpc>
                <a:spcPts val="2520"/>
              </a:lnSpc>
            </a:pPr>
            <a:r>
              <a:rPr lang="en-US" b="true" sz="2100" spc="150">
                <a:solidFill>
                  <a:srgbClr val="000000"/>
                </a:solidFill>
                <a:latin typeface="Times New Roman Bold"/>
                <a:ea typeface="Times New Roman Bold"/>
                <a:cs typeface="Times New Roman Bold"/>
                <a:sym typeface="Times New Roman Bold"/>
              </a:rPr>
              <a:t>NEXT:  NFA to DFA (subset construction)   ·   DFA minimisation   ·   Lex / Flex</a:t>
            </a:r>
          </a:p>
        </p:txBody>
      </p:sp>
      <p:sp>
        <p:nvSpPr>
          <p:cNvPr name="TextBox 53" id="53"/>
          <p:cNvSpPr txBox="true"/>
          <p:nvPr/>
        </p:nvSpPr>
        <p:spPr>
          <a:xfrm rot="0">
            <a:off x="16454628" y="9627870"/>
            <a:ext cx="777240" cy="339090"/>
          </a:xfrm>
          <a:prstGeom prst="rect">
            <a:avLst/>
          </a:prstGeom>
        </p:spPr>
        <p:txBody>
          <a:bodyPr anchor="t" rtlCol="false" tIns="0" lIns="0" bIns="0" rIns="0">
            <a:spAutoFit/>
          </a:bodyPr>
          <a:lstStyle/>
          <a:p>
            <a:pPr algn="r">
              <a:lnSpc>
                <a:spcPts val="1800"/>
              </a:lnSpc>
            </a:pPr>
            <a:r>
              <a:rPr lang="en-US" sz="1500">
                <a:solidFill>
                  <a:srgbClr val="000000"/>
                </a:solidFill>
                <a:latin typeface="Times New Roman"/>
                <a:ea typeface="Times New Roman"/>
                <a:cs typeface="Times New Roman"/>
                <a:sym typeface="Times New Roman"/>
              </a:rPr>
              <a:t>10</a:t>
            </a:r>
          </a:p>
        </p:txBody>
      </p:sp>
      <p:sp>
        <p:nvSpPr>
          <p:cNvPr name="Freeform 54" id="54"/>
          <p:cNvSpPr/>
          <p:nvPr/>
        </p:nvSpPr>
        <p:spPr>
          <a:xfrm flipH="false" flipV="false" rot="0">
            <a:off x="15175541" y="55401"/>
            <a:ext cx="2083759" cy="2083759"/>
          </a:xfrm>
          <a:custGeom>
            <a:avLst/>
            <a:gdLst/>
            <a:ahLst/>
            <a:cxnLst/>
            <a:rect r="r" b="b" t="t" l="l"/>
            <a:pathLst>
              <a:path h="2083759" w="2083759">
                <a:moveTo>
                  <a:pt x="0" y="0"/>
                </a:moveTo>
                <a:lnTo>
                  <a:pt x="2083759" y="0"/>
                </a:lnTo>
                <a:lnTo>
                  <a:pt x="2083759" y="2083758"/>
                </a:lnTo>
                <a:lnTo>
                  <a:pt x="0" y="2083758"/>
                </a:lnTo>
                <a:lnTo>
                  <a:pt x="0" y="0"/>
                </a:lnTo>
                <a:close/>
              </a:path>
            </a:pathLst>
          </a:custGeom>
          <a:blipFill>
            <a:blip r:embed="rId4"/>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9308" t="0" r="-9308"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DAHYyxZFOSY</dc:identifier>
  <dcterms:modified xsi:type="dcterms:W3CDTF">2011-08-01T06:04:30Z</dcterms:modified>
  <cp:revision>1</cp:revision>
  <dc:title>FSA_Token_Recognition.pptx</dc:title>
</cp:coreProperties>
</file>